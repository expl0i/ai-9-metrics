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C1C22"/>
                </a:solidFill>
                <a:latin typeface="Calibri"/>
              </a:defRPr>
            </a:pPr>
            <a:r>
              <a:rPr sz="1100" b="0" i="0" u="none" strike="noStrike">
                <a:solidFill>
                  <a:srgbClr val="1C1C22"/>
                </a:solidFill>
                <a:latin typeface="Calibri"/>
              </a:rPr>
              <a:t>Опухоли: precision и recall при разных порогах</a:t>
            </a:r>
          </a:p>
        </c:rich>
      </c:tx>
      <c:layout/>
      <c:overlay val="0"/>
    </c:title>
    <c:autoTitleDeleted val="0"/>
    <c:plotArea>
      <c:layout/>
      <c:lineChart>
        <c:varyColors val="0"/>
        <c:ser>
          <c:idx val="0"/>
          <c:order val="0"/>
          <c:tx>
            <c:strRef>
              <c:f>Sheet1!$B$1</c:f>
              <c:strCache>
                <c:ptCount val="1"/>
                <c:pt idx="0">
                  <c:v>precision</c:v>
                </c:pt>
              </c:strCache>
            </c:strRef>
          </c:tx>
          <c:spPr>
            <a:solidFill>
              <a:srgbClr val="8F8260"/>
            </a:solidFill>
            <a:ln w="31750" cap="flat">
              <a:solidFill>
                <a:srgbClr val="8F826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F8260"/>
              </a:solidFill>
              <a:ln w="9525" cap="flat">
                <a:solidFill>
                  <a:srgbClr val="8F8260"/>
                </a:solidFill>
                <a:prstDash val="solid"/>
                <a:round/>
              </a:ln>
              <a:effectLst/>
            </c:spPr>
          </c:marker>
          <c:cat>
            <c:multiLvlStrRef>
              <c:f>Sheet1!$A$2:$A$12</c:f>
              <c:multiLvlStrCache>
                <c:ptCount val="11"/>
                <c:lvl>
                  <c:pt idx="0">
                    <c:v>0.05</c:v>
                  </c:pt>
                  <c:pt idx="1">
                    <c:v>0.1</c:v>
                  </c:pt>
                  <c:pt idx="2">
                    <c:v>0.2</c:v>
                  </c:pt>
                  <c:pt idx="3">
                    <c:v>0.3</c:v>
                  </c:pt>
                  <c:pt idx="4">
                    <c:v>0.4</c:v>
                  </c:pt>
                  <c:pt idx="5">
                    <c:v>0.5</c:v>
                  </c:pt>
                  <c:pt idx="6">
                    <c:v>0.6</c:v>
                  </c:pt>
                  <c:pt idx="7">
                    <c:v>0.7</c:v>
                  </c:pt>
                  <c:pt idx="8">
                    <c:v>0.8</c:v>
                  </c:pt>
                  <c:pt idx="9">
                    <c:v>0.9</c:v>
                  </c:pt>
                  <c:pt idx="10">
                    <c:v>0.95</c:v>
                  </c:pt>
                </c:lvl>
              </c:multiLvlStrCache>
            </c:multiLvlStrRef>
          </c:cat>
          <c:val>
            <c:numRef>
              <c:f>Sheet1!$B$2:$B$12</c:f>
              <c:numCache>
                <c:formatCode>General</c:formatCode>
                <c:ptCount val="11"/>
                <c:pt idx="0">
                  <c:v>0.821</c:v>
                </c:pt>
                <c:pt idx="1">
                  <c:v>0.9</c:v>
                </c:pt>
                <c:pt idx="2">
                  <c:v>0.955</c:v>
                </c:pt>
                <c:pt idx="3">
                  <c:v>0.984</c:v>
                </c:pt>
                <c:pt idx="4">
                  <c:v>0.984</c:v>
                </c:pt>
                <c:pt idx="5">
                  <c:v>0.984</c:v>
                </c:pt>
                <c:pt idx="6">
                  <c:v>1</c:v>
                </c:pt>
                <c:pt idx="7">
                  <c:v>1</c:v>
                </c:pt>
                <c:pt idx="8">
                  <c:v>1</c:v>
                </c:pt>
                <c:pt idx="9">
                  <c:v>1</c:v>
                </c:pt>
                <c:pt idx="10">
                  <c:v>1</c:v>
                </c:pt>
              </c:numCache>
            </c:numRef>
          </c:val>
          <c:smooth val="0"/>
        </c:ser>
        <c:ser>
          <c:idx val="1"/>
          <c:order val="1"/>
          <c:tx>
            <c:strRef>
              <c:f>Sheet1!$C$1</c:f>
              <c:strCache>
                <c:ptCount val="1"/>
                <c:pt idx="0">
                  <c:v>recall</c:v>
                </c:pt>
              </c:strCache>
            </c:strRef>
          </c:tx>
          <c:spPr>
            <a:solidFill>
              <a:srgbClr val="1C1C22"/>
            </a:solidFill>
            <a:ln w="31750" cap="flat">
              <a:solidFill>
                <a:srgbClr val="1C1C2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C1C22"/>
              </a:solidFill>
              <a:ln w="9525" cap="flat">
                <a:solidFill>
                  <a:srgbClr val="1C1C22"/>
                </a:solidFill>
                <a:prstDash val="solid"/>
                <a:round/>
              </a:ln>
              <a:effectLst/>
            </c:spPr>
          </c:marker>
          <c:cat>
            <c:multiLvlStrRef>
              <c:f>Sheet1!$A$2:$A$12</c:f>
              <c:multiLvlStrCache>
                <c:ptCount val="11"/>
                <c:lvl>
                  <c:pt idx="0">
                    <c:v>0.05</c:v>
                  </c:pt>
                  <c:pt idx="1">
                    <c:v>0.1</c:v>
                  </c:pt>
                  <c:pt idx="2">
                    <c:v>0.2</c:v>
                  </c:pt>
                  <c:pt idx="3">
                    <c:v>0.3</c:v>
                  </c:pt>
                  <c:pt idx="4">
                    <c:v>0.4</c:v>
                  </c:pt>
                  <c:pt idx="5">
                    <c:v>0.5</c:v>
                  </c:pt>
                  <c:pt idx="6">
                    <c:v>0.6</c:v>
                  </c:pt>
                  <c:pt idx="7">
                    <c:v>0.7</c:v>
                  </c:pt>
                  <c:pt idx="8">
                    <c:v>0.8</c:v>
                  </c:pt>
                  <c:pt idx="9">
                    <c:v>0.9</c:v>
                  </c:pt>
                  <c:pt idx="10">
                    <c:v>0.95</c:v>
                  </c:pt>
                </c:lvl>
              </c:multiLvlStrCache>
            </c:multiLvlStrRef>
          </c:cat>
          <c:val>
            <c:numRef>
              <c:f>Sheet1!$C$2:$C$12</c:f>
              <c:numCache>
                <c:formatCode>General</c:formatCode>
                <c:ptCount val="11"/>
                <c:pt idx="0">
                  <c:v>1</c:v>
                </c:pt>
                <c:pt idx="1">
                  <c:v>0.984</c:v>
                </c:pt>
                <c:pt idx="2">
                  <c:v>0.984</c:v>
                </c:pt>
                <c:pt idx="3">
                  <c:v>0.969</c:v>
                </c:pt>
                <c:pt idx="4">
                  <c:v>0.953</c:v>
                </c:pt>
                <c:pt idx="5">
                  <c:v>0.938</c:v>
                </c:pt>
                <c:pt idx="6">
                  <c:v>0.922</c:v>
                </c:pt>
                <c:pt idx="7">
                  <c:v>0.922</c:v>
                </c:pt>
                <c:pt idx="8">
                  <c:v>0.875</c:v>
                </c:pt>
                <c:pt idx="9">
                  <c:v>0.797</c:v>
                </c:pt>
                <c:pt idx="10">
                  <c:v>0.75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E6E78"/>
                    </a:solidFill>
                    <a:latin typeface="Arial"/>
                  </a:defRPr>
                </a:pPr>
                <a:r>
                  <a:rPr sz="900" b="0" i="0" u="none" strike="noStrike">
                    <a:solidFill>
                      <a:srgbClr val="6E6E78"/>
                    </a:solidFill>
                    <a:latin typeface="Arial"/>
                  </a:rPr>
                  <a:t>порог 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6E78"/>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EDED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E78"/>
                </a:solidFill>
                <a:latin typeface="Arial"/>
              </a:defRPr>
            </a:pPr>
            <a:endParaRPr lang="en-US"/>
          </a:p>
        </c:txPr>
        <c:crossAx val="2094734554"/>
        <c:crosses val="autoZero"/>
        <c:crossBetween val="between"/>
        <c:majorUnit val="0.05"/>
      </c:valAx>
      <c:spPr>
        <a:noFill/>
        <a:ln>
          <a:noFill/>
        </a:ln>
        <a:effectLst/>
      </c:spPr>
    </c:plotArea>
    <c:legend>
      <c:legendPos val="b"/>
      <c:overlay val="0"/>
      <c:txPr>
        <a:bodyPr/>
        <a:lstStyle/>
        <a:p>
          <a:pPr>
            <a:defRPr sz="1000">
              <a:solidFill>
                <a:srgbClr val="6E6E78"/>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уже умеем обучать три модели: метод ближайших соседей, логистическую регрессию и дерево решений. Каждый раз после обучения мы смотрели на одно число – долю верных ответов на тестовой выборке – и радовались, если оно было большим.
Сегодня выясним, почему одного этого числа мало и как оценивают модели там, где ошибка стоит дорого: в медицине, в почтовых сервисах, в беспилотных автомобилях. К концу занятия каждый из вас сможет по таблице ошибок посчитать precision, recall и F-меру, объяснить, что такое ROC-AUC и log loss, и выбрать метрику под конкретную задачу. А на практике вы напишете все эти формулы сами, без библиотек.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Начнем с вопроса. Представьте спам-фильтр, который прав в 91 % случаев. Можно ли ему доверять? Поднимите руку, кто считает, что это хороший фильтр.
Обычно большинство соглашается: 91 % – это почти отлично. А теперь условие. За день пришло 110 писем, из них спамных всего 10. Возьмем фильтр, который вообще ничего не делает и про каждое письмо говорит «это не спам». Сколько раз он прав? В 100 случаях из 110 – это 90.9 %, почти те же 91 %. Но ни одного спамного письма он не поймал.
Получается, что большой процент сам по себе ничего не говорит. Пока мы не знаем, какие именно ошибки делает модель, мы не можем сказать, хороша ли она. Сегодня научимся задавать модели правильные вопросы – и считать ответы на них.
ВОПРОСЫ КЛАССУ
– Что было бы, если бы спамных писем было 50 из 110? Ответ: Ленивый фильтр был бы прав только в 60 из 110 случаев, около 55 %, и сразу выглядел бы плохо. Проблема возникает, когда один класс встречается гораздо чаще другого.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Первая часть – основа всего занятия. Почти любая метрика классификации – это просто формула от четырех чисел. Эти четыре числа записывают в таблицу, которая называется матрицей ошибок. Разберемся с ней – и все остальное станет обычной арифметикой.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Возьмем задачу с двумя классами. Один класс мы называем положительным и обозначаем единицей – это то, что мы ищем: спам, болезнь, пешеход перед машиной. Второй класс – отрицательный, ноль. Важно: «положительный» здесь не значит «хороший». Спам – положительный класс, хотя ничего хорошего в нем нет. Это просто то, что мы ищем.
Когда модель отвечает на одно письмо, возможны ровно четыре исхода. Письмо на самом деле спам, и модель сказала «спам» – это TP, true positive, верно нашли. Письмо спам, а модель сказала «не спам» – это FN, false negative, пропуск. Письмо обычное, а модель сказала «спам» – FP, false positive, ложная тревога. Письмо обычное, и модель сказала «не спам» – TN, true negative, верно отвергли.
Названия легко запомнить, если читать их с конца. Вторая буква – что сказала модель: P – сказала «да, это единица», N – сказала «нет». Первая буква – права ли она: T – права, F – ошиблась. Например, FP – модель сказала «да», и это было ошибкой. Значит, ложная тревога.
Темные клетки на диагонали – верные ответы. Светлые клетки – ошибки, и их два разных вида. FP – письмо от учителя улетело в спам. FN – реклама казино попала во входящие. Обе ошибки неприятны, но по-разному. Это различие – ключ ко всему занятию.
ВОПРОСЫ КЛАССУ
– Какая ошибка неприятнее лично для вас в почте – FP или FN? Ответ: Правильного ответа нет, мнения разойдутся. Большинство обычно выбирает FP: потерянное важное письмо хуже лишней рекламы. Зафиксируйте, что разные люди и разные задачи ценят ошибки по-разному.
– Что будет FN в задаче «найти больного»? Ответ: Больной человек, которого модель посчитала здоровым, – пропуск болезни.
НА ДОСКЕ
Нарисуйте таблицу 2 × 2: строки – «на самом деле спам / не спам», столбцы – «модель: спам / не спам». Подпишите TP, FN, FP, TN.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Посчитаем матрицу на примере, который будет и в ноутбуке. У нас 10 писем, из них 4 спамных – это золотые точки в верхнем ряду, и 6 обычных – серые точки в нижнем ряду.
Модель не говорит сразу «спам» или «не спам». Она выдает число от 0 до 1 – вероятность того, что письмо спамное. Под каждой точкой подписана эта вероятность. Чтобы получить ответ, мы договариваемся о пороге: если вероятность не меньше 0.5, модель говорит «спам», иначе – «не спам». На слайде порог – пунктирная линия, все, что правее, модель считает спамом.
Идем по точкам. В верхнем ряду три золотые точки правее порога: 0.9, 0.8 и 0.6. Это спам, и модель его нашла – TP равно 3. Одна золотая точка, 0.3, осталась левее порога: это спам, который модель проспала, FN равно 1. В нижнем ряду одна серая точка, 0.7, оказалась правее порога: обычное письмо, которое модель приняла за спам, – ложная тревога, FP равно 1. Остальные пять серых точек левее порога – TN равно 5.
Проверка: 3 + 1 + 1 + 5 = 10, все письма учтены. Запомните эти четыре числа – 3, 1, 1, 5. Дальше мы будем подставлять их во все формулы.
ВОПРОСЫ КЛАССУ
– Как изменится матрица, если поднять порог до 0.75? Ответ: Правее порога останутся только 0.9 и 0.8: TP = 2, FN = 2, FP = 0, TN = 6. Ложных тревог не стало, но пропусков стало больше.
НА ДОСКЕ
Выпишите четыре числа: TP = 3, FN = 1, FP = 1, TN = 5. Они понадобятся до конца урока.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Самая простая метрика – accuracy, доля верных ответов. Верные ответы – это диагональ матрицы: TP плюс TN. Делим на все объекты. Для наших писем: (3 + 5) / 10 = 0.8. Модель права в 80 % случаев.
Теперь вернемся к вопросу из начала урока, это пример из статьи сообщества Open Data Science. 100 обычных писем и 10 спамных. Честный фильтр нашел 5 спамных из 10, пропустил 5 и дал 10 ложных тревог. Всего ошибок 15, верных ответов 95 из 110 – accuracy 86.4 %. Ленивый фильтр всегда отвечает «не спам» и ошибается только на 10 спамных письмах – accuracy 90.9 %. Модель, которая ничего не умеет, выиграла у модели, которая хоть что-то находит.
Почему так? Посмотрите на точки на карточках: одна точка – 10 писем. Серых точек десять, золотая одна. Обычных писем в 10 раз больше, поэтому ответ «не спам» почти всегда верен. Такая ситуация называется дисбалансом классов, и она встречается постоянно: больных меньше, чем здоровых, мошеннических платежей меньше, чем честных, бракованных деталей меньше, чем годных.
Вывод: accuracy можно доверять, только когда классы встречаются примерно одинаково часто и обе ошибки одинаково неприятны. Во всех остальных случаях нужны метрики, которые смотрят на положительный класс отдельно.
ВОПРОСЫ КЛАССУ
– Какая accuracy будет у ленивой модели, если больных 1 на 1000? Ответ: 99.9 % – при нуле найденных больных. Чем реже класс, тем сильнее обманывает accuracy.
НА ДОСКЕ
Accuracy = (TP + TN) / (TP + TN + FP + FN). Для писем: (3 + 5) / 10 =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 accuracy обманывает, будем смотреть на положительный класс отдельно – с двух сторон. На картинке пунктирный овал – это письма, которые модель назвала спамом. Можно спросить: много ли внутри овала лишнего? А можно спросить: много ли золотых точек осталось снаружи? Это два разных вопроса, и на них отвечают две разные метрики.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Первая метрика – precision, по-русски точность. Она отвечает на вопрос: из тех писем, которые модель назвала спамом, сколько на самом деле спам? Модель назвала спамом четыре письма – три настоящих спамных и одно обычное. Precision = TP / (TP + FP) = 3 / (3 + 1) = 0.75. Precision портят ложные тревоги: чем больше FP, тем она ниже. Высокая precision означает: если модель сказала «спам», ей можно верить.
Вторая метрика – recall, по-русски полнота, в медицине – чувствительность. Она отвечает на вопрос: из всех спамных писем сколько модель нашла? Спамных писем четыре, модель нашла три, одно осталось снаружи. Recall = TP / (TP + FN) = 3 / (3 + 1) = 0.75. Recall портят пропуски: чем больше FN, тем он ниже. Высокий recall означает: модель почти ничего не пропускает.
У нас оба числа получились по 0.75 – это совпадение, потому что FP и FN оба равны единице. Обычно precision и recall разные.
Теперь посчитаем recall ленивого фильтра: он не нашел ни одного спамного письма, TP = 0, значит, recall = 0. Вот метрика, которая сразу разоблачает обман, который accuracy не заметила.
Есть еще одна полезная метрика – specificity, специфичность. Это то же самое, что recall, но для отрицательного класса: сколько обычных писем модель верно пропустила. Specificity = TN / (TN + FP) = 5 / 6 = 0.83. В медицине пару «чувствительность и специфичность» указывают у каждого диагностического теста.
ВОПРОСЫ КЛАССУ
– Какая precision у фильтра, который все письма называет спамом? Ответ: Он найдет весь спам, recall = 1, но precision будет 10 / 110, около 0.09: почти все его тревоги ложные.
– Можно ли получить recall = 1 и при этом очень плохую модель? Ответ: Да – ответить «спам» на все письма. Поэтому precision и recall всегда смотрят вместе.
НА ДОСКЕ
Precision = TP / (TP + FP) – «сколько лишнего внутри». Recall = TP / (TP + FN) – «сколько осталось снаружи».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Какую метрику улучшать, precision или recall? Это зависит не от математики, а от задачи. Разберем три примера, и сначала попробуйте ответить сами.
Поиск опухоли по снимку. Если модель пропустит больного, болезнь не начнут лечить вовремя – это может стоить жизни. Если модель поднимет ложную тревогу, человек пройдет дополнительное обследование – неприятно, но не опасно. Пропуск гораздо страшнее, поэтому важнее recall.
Спам-фильтр. Если письмо от учителя с приглашением на олимпиаду попадет в спам, вы его не увидите – это серьезная потеря. Если реклама попадет во входящие, вы потратите секунду, чтобы ее удалить. Ложная тревога дороже, поэтому важнее precision.
Беспилотный автомобиль, который ищет пешеходов на дороге. Не заметить пешехода недопустимо. Лишний раз притормозить из-за тени или куста – неудобно, но безопасно. Важнее recall.
Главное, что нужно понять: precision и recall тянут в разные стороны. Если модель станет осторожнее и будет реже говорить «да», precision вырастет, а recall упадет. Если модель станет смелее, будет наоборот. Улучшить обе метрики сразу можно только одним способом – сделать саму модель лучше.
ВОПРОСЫ КЛАССУ
– Модель рекомендует фильмы. Что важнее? Ответ: Скорее precision: лучше показать 5 фильмов, которые точно понравятся, чем 50, из которых понравится половина.
– Модель ищет мошеннические платежи и блокирует карту. Что важнее? Ответ: Спорный вопрос – и это хорошо. Пропуск мошенника стоит денег, ложная блокировка злит честного клиента. Нужен баланс, и тут пригодится F-мера со следующего слайда.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Две метрики неудобно сравнивать: одна модель лучше по precision, другая по recall – какую выбрать? Хочется одного числа. Первое, что приходит в голову, – взять обычное среднее. Но оно обманывает.
Пример: precision 0.9, recall 0.5. Модель пропускает половину спама. Обычное среднее – 0.7, выглядит неплохо. Поэтому используют среднее гармоническое: F1 = 2 · P · R / (P + R). Для нашего примера 2 · 0.9 · 0.5 / 1.4 ≈ 0.64. Среднее гармоническое всегда держится ближе к меньшему из двух чисел. Хорошей precision нельзя спрятать плохой recall.
Самая наглядная проверка – ленивый фильтр. Его recall равен нулю, значит, в числителе ноль, и F1 = 0, сколько бы ни было precision. Обычное среднее дало бы ему незаслуженные баллы.
Бывает, что одна из метрик важнее. Тогда берут F-бета: в формулу добавляется параметр β. При β = 1 это обычная F1, обе метрики одинаково важны. При β = 2 recall считается в два раза важнее – это выбор для медицины и беспилотников; для нашего примера F2 ≈ 0.55, модель наказана за пропуски. При β = 0.5 важнее precision – выбор для спам-фильтра; F0.5 ≈ 0.78. Все три числа ученики получат в проверке задания Е3.
ВОПРОСЫ КЛАССУ
– Чему равна F1, если precision = recall = 0.75? Ответ: 0.75. Когда два числа равны, любое среднее дает то же число.
НА ДОСКЕ
F1 = 2 · P · R / (P + R). Пример: P = 0.9, R = 0.5 → обычное среднее 0.7, F1 ≈ 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Вспомним, что модель выдает вероятность, а метку мы получаем, только когда выбираем порог. Порог 0.5 – просто договоренность, его можно двигать.
На графике – настоящая модель из ноутбука: логистическая регрессия ищет злокачественные опухоли по данным обследования. По горизонтали – порог, по вертикали – значения метрик. При очень низком пороге 0.05 модель называет подозрительным почти каждого: она находит всех больных, recall равен 1, но 18 % ее тревог ложные. При очень высоком пороге 0.95 модель говорит «опасно» только когда совершенно уверена: ложных тревог нет, precision равна 1, зато пропущена каждая четвертая опухоль.
Итак, порог ниже – модель чаще говорит «да»: recall растет, precision падает. Порог выше – модель осторожнее: precision растет, recall падает. Это тот самый перетягивающий канат с прошлого слайда, только теперь мы видим его на графике.
Важная практическая деталь: чтобы сдвинуть порог, модель не нужно переобучать. Модель обучили один раз, а порог выбирают потом, под задачу заказчика.
ВОПРОСЫ КЛАССУ
– Какой порог вы поставите для первичного осмотра, когда важно никого не пропустить? Ответ: Низкий, например 0.1–0.2: recall почти 1, а лишние тревоги отсеют дальнейшие обследования.
– А если после положительного ответа пациента ждет сложная операция? Ответ: Высокий: нужна уверенность, важнее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 порог выбирают потом, возникает вопрос: как сравнить две модели, если порог еще неизвестен? При одном пороге лучше первая, при другом – вторая. Нужна метрика, которая оценивает модель сразу при всех порогах. А еще нужна метрика, которая проверяет не только метки, но и сами вероятности. Этим двум задачам посвящен третий раздел.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ROC-кривая показывает поведение модели при всех порогах сразу. По вертикали откладываем TPR – это наш recall, доля найденного спама. По горизонтали – FPR, доля ложных тревог среди обычных писем: FP / (FP + TN). Хочется, чтобы TPR был большим, а FPR маленьким, то есть идеальная точка – левый верхний угол.
Строим кривую для наших 10 писем. Начинаем с порога выше всех вероятностей: модель всем говорит «не спам», нет ни находок, ни тревог – точка (0, 0). Опускаем порог до 0.9: одно спамное письмо стало найденным, TPR = 1/4, кривая шагнула вверх. Порог 0.8 – еще шаг вверх. Порог 0.7: это вероятность обычного письма, появилась первая ложная тревога, кривая шагнула вправо на 1/6. Порог 0.6 – снова спам, шаг вверх. И так далее до самой маленькой вероятности, когда модель всем говорит «спам» и мы приходим в точку (1, 1).
Простое правило: шаг вверх – хорошо, модель нашла спам; шаг вправо – плохо, ложная тревога. Обведенная точка – наш порог 0.5: TPR = 0.75, FPR = 1/6.
Площадь под кривой называется AUC. У идеальной модели кривая сначала поднимается до самого верха, а потом идет вправо – площадь 1. Модель, которая ставит вероятности наугад, в среднем идет по диагонали – площадь 0.5, как подбрасывание монетки. У нас площадь 0.83. Считают ее трапециями: между каждыми двумя соседними точками – трапеция, площади складываем. Именно это вы будете делать в задании Е5.
ВОПРОСЫ КЛАССУ
– Как выглядит ROC-кривая модели, которая всегда отвечает наоборот? Ответ: Она идет под диагональю, AUC меньше 0.5. Если поменять ответы местами, получится хорошая модель.
НА ДОСКЕ
FPR = FP / (FP + TN), TPR = TP / (TP + FN). AUC = 1 – идеал, 0.5 – монетка.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AUC есть очень понятное толкование. Составим все пары «спамное письмо – обычное письмо». Спамных 4, обычных 6, значит, пар 24. В таблице строки – спамные письма, столбцы – обычные.
В каждой паре спрашиваем: кому модель дала большую вероятность? Если спамному – модель расставила пару правильно, клетка золотая. Если обычному – ошибка, клетка с крестиком. Ошибок четыре: спам с вероятностью 0.6 проиграл обычному письму с 0.7, а спам с 0.3 проиграл трем обычным – 0.7, 0.4 и 0.35.
Итого 20 правильных пар из 24, это 0.83 – ровно та же площадь, что под ROC-кривой. Это не совпадение, а теорема. AUC – это вероятность того, что случайно взятому спамному письму модель даст большую вероятность, чем случайно взятому обычному.
Отсюда два вывода. Первый: AUC = 0.5 означает, что модель расставляет письма в случайном порядке. Второй: AUC вообще не зависит от порога – он проверяет только порядок, в котором модель расставила объекты. Поэтому AUC и используют, чтобы сравнить модели до выбора порога.
ВОПРОСЫ КЛАССУ
– Если все вероятности модели умножить на 0.5, изменится ли AUC? Ответ: Нет: порядок объектов не изменился. А вот метки при пороге 0.5 изменятся – это еще раз показывает, что AUC не зависит от порога.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 метрики до сих пор смотрели только на метки или на порядок. Но представьте две модели с одинаковыми ответами. Первая говорит «спам с вероятностью 0.51», вторая – «спам с вероятностью 0.99». Если обе правы, вторая явно лучше: она уверена. Если обе ошиблись, вторая хуже: она уверенно ошиблась. Чтобы оценивать уверенность, используют функции потерь. Для них чем меньше, тем лучше.
Главная функция потерь для классификации – log loss. Для объекта класса 1 штраф равен минус натуральному логарифму вероятности, которую модель дала правильному ответу. Посмотрите на три случая. Модель не уверена, p = 0.5 – штраф 0.69. Модель уверена и права, p = 0.9 – штраф всего 0.11. Модель уверена и ошиблась, p = 0.1 – штраф 2.30. Одна уверенная ошибка стоит больше, чем двадцать уверенных верных ответов.
На графике видно, почему так: когда вероятность правильного ответа стремится к нулю, штраф улетает в бесконечность. Поэтому в коде вероятность немного «зажимают», не дают ей стать ровно нулем или единицей – иначе получится логарифм нуля и программа сломается. Для объекта класса 0 формула та же, только берется вероятность класса 0, то есть 1 − p. Итоговый log loss – среднее штрафов по всем объектам.
Вторая функция – оценка Брайера: средний квадрат разности между вероятностью и правильным ответом. Идея та же, но она мягче к уверенным ошибкам: ее максимум всего 1.
Связь с прошлыми занятиями: логистическая регрессия при обучении подбирает веса именно так, чтобы log loss был как можно меньше.
НА ДОСКЕ
Штраф для объекта класса 1: −ln p. p = 0.5 → 0.69, p = 0.9 → 0.11, p = 0.1 →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 сих пор классов было два. Что делать, если их больше? Возьмем дерево решений из прошлой части на датасете Wine – три сорта вина. Матрица ошибок становится таблицей 3 на 3. Строка – правильный сорт, столбец – ответ модели. На диагонали – верные ответы, их 17 + 21 + 14 = 52 из 54. Две ошибки подсвечены золотым: одно вино сорта 0 и одно вино сорта 2 модель приняла за сорт 1.
Precision и recall считают для каждого класса отдельно, как будто это задача «этот сорт против всех остальных». TP – клетка на диагонали. FP – все остальное в том же столбце: модель сказала «этот сорт», а это другой. FN – все остальное в той же строке: это был этот сорт, а модель сказала другой. Например, у сорта 1 в столбце 1 + 21 + 1 = 23 ответа, верных 21, precision = 21 / 23 ≈ 0.91.
Потом метрики классов усредняют, и способов два. Macro – считаем F1 каждого класса и берем обычное среднее. Каждый класс получает одинаковый голос, даже если в нем всего несколько объектов. Micro – сначала складываем TP, FP и FN всех классов, а потом считаем одну метрику. Каждый объект получает одинаковый голос, и для precision и recall это просто accuracy.
Здесь классы почти одинаковые по размеру, поэтому macro и micro почти совпадают: 0.964 и 0.963. Но представьте редкий класс, который модель никогда не угадывает. Его F1 равна нулю, и macro сразу упадет. А micro почти не заметит: объектов этого класса мало.
ВОПРОСЫ КЛАССУ
– Какое усреднение выбрать, если важно хорошо распознавать и редкие классы? Ответ: Macro: в нем редкий класс весит столько же, сколько частый.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 что было до этого, касалось классификации. Но многие модели предсказывают число: температуру, цену, время в пути. Здесь матрицы ошибок нет. Ошибка на каждом объекте – это просто разность между фактом и прогнозом.
В таблице – прогноз температуры на 5 дней. Ошибки: 0.5, 0, −2, 1 и −0.5 градуса. Как свести их в одно число? Просто сложить нельзя: плюсы и минусы взаимно уничтожатся.
Первый способ – MAE, средний модуль ошибки. Сумма модулей 4, делим на 5 дней – 0.8 градуса. Это самая понятная метрика: «в среднем ошибаемся на 0.8 градуса».
Второй способ – MSE, средний квадрат ошибки. Сумма квадратов 5.5, делим на 5 – 1.1. Квадрат делает большие ошибки непропорционально тяжелыми: одна ошибка в 2 градуса дала 4 из 5.5, почти три четверти всей суммы. MSE выбирают, когда редкие большие промахи особенно опасны. Неудобство одно: MSE измеряется в квадратных градусах. Поэтому берут корень – RMSE, около 1.05 градуса.
Четвертая метрика – коэффициент детерминации R-квадрат. Он сравнивает модель с самым глупым прогнозом – «каждый день будет средняя температура», а средняя здесь 5 градусов. У такого прогноза сумма квадратов ошибок 26, у нашей модели 5.5. R² = 1 − 5.5 / 26 ≈ 0.79: модель убрала 79 % ошибки. R² = 1 – идеальный прогноз, 0 – не лучше среднего, меньше нуля – модель хуже, чем просто назвать среднее.
MSE, кстати, – функция потерь, на которой обучается линейная регрессия.
ВОПРОСЫ КЛАССУ
– Добавим шестой день с ошибкой 10 градусов. Какая метрика вырастет сильнее – MAE или MSE? Ответ: MSE: MAE станет 14 / 6 ≈ 2.3, а MSE – 105.5 / 6 ≈ 17.6, в 16 раз больше прежнего.
НА ДОСКЕ
MAE = среднее |y − ŷ|, MSE = среднее (y − ŷ)², RMSE = √MSE, R² = 1 − Σ(y − ŷ)² / Σ(y − ȳ)².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Переходим к практике. Все формулы сегодняшнего занятия вы напишете сами, на чистом Python: только списки, циклы и модуль math, без numpy и sklearn. После этого функции из sklearn.metrics перестанут быть черным ящиком – вы будете знать, что происходит у них внутри. Sklearn в ноутбуке используется только в готовых ячейках: чтобы получить ответы моделей и сверить с ними ваши числа.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Вот план части 4Е. Задания идут от простого к сложному, и каждое опирается на предыдущие. В Е1 вы пишете матрицу ошибок – через нее потом считаются почти все остальные метрики. В Е2 – accuracy, precision, recall и specificity. В Е3 – F-меру. В Е4 – функцию, которая превращает вероятности в метки по порогу, и таблицу «порог – precision – recall». В Е5 – ROC-кривую и площадь трапециями. В Е6 – log loss и оценку Брайера. В Е7 – матрицу для нескольких классов и macro-F1. В Е8 – метрики регрессии.
Перед каждым заданием в ноутбуке есть формулы – это ваша подсказка. Остальное пишете сами. После каждого задания – готовая ячейка «Проверка». Она сравнивает ваши ответы с числами со слайдов и с sklearn. Если все строки начинаются с OK – можно двигаться дальше. Если строка начинается с НЕТ – видно, что получилось и что должно было получиться.
После каждого задания есть вопросы на понимание. Ответы пишите прямо в ноутбуке. Для тех, кто справится быстрее, в конце есть задания повышенной сложности: сбалансированная accuracy, поиск лучшего порога по F1, AUC через пары и average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Соберем все в одну памятку. Главная мысль: метрику выбирают до обучения, исходя из того, какая ошибка дороже в вашей задаче.
Классы поровну и ошибки одинаково плохи – можно смотреть на accuracy. Пропуск страшнее ложной тревоги, как в медицине и у беспилотника, – recall и F2. Ложная тревога дороже пропуска, как в спам-фильтре, – precision и F0.5. Нужно одно число и важны обе ошибки – F1. Порог еще не выбран и нужно сравнить модели в целом – ROC-AUC. Важны сами вероятности, а не только метки – log loss. Классов много и редкие важны не меньше частых – macro-F1. Модель предсказывает число – MAE, RMSE и R².
ВОПРОСЫ КЛАССУ
– Модель предсказывает цену квартиры. Какую метрику возьмете? Ответ: MAE, если нужна понятная средняя ошибка в рублях; RMSE, если большие промахи особенно опасны; R², чтобы сравнить со средним.
– Модель распознает лица на входе в школу. Что важнее? Ответ: Зависит от цены ошибки: пустить чужого (FP для класса «свой») обычно хуже, чем заставить своего приложить карту еще раз. Важен выбор с обоснованием.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Подведем итоги. Первое: любая оценка классификатора начинается с матрицы ошибок – TP, FP, FN и TN. Второе: accuracy обманывает, если один класс встречается гораздо чаще другого. Третье: precision боится ложных тревог, recall – пропусков, а F1 объединяет их в одно число и не дает спрятать слабое место. Четвертое: порог сдвигает баланс между precision и recall, а ROC-AUC оценивает модель сразу при всех порогах. Пятое: log loss штрафует уверенные ошибки и проверяет сами вероятности. Шестое: для регрессии MAE – понятная средняя ошибка, RMSE сильнее штрафует большие промахи, а R² сравнивает модель с прогнозом «всегда среднее».
Домашнее задание – закончить часть 4Е ноутбука и ответить на вопросы Е1–Е8. На следующем занятии эти функции понадобятся, чтобы честно сравнить все три модели блока.
ВОПРОСЫ КЛАССУ
– Почему ленивый спам-фильтр плохой, хотя его accuracy 91 %? Ответ: Его recall равен нулю: он не находит ни одного спамного письма. Если в ответе звучат слова «ложная тревога», «пропуск» и «цена ошибки» – тема усвоена.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img/title_art.png">    </p:cNvPr>
          <p:cNvPicPr>
            <a:picLocks noChangeAspect="1"/>
          </p:cNvPicPr>
          <p:nvPr/>
        </p:nvPicPr>
        <p:blipFill>
          <a:blip r:embed="rId1"/>
          <a:stretch>
            <a:fillRect/>
          </a:stretch>
        </p:blipFill>
        <p:spPr>
          <a:xfrm>
            <a:off x="4572000" y="0"/>
            <a:ext cx="4572000" cy="5143500"/>
          </a:xfrm>
          <a:prstGeom prst="rect">
            <a:avLst/>
          </a:prstGeom>
        </p:spPr>
      </p:pic>
      <p:sp>
        <p:nvSpPr>
          <p:cNvPr id="3" name="Text 0"/>
          <p:cNvSpPr txBox="1"/>
          <p:nvPr/>
        </p:nvSpPr>
        <p:spPr>
          <a:xfrm>
            <a:off x="548640" y="1097280"/>
            <a:ext cx="4389120" cy="201168"/>
          </a:xfrm>
          <a:prstGeom prst="rect">
            <a:avLst/>
          </a:prstGeom>
          <a:noFill/>
          <a:ln/>
        </p:spPr>
        <p:txBody>
          <a:bodyPr wrap="square" lIns="0" tIns="0" rIns="0" bIns="0" rtlCol="0" anchor="t"/>
          <a:lstStyle/>
          <a:p>
            <a:pPr indent="0" marL="0">
              <a:buNone/>
            </a:pPr>
            <a:r>
              <a:rPr lang="en-US" sz="1200" b="1" spc="100" kern="0" dirty="0">
                <a:solidFill>
                  <a:srgbClr val="8F8260"/>
                </a:solidFill>
                <a:latin typeface="Calibri" pitchFamily="34" charset="0"/>
                <a:ea typeface="Calibri" pitchFamily="34" charset="-122"/>
                <a:cs typeface="Calibri" pitchFamily="34" charset="-120"/>
              </a:rPr>
              <a:t>КУРС «ИСКУССТВЕННЫЙ ИНТЕЛЛЕКТ» · 9 КЛАСС</a:t>
            </a:r>
            <a:endParaRPr lang="en-US" sz="1200" dirty="0"/>
          </a:p>
        </p:txBody>
      </p:sp>
      <p:sp>
        <p:nvSpPr>
          <p:cNvPr id="4" name="Text 1"/>
          <p:cNvSpPr txBox="1"/>
          <p:nvPr/>
        </p:nvSpPr>
        <p:spPr>
          <a:xfrm>
            <a:off x="548640" y="1463040"/>
            <a:ext cx="3931920" cy="2377440"/>
          </a:xfrm>
          <a:prstGeom prst="rect">
            <a:avLst/>
          </a:prstGeom>
          <a:noFill/>
          <a:ln/>
        </p:spPr>
        <p:txBody>
          <a:bodyPr wrap="square" lIns="0" tIns="0" rIns="0" bIns="0" rtlCol="0" anchor="ctr"/>
          <a:lstStyle/>
          <a:p>
            <a:pPr indent="0" marL="0">
              <a:buNone/>
            </a:pPr>
            <a:r>
              <a:rPr lang="en-US" sz="3000" b="1" dirty="0">
                <a:solidFill>
                  <a:srgbClr val="1C1C22"/>
                </a:solidFill>
                <a:latin typeface="Cambria" pitchFamily="34" charset="0"/>
                <a:ea typeface="Cambria" pitchFamily="34" charset="-122"/>
                <a:cs typeface="Cambria" pitchFamily="34" charset="-120"/>
              </a:rPr>
              <a:t>Метрики качества:</a:t>
            </a:r>
            <a:endParaRPr lang="en-US" sz="3000" dirty="0"/>
          </a:p>
          <a:p>
            <a:pPr indent="0" marL="0">
              <a:buNone/>
            </a:pPr>
            <a:r>
              <a:rPr lang="en-US" sz="3000" b="1" dirty="0">
                <a:solidFill>
                  <a:srgbClr val="B8AB84"/>
                </a:solidFill>
                <a:latin typeface="Cambria" pitchFamily="34" charset="0"/>
                <a:ea typeface="Cambria" pitchFamily="34" charset="-122"/>
                <a:cs typeface="Cambria" pitchFamily="34" charset="-120"/>
              </a:rPr>
              <a:t>как понять, хорошо ли работает модель</a:t>
            </a:r>
            <a:endParaRPr lang="en-US" sz="3000" dirty="0"/>
          </a:p>
        </p:txBody>
      </p:sp>
      <p:sp>
        <p:nvSpPr>
          <p:cNvPr id="5" name="Shape 2"/>
          <p:cNvSpPr/>
          <p:nvPr/>
        </p:nvSpPr>
        <p:spPr>
          <a:xfrm>
            <a:off x="548640" y="4069080"/>
            <a:ext cx="502920" cy="438912"/>
          </a:xfrm>
          <a:prstGeom prst="hexagon">
            <a:avLst/>
          </a:prstGeom>
          <a:solidFill>
            <a:srgbClr val="1C1C22"/>
          </a:solidFill>
          <a:ln w="12700">
            <a:solidFill>
              <a:srgbClr val="1C1C22"/>
            </a:solidFill>
            <a:prstDash val="solid"/>
          </a:ln>
        </p:spPr>
      </p:sp>
      <p:pic>
        <p:nvPicPr>
          <p:cNvPr id="6" name="Image 1" descr="img/ic_cap.png">    </p:cNvPr>
          <p:cNvPicPr>
            <a:picLocks noChangeAspect="1"/>
          </p:cNvPicPr>
          <p:nvPr/>
        </p:nvPicPr>
        <p:blipFill>
          <a:blip r:embed="rId2"/>
          <a:stretch>
            <a:fillRect/>
          </a:stretch>
        </p:blipFill>
        <p:spPr>
          <a:xfrm>
            <a:off x="694944" y="4178808"/>
            <a:ext cx="210312" cy="210312"/>
          </a:xfrm>
          <a:prstGeom prst="rect">
            <a:avLst/>
          </a:prstGeom>
        </p:spPr>
      </p:pic>
      <p:sp>
        <p:nvSpPr>
          <p:cNvPr id="7" name="Text 3"/>
          <p:cNvSpPr txBox="1"/>
          <p:nvPr/>
        </p:nvSpPr>
        <p:spPr>
          <a:xfrm>
            <a:off x="1188720" y="4087368"/>
            <a:ext cx="3108960" cy="457200"/>
          </a:xfrm>
          <a:prstGeom prst="rect">
            <a:avLst/>
          </a:prstGeom>
          <a:noFill/>
          <a:ln/>
        </p:spPr>
        <p:txBody>
          <a:bodyPr wrap="square" lIns="0" tIns="0" rIns="0" bIns="0" rtlCol="0" anchor="ctr"/>
          <a:lstStyle/>
          <a:p>
            <a:pPr indent="0" marL="0">
              <a:buNone/>
            </a:pPr>
            <a:r>
              <a:rPr lang="en-US" sz="950" b="1" dirty="0">
                <a:solidFill>
                  <a:srgbClr val="1C1C22"/>
                </a:solidFill>
                <a:latin typeface="Cambria" pitchFamily="34" charset="0"/>
                <a:ea typeface="Cambria" pitchFamily="34" charset="-122"/>
                <a:cs typeface="Cambria" pitchFamily="34" charset="-120"/>
              </a:rPr>
              <a:t>Инженерная школа «УникУм», КузГТУ им. Т. Ф. Горбачева</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img/quote_art.png">    </p:cNvPr>
          <p:cNvPicPr>
            <a:picLocks noChangeAspect="1"/>
          </p:cNvPicPr>
          <p:nvPr/>
        </p:nvPicPr>
        <p:blipFill>
          <a:blip r:embed="rId1"/>
          <a:stretch>
            <a:fillRect/>
          </a:stretch>
        </p:blipFill>
        <p:spPr>
          <a:xfrm>
            <a:off x="0" y="0"/>
            <a:ext cx="4206240" cy="5143500"/>
          </a:xfrm>
          <a:prstGeom prst="rect">
            <a:avLst/>
          </a:prstGeom>
        </p:spPr>
      </p:pic>
      <p:sp>
        <p:nvSpPr>
          <p:cNvPr id="3" name="Shape 0"/>
          <p:cNvSpPr/>
          <p:nvPr/>
        </p:nvSpPr>
        <p:spPr>
          <a:xfrm>
            <a:off x="4343400" y="914400"/>
            <a:ext cx="548640" cy="475488"/>
          </a:xfrm>
          <a:prstGeom prst="hexagon">
            <a:avLst/>
          </a:prstGeom>
          <a:solidFill>
            <a:srgbClr val="F2F1ED"/>
          </a:solidFill>
          <a:ln w="12700">
            <a:solidFill>
              <a:srgbClr val="F2F1ED"/>
            </a:solidFill>
            <a:prstDash val="solid"/>
          </a:ln>
        </p:spPr>
      </p:sp>
      <p:pic>
        <p:nvPicPr>
          <p:cNvPr id="4" name="Image 1" descr="img/ic_quote.png">    </p:cNvPr>
          <p:cNvPicPr>
            <a:picLocks noChangeAspect="1"/>
          </p:cNvPicPr>
          <p:nvPr/>
        </p:nvPicPr>
        <p:blipFill>
          <a:blip r:embed="rId2"/>
          <a:stretch>
            <a:fillRect/>
          </a:stretch>
        </p:blipFill>
        <p:spPr>
          <a:xfrm>
            <a:off x="4498848" y="1033272"/>
            <a:ext cx="228600" cy="228600"/>
          </a:xfrm>
          <a:prstGeom prst="rect">
            <a:avLst/>
          </a:prstGeom>
        </p:spPr>
      </p:pic>
      <p:sp>
        <p:nvSpPr>
          <p:cNvPr id="5" name="Text 1"/>
          <p:cNvSpPr txBox="1"/>
          <p:nvPr/>
        </p:nvSpPr>
        <p:spPr>
          <a:xfrm>
            <a:off x="4343400" y="1600200"/>
            <a:ext cx="4343400" cy="1371600"/>
          </a:xfrm>
          <a:prstGeom prst="rect">
            <a:avLst/>
          </a:prstGeom>
          <a:noFill/>
          <a:ln/>
        </p:spPr>
        <p:txBody>
          <a:bodyPr wrap="square" lIns="0" tIns="0" rIns="0" bIns="0" rtlCol="0" anchor="ctr"/>
          <a:lstStyle/>
          <a:p>
            <a:pPr indent="0" marL="0">
              <a:buNone/>
            </a:pPr>
            <a:r>
              <a:rPr lang="en-US" sz="2200" b="1" dirty="0">
                <a:solidFill>
                  <a:srgbClr val="1C1C22"/>
                </a:solidFill>
                <a:latin typeface="Cambria" pitchFamily="34" charset="0"/>
                <a:ea typeface="Cambria" pitchFamily="34" charset="-122"/>
                <a:cs typeface="Cambria" pitchFamily="34" charset="-120"/>
              </a:rPr>
              <a:t>«Спам-фильтр прав в 91 % случаев. Можно ли ему доверять?»</a:t>
            </a:r>
            <a:endParaRPr lang="en-US" sz="2200" dirty="0"/>
          </a:p>
        </p:txBody>
      </p:sp>
      <p:sp>
        <p:nvSpPr>
          <p:cNvPr id="6" name="Text 2"/>
          <p:cNvSpPr txBox="1"/>
          <p:nvPr/>
        </p:nvSpPr>
        <p:spPr>
          <a:xfrm>
            <a:off x="4343400" y="3154680"/>
            <a:ext cx="4023360" cy="1005840"/>
          </a:xfrm>
          <a:prstGeom prst="rect">
            <a:avLst/>
          </a:prstGeom>
          <a:noFill/>
          <a:ln/>
        </p:spPr>
        <p:txBody>
          <a:bodyPr wrap="square" lIns="0" tIns="0" rIns="0" bIns="0" rtlCol="0" anchor="t"/>
          <a:lstStyle/>
          <a:p>
            <a:pPr indent="0" marL="0">
              <a:buNone/>
            </a:pPr>
            <a:r>
              <a:rPr lang="en-US" sz="1300" dirty="0">
                <a:solidFill>
                  <a:srgbClr val="6E6E78"/>
                </a:solidFill>
                <a:latin typeface="Calibri" pitchFamily="34" charset="0"/>
                <a:ea typeface="Calibri" pitchFamily="34" charset="-122"/>
                <a:cs typeface="Calibri" pitchFamily="34" charset="-120"/>
              </a:rPr>
              <a:t>А если он просто пропускает все письма подряд и не поймал ни одного спама? Сегодня научимся задавать модели правильные вопросы – и считать ответы на них.</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img/sec_cm.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6400" b="1" dirty="0">
                <a:solidFill>
                  <a:srgbClr val="B8AB84"/>
                </a:solidFill>
                <a:latin typeface="Cambria" pitchFamily="34" charset="0"/>
                <a:ea typeface="Cambria" pitchFamily="34" charset="-122"/>
                <a:cs typeface="Cambria" pitchFamily="34" charset="-120"/>
              </a:rPr>
              <a:t>01</a:t>
            </a:r>
            <a:endParaRPr lang="en-US" sz="6400" dirty="0"/>
          </a:p>
        </p:txBody>
      </p:sp>
      <p:sp>
        <p:nvSpPr>
          <p:cNvPr id="4" name="Text 1"/>
          <p:cNvSpPr txBox="1"/>
          <p:nvPr/>
        </p:nvSpPr>
        <p:spPr>
          <a:xfrm>
            <a:off x="548640" y="2121408"/>
            <a:ext cx="3657600" cy="1234440"/>
          </a:xfrm>
          <a:prstGeom prst="rect">
            <a:avLst/>
          </a:prstGeom>
          <a:noFill/>
          <a:ln/>
        </p:spPr>
        <p:txBody>
          <a:bodyPr wrap="square" lIns="0" tIns="0" rIns="0" bIns="0" rtlCol="0" anchor="ctr"/>
          <a:lstStyle/>
          <a:p>
            <a:pPr indent="0" marL="0">
              <a:buNone/>
            </a:pPr>
            <a:r>
              <a:rPr lang="en-US" sz="2500" b="1" dirty="0">
                <a:solidFill>
                  <a:srgbClr val="1C1C22"/>
                </a:solidFill>
                <a:latin typeface="Cambria" pitchFamily="34" charset="0"/>
                <a:ea typeface="Cambria" pitchFamily="34" charset="-122"/>
                <a:cs typeface="Cambria" pitchFamily="34" charset="-120"/>
              </a:rPr>
              <a:t>Матрица ошибок</a:t>
            </a:r>
            <a:endParaRPr lang="en-US" sz="2500" dirty="0"/>
          </a:p>
        </p:txBody>
      </p:sp>
      <p:sp>
        <p:nvSpPr>
          <p:cNvPr id="5" name="Text 2"/>
          <p:cNvSpPr txBox="1"/>
          <p:nvPr/>
        </p:nvSpPr>
        <p:spPr>
          <a:xfrm>
            <a:off x="548640" y="3456432"/>
            <a:ext cx="3474720" cy="731520"/>
          </a:xfrm>
          <a:prstGeom prst="rect">
            <a:avLst/>
          </a:prstGeom>
          <a:noFill/>
          <a:ln/>
        </p:spPr>
        <p:txBody>
          <a:bodyPr wrap="square" lIns="0" tIns="0" rIns="0" bIns="0" rtlCol="0" anchor="t"/>
          <a:lstStyle/>
          <a:p>
            <a:pPr indent="0" marL="0">
              <a:buNone/>
            </a:pPr>
            <a:r>
              <a:rPr lang="en-US" sz="1200" dirty="0">
                <a:solidFill>
                  <a:srgbClr val="6E6E78"/>
                </a:solidFill>
                <a:latin typeface="Calibri" pitchFamily="34" charset="0"/>
                <a:ea typeface="Calibri" pitchFamily="34" charset="-122"/>
                <a:cs typeface="Calibri" pitchFamily="34" charset="-120"/>
              </a:rPr>
              <a:t>Четыре исхода любого ответа модели и доля верных ответов</a:t>
            </a:r>
            <a:endParaRPr lang="en-US" sz="12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FFFFFF"/>
                </a:solidFill>
                <a:latin typeface="Cambria" pitchFamily="34" charset="0"/>
                <a:ea typeface="Cambria" pitchFamily="34" charset="-122"/>
                <a:cs typeface="Cambria"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МАТРИЦА ОШИБОК</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Четыре исхода одного ответа</a:t>
            </a:r>
            <a:endParaRPr lang="en-US" sz="2600" dirty="0"/>
          </a:p>
        </p:txBody>
      </p:sp>
      <p:sp>
        <p:nvSpPr>
          <p:cNvPr id="4" name="Text 2"/>
          <p:cNvSpPr txBox="1"/>
          <p:nvPr/>
        </p:nvSpPr>
        <p:spPr>
          <a:xfrm>
            <a:off x="1600200" y="1325880"/>
            <a:ext cx="1600200" cy="274320"/>
          </a:xfrm>
          <a:prstGeom prst="rect">
            <a:avLst/>
          </a:prstGeom>
          <a:noFill/>
          <a:ln/>
        </p:spPr>
        <p:txBody>
          <a:bodyPr wrap="square" lIns="0" tIns="0" rIns="0" bIns="0" rtlCol="0" anchor="t"/>
          <a:lstStyle/>
          <a:p>
            <a:pPr algn="ctr" indent="0" marL="0">
              <a:buNone/>
            </a:pPr>
            <a:r>
              <a:rPr lang="en-US" sz="1050" b="1" dirty="0">
                <a:solidFill>
                  <a:srgbClr val="8F8260"/>
                </a:solidFill>
                <a:latin typeface="Calibri" pitchFamily="34" charset="0"/>
                <a:ea typeface="Calibri" pitchFamily="34" charset="-122"/>
                <a:cs typeface="Calibri" pitchFamily="34" charset="-120"/>
              </a:rPr>
              <a:t>модель: «спам»</a:t>
            </a:r>
            <a:endParaRPr lang="en-US" sz="1050" dirty="0"/>
          </a:p>
        </p:txBody>
      </p:sp>
      <p:sp>
        <p:nvSpPr>
          <p:cNvPr id="5" name="Text 3"/>
          <p:cNvSpPr txBox="1"/>
          <p:nvPr/>
        </p:nvSpPr>
        <p:spPr>
          <a:xfrm>
            <a:off x="3291840" y="1325880"/>
            <a:ext cx="1600200" cy="274320"/>
          </a:xfrm>
          <a:prstGeom prst="rect">
            <a:avLst/>
          </a:prstGeom>
          <a:noFill/>
          <a:ln/>
        </p:spPr>
        <p:txBody>
          <a:bodyPr wrap="square" lIns="0" tIns="0" rIns="0" bIns="0" rtlCol="0" anchor="t"/>
          <a:lstStyle/>
          <a:p>
            <a:pPr algn="ctr" indent="0" marL="0">
              <a:buNone/>
            </a:pPr>
            <a:r>
              <a:rPr lang="en-US" sz="1050" b="1" dirty="0">
                <a:solidFill>
                  <a:srgbClr val="8F8260"/>
                </a:solidFill>
                <a:latin typeface="Calibri" pitchFamily="34" charset="0"/>
                <a:ea typeface="Calibri" pitchFamily="34" charset="-122"/>
                <a:cs typeface="Calibri" pitchFamily="34" charset="-120"/>
              </a:rPr>
              <a:t>модель: «не спам»</a:t>
            </a:r>
            <a:endParaRPr lang="en-US" sz="1050" dirty="0"/>
          </a:p>
        </p:txBody>
      </p:sp>
      <p:sp>
        <p:nvSpPr>
          <p:cNvPr id="6" name="Text 4"/>
          <p:cNvSpPr txBox="1"/>
          <p:nvPr/>
        </p:nvSpPr>
        <p:spPr>
          <a:xfrm>
            <a:off x="457200" y="1737360"/>
            <a:ext cx="1005840" cy="1097280"/>
          </a:xfrm>
          <a:prstGeom prst="rect">
            <a:avLst/>
          </a:prstGeom>
          <a:noFill/>
          <a:ln/>
        </p:spPr>
        <p:txBody>
          <a:bodyPr wrap="square" lIns="0" tIns="0" rIns="0" bIns="0" rtlCol="0" anchor="ctr"/>
          <a:lstStyle/>
          <a:p>
            <a:pPr algn="r" indent="0" marL="0">
              <a:buNone/>
            </a:pPr>
            <a:r>
              <a:rPr lang="en-US" sz="1050" b="1" dirty="0">
                <a:solidFill>
                  <a:srgbClr val="6E6E78"/>
                </a:solidFill>
                <a:latin typeface="Calibri" pitchFamily="34" charset="0"/>
                <a:ea typeface="Calibri" pitchFamily="34" charset="-122"/>
                <a:cs typeface="Calibri" pitchFamily="34" charset="-120"/>
              </a:rPr>
              <a:t>на самом деле спам</a:t>
            </a:r>
            <a:endParaRPr lang="en-US" sz="1050" dirty="0"/>
          </a:p>
        </p:txBody>
      </p:sp>
      <p:sp>
        <p:nvSpPr>
          <p:cNvPr id="7" name="Text 5"/>
          <p:cNvSpPr txBox="1"/>
          <p:nvPr/>
        </p:nvSpPr>
        <p:spPr>
          <a:xfrm>
            <a:off x="457200" y="2971800"/>
            <a:ext cx="1005840" cy="1097280"/>
          </a:xfrm>
          <a:prstGeom prst="rect">
            <a:avLst/>
          </a:prstGeom>
          <a:noFill/>
          <a:ln/>
        </p:spPr>
        <p:txBody>
          <a:bodyPr wrap="square" lIns="0" tIns="0" rIns="0" bIns="0" rtlCol="0" anchor="ctr"/>
          <a:lstStyle/>
          <a:p>
            <a:pPr algn="r" indent="0" marL="0">
              <a:buNone/>
            </a:pPr>
            <a:r>
              <a:rPr lang="en-US" sz="1050" b="1" dirty="0">
                <a:solidFill>
                  <a:srgbClr val="6E6E78"/>
                </a:solidFill>
                <a:latin typeface="Calibri" pitchFamily="34" charset="0"/>
                <a:ea typeface="Calibri" pitchFamily="34" charset="-122"/>
                <a:cs typeface="Calibri" pitchFamily="34" charset="-120"/>
              </a:rPr>
              <a:t>на самом деле не спам</a:t>
            </a:r>
            <a:endParaRPr lang="en-US" sz="1050" dirty="0"/>
          </a:p>
        </p:txBody>
      </p:sp>
      <p:sp>
        <p:nvSpPr>
          <p:cNvPr id="8" name="Shape 6"/>
          <p:cNvSpPr/>
          <p:nvPr/>
        </p:nvSpPr>
        <p:spPr>
          <a:xfrm>
            <a:off x="1600200" y="1737360"/>
            <a:ext cx="1600200" cy="1097280"/>
          </a:xfrm>
          <a:prstGeom prst="roundRect">
            <a:avLst>
              <a:gd name="adj" fmla="val 6667"/>
            </a:avLst>
          </a:prstGeom>
          <a:solidFill>
            <a:srgbClr val="1C1C22"/>
          </a:solidFill>
          <a:ln w="9525">
            <a:solidFill>
              <a:srgbClr val="1C1C22"/>
            </a:solidFill>
            <a:prstDash val="solid"/>
          </a:ln>
        </p:spPr>
      </p:sp>
      <p:sp>
        <p:nvSpPr>
          <p:cNvPr id="9" name="Text 7"/>
          <p:cNvSpPr txBox="1"/>
          <p:nvPr/>
        </p:nvSpPr>
        <p:spPr>
          <a:xfrm>
            <a:off x="1600200" y="1901952"/>
            <a:ext cx="1600200" cy="457200"/>
          </a:xfrm>
          <a:prstGeom prst="rect">
            <a:avLst/>
          </a:prstGeom>
          <a:noFill/>
          <a:ln/>
        </p:spPr>
        <p:txBody>
          <a:bodyPr wrap="square" lIns="0" tIns="0" rIns="0" bIns="0" rtlCol="0" anchor="t"/>
          <a:lstStyle/>
          <a:p>
            <a:pPr algn="ctr" indent="0" marL="0">
              <a:buNone/>
            </a:pPr>
            <a:r>
              <a:rPr lang="en-US" sz="2800" b="1" dirty="0">
                <a:solidFill>
                  <a:srgbClr val="B8AB84"/>
                </a:solidFill>
                <a:latin typeface="Cambria" pitchFamily="34" charset="0"/>
                <a:ea typeface="Cambria" pitchFamily="34" charset="-122"/>
                <a:cs typeface="Cambria" pitchFamily="34" charset="-120"/>
              </a:rPr>
              <a:t>TP</a:t>
            </a:r>
            <a:endParaRPr lang="en-US" sz="2800" dirty="0"/>
          </a:p>
        </p:txBody>
      </p:sp>
      <p:sp>
        <p:nvSpPr>
          <p:cNvPr id="10" name="Text 8"/>
          <p:cNvSpPr txBox="1"/>
          <p:nvPr/>
        </p:nvSpPr>
        <p:spPr>
          <a:xfrm>
            <a:off x="1600200" y="2423160"/>
            <a:ext cx="16002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верно нашли</a:t>
            </a:r>
            <a:endParaRPr lang="en-US" sz="1100" dirty="0"/>
          </a:p>
        </p:txBody>
      </p:sp>
      <p:sp>
        <p:nvSpPr>
          <p:cNvPr id="11" name="Shape 9"/>
          <p:cNvSpPr/>
          <p:nvPr/>
        </p:nvSpPr>
        <p:spPr>
          <a:xfrm>
            <a:off x="3291840" y="1737360"/>
            <a:ext cx="1600200" cy="1097280"/>
          </a:xfrm>
          <a:prstGeom prst="roundRect">
            <a:avLst>
              <a:gd name="adj" fmla="val 6667"/>
            </a:avLst>
          </a:prstGeom>
          <a:solidFill>
            <a:srgbClr val="F2F1ED"/>
          </a:solidFill>
          <a:ln w="9525">
            <a:solidFill>
              <a:srgbClr val="D8D6CE"/>
            </a:solidFill>
            <a:prstDash val="solid"/>
          </a:ln>
        </p:spPr>
      </p:sp>
      <p:sp>
        <p:nvSpPr>
          <p:cNvPr id="12" name="Text 10"/>
          <p:cNvSpPr txBox="1"/>
          <p:nvPr/>
        </p:nvSpPr>
        <p:spPr>
          <a:xfrm>
            <a:off x="3291840" y="1901952"/>
            <a:ext cx="1600200" cy="457200"/>
          </a:xfrm>
          <a:prstGeom prst="rect">
            <a:avLst/>
          </a:prstGeom>
          <a:noFill/>
          <a:ln/>
        </p:spPr>
        <p:txBody>
          <a:bodyPr wrap="square" lIns="0" tIns="0" rIns="0" bIns="0" rtlCol="0" anchor="t"/>
          <a:lstStyle/>
          <a:p>
            <a:pPr algn="ctr" indent="0" marL="0">
              <a:buNone/>
            </a:pPr>
            <a:r>
              <a:rPr lang="en-US" sz="2800" b="1" dirty="0">
                <a:solidFill>
                  <a:srgbClr val="1C1C22"/>
                </a:solidFill>
                <a:latin typeface="Cambria" pitchFamily="34" charset="0"/>
                <a:ea typeface="Cambria" pitchFamily="34" charset="-122"/>
                <a:cs typeface="Cambria" pitchFamily="34" charset="-120"/>
              </a:rPr>
              <a:t>FN</a:t>
            </a:r>
            <a:endParaRPr lang="en-US" sz="2800" dirty="0"/>
          </a:p>
        </p:txBody>
      </p:sp>
      <p:sp>
        <p:nvSpPr>
          <p:cNvPr id="13" name="Text 11"/>
          <p:cNvSpPr txBox="1"/>
          <p:nvPr/>
        </p:nvSpPr>
        <p:spPr>
          <a:xfrm>
            <a:off x="3291840" y="2423160"/>
            <a:ext cx="1600200" cy="274320"/>
          </a:xfrm>
          <a:prstGeom prst="rect">
            <a:avLst/>
          </a:prstGeom>
          <a:noFill/>
          <a:ln/>
        </p:spPr>
        <p:txBody>
          <a:bodyPr wrap="square" lIns="0" tIns="0" rIns="0" bIns="0" rtlCol="0" anchor="t"/>
          <a:lstStyle/>
          <a:p>
            <a:pPr algn="ctr" indent="0" marL="0">
              <a:buNone/>
            </a:pPr>
            <a:r>
              <a:rPr lang="en-US" sz="1100" dirty="0">
                <a:solidFill>
                  <a:srgbClr val="6E6E78"/>
                </a:solidFill>
                <a:latin typeface="Calibri" pitchFamily="34" charset="0"/>
                <a:ea typeface="Calibri" pitchFamily="34" charset="-122"/>
                <a:cs typeface="Calibri" pitchFamily="34" charset="-120"/>
              </a:rPr>
              <a:t>пропустили</a:t>
            </a:r>
            <a:endParaRPr lang="en-US" sz="1100" dirty="0"/>
          </a:p>
        </p:txBody>
      </p:sp>
      <p:sp>
        <p:nvSpPr>
          <p:cNvPr id="14" name="Shape 12"/>
          <p:cNvSpPr/>
          <p:nvPr/>
        </p:nvSpPr>
        <p:spPr>
          <a:xfrm>
            <a:off x="1600200" y="2971800"/>
            <a:ext cx="1600200" cy="1097280"/>
          </a:xfrm>
          <a:prstGeom prst="roundRect">
            <a:avLst>
              <a:gd name="adj" fmla="val 6667"/>
            </a:avLst>
          </a:prstGeom>
          <a:solidFill>
            <a:srgbClr val="F2F1ED"/>
          </a:solidFill>
          <a:ln w="9525">
            <a:solidFill>
              <a:srgbClr val="D8D6CE"/>
            </a:solidFill>
            <a:prstDash val="solid"/>
          </a:ln>
        </p:spPr>
      </p:sp>
      <p:sp>
        <p:nvSpPr>
          <p:cNvPr id="15" name="Text 13"/>
          <p:cNvSpPr txBox="1"/>
          <p:nvPr/>
        </p:nvSpPr>
        <p:spPr>
          <a:xfrm>
            <a:off x="1600200" y="3136392"/>
            <a:ext cx="1600200" cy="457200"/>
          </a:xfrm>
          <a:prstGeom prst="rect">
            <a:avLst/>
          </a:prstGeom>
          <a:noFill/>
          <a:ln/>
        </p:spPr>
        <p:txBody>
          <a:bodyPr wrap="square" lIns="0" tIns="0" rIns="0" bIns="0" rtlCol="0" anchor="t"/>
          <a:lstStyle/>
          <a:p>
            <a:pPr algn="ctr" indent="0" marL="0">
              <a:buNone/>
            </a:pPr>
            <a:r>
              <a:rPr lang="en-US" sz="2800" b="1" dirty="0">
                <a:solidFill>
                  <a:srgbClr val="1C1C22"/>
                </a:solidFill>
                <a:latin typeface="Cambria" pitchFamily="34" charset="0"/>
                <a:ea typeface="Cambria" pitchFamily="34" charset="-122"/>
                <a:cs typeface="Cambria" pitchFamily="34" charset="-120"/>
              </a:rPr>
              <a:t>FP</a:t>
            </a:r>
            <a:endParaRPr lang="en-US" sz="2800" dirty="0"/>
          </a:p>
        </p:txBody>
      </p:sp>
      <p:sp>
        <p:nvSpPr>
          <p:cNvPr id="16" name="Text 14"/>
          <p:cNvSpPr txBox="1"/>
          <p:nvPr/>
        </p:nvSpPr>
        <p:spPr>
          <a:xfrm>
            <a:off x="1600200" y="3657600"/>
            <a:ext cx="1600200" cy="274320"/>
          </a:xfrm>
          <a:prstGeom prst="rect">
            <a:avLst/>
          </a:prstGeom>
          <a:noFill/>
          <a:ln/>
        </p:spPr>
        <p:txBody>
          <a:bodyPr wrap="square" lIns="0" tIns="0" rIns="0" bIns="0" rtlCol="0" anchor="t"/>
          <a:lstStyle/>
          <a:p>
            <a:pPr algn="ctr" indent="0" marL="0">
              <a:buNone/>
            </a:pPr>
            <a:r>
              <a:rPr lang="en-US" sz="1100" dirty="0">
                <a:solidFill>
                  <a:srgbClr val="6E6E78"/>
                </a:solidFill>
                <a:latin typeface="Calibri" pitchFamily="34" charset="0"/>
                <a:ea typeface="Calibri" pitchFamily="34" charset="-122"/>
                <a:cs typeface="Calibri" pitchFamily="34" charset="-120"/>
              </a:rPr>
              <a:t>ложная тревога</a:t>
            </a:r>
            <a:endParaRPr lang="en-US" sz="1100" dirty="0"/>
          </a:p>
        </p:txBody>
      </p:sp>
      <p:sp>
        <p:nvSpPr>
          <p:cNvPr id="17" name="Shape 15"/>
          <p:cNvSpPr/>
          <p:nvPr/>
        </p:nvSpPr>
        <p:spPr>
          <a:xfrm>
            <a:off x="3291840" y="2971800"/>
            <a:ext cx="1600200" cy="1097280"/>
          </a:xfrm>
          <a:prstGeom prst="roundRect">
            <a:avLst>
              <a:gd name="adj" fmla="val 6667"/>
            </a:avLst>
          </a:prstGeom>
          <a:solidFill>
            <a:srgbClr val="1C1C22"/>
          </a:solidFill>
          <a:ln w="9525">
            <a:solidFill>
              <a:srgbClr val="1C1C22"/>
            </a:solidFill>
            <a:prstDash val="solid"/>
          </a:ln>
        </p:spPr>
      </p:sp>
      <p:sp>
        <p:nvSpPr>
          <p:cNvPr id="18" name="Text 16"/>
          <p:cNvSpPr txBox="1"/>
          <p:nvPr/>
        </p:nvSpPr>
        <p:spPr>
          <a:xfrm>
            <a:off x="3291840" y="3136392"/>
            <a:ext cx="1600200" cy="457200"/>
          </a:xfrm>
          <a:prstGeom prst="rect">
            <a:avLst/>
          </a:prstGeom>
          <a:noFill/>
          <a:ln/>
        </p:spPr>
        <p:txBody>
          <a:bodyPr wrap="square" lIns="0" tIns="0" rIns="0" bIns="0" rtlCol="0" anchor="t"/>
          <a:lstStyle/>
          <a:p>
            <a:pPr algn="ctr" indent="0" marL="0">
              <a:buNone/>
            </a:pPr>
            <a:r>
              <a:rPr lang="en-US" sz="2800" b="1" dirty="0">
                <a:solidFill>
                  <a:srgbClr val="B8AB84"/>
                </a:solidFill>
                <a:latin typeface="Cambria" pitchFamily="34" charset="0"/>
                <a:ea typeface="Cambria" pitchFamily="34" charset="-122"/>
                <a:cs typeface="Cambria" pitchFamily="34" charset="-120"/>
              </a:rPr>
              <a:t>TN</a:t>
            </a:r>
            <a:endParaRPr lang="en-US" sz="2800" dirty="0"/>
          </a:p>
        </p:txBody>
      </p:sp>
      <p:sp>
        <p:nvSpPr>
          <p:cNvPr id="19" name="Text 17"/>
          <p:cNvSpPr txBox="1"/>
          <p:nvPr/>
        </p:nvSpPr>
        <p:spPr>
          <a:xfrm>
            <a:off x="3291840" y="3657600"/>
            <a:ext cx="16002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верно отвергли</a:t>
            </a:r>
            <a:endParaRPr lang="en-US" sz="1100" dirty="0"/>
          </a:p>
        </p:txBody>
      </p:sp>
      <p:sp>
        <p:nvSpPr>
          <p:cNvPr id="20" name="Text 18"/>
          <p:cNvSpPr txBox="1"/>
          <p:nvPr/>
        </p:nvSpPr>
        <p:spPr>
          <a:xfrm>
            <a:off x="5394960" y="129844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01</a:t>
            </a:r>
            <a:endParaRPr lang="en-US" sz="2000" dirty="0"/>
          </a:p>
        </p:txBody>
      </p:sp>
      <p:sp>
        <p:nvSpPr>
          <p:cNvPr id="21" name="Text 19"/>
          <p:cNvSpPr txBox="1"/>
          <p:nvPr/>
        </p:nvSpPr>
        <p:spPr>
          <a:xfrm>
            <a:off x="5989320" y="1325880"/>
            <a:ext cx="292608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Вторая буква – ответ модели</a:t>
            </a:r>
            <a:endParaRPr lang="en-US" sz="1350" dirty="0"/>
          </a:p>
        </p:txBody>
      </p:sp>
      <p:sp>
        <p:nvSpPr>
          <p:cNvPr id="22" name="Text 20"/>
          <p:cNvSpPr txBox="1"/>
          <p:nvPr/>
        </p:nvSpPr>
        <p:spPr>
          <a:xfrm>
            <a:off x="5989320" y="1609344"/>
            <a:ext cx="292608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P – Positive, модель сказала «1». N – Negative, сказала «0».</a:t>
            </a:r>
            <a:endParaRPr lang="en-US" sz="1050" dirty="0"/>
          </a:p>
        </p:txBody>
      </p:sp>
      <p:sp>
        <p:nvSpPr>
          <p:cNvPr id="23" name="Text 21"/>
          <p:cNvSpPr txBox="1"/>
          <p:nvPr/>
        </p:nvSpPr>
        <p:spPr>
          <a:xfrm>
            <a:off x="5394960" y="212140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02</a:t>
            </a:r>
            <a:endParaRPr lang="en-US" sz="2000" dirty="0"/>
          </a:p>
        </p:txBody>
      </p:sp>
      <p:sp>
        <p:nvSpPr>
          <p:cNvPr id="24" name="Text 22"/>
          <p:cNvSpPr txBox="1"/>
          <p:nvPr/>
        </p:nvSpPr>
        <p:spPr>
          <a:xfrm>
            <a:off x="5989320" y="2148840"/>
            <a:ext cx="292608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Первая буква – права ли она</a:t>
            </a:r>
            <a:endParaRPr lang="en-US" sz="1350" dirty="0"/>
          </a:p>
        </p:txBody>
      </p:sp>
      <p:sp>
        <p:nvSpPr>
          <p:cNvPr id="25" name="Text 23"/>
          <p:cNvSpPr txBox="1"/>
          <p:nvPr/>
        </p:nvSpPr>
        <p:spPr>
          <a:xfrm>
            <a:off x="5989320" y="2432304"/>
            <a:ext cx="292608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T – True, ответ верный. F – False, модель ошиблась.</a:t>
            </a:r>
            <a:endParaRPr lang="en-US" sz="1050" dirty="0"/>
          </a:p>
        </p:txBody>
      </p:sp>
      <p:sp>
        <p:nvSpPr>
          <p:cNvPr id="26" name="Text 24"/>
          <p:cNvSpPr txBox="1"/>
          <p:nvPr/>
        </p:nvSpPr>
        <p:spPr>
          <a:xfrm>
            <a:off x="5394960" y="294436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03</a:t>
            </a:r>
            <a:endParaRPr lang="en-US" sz="2000" dirty="0"/>
          </a:p>
        </p:txBody>
      </p:sp>
      <p:sp>
        <p:nvSpPr>
          <p:cNvPr id="27" name="Text 25"/>
          <p:cNvSpPr txBox="1"/>
          <p:nvPr/>
        </p:nvSpPr>
        <p:spPr>
          <a:xfrm>
            <a:off x="5989320" y="2971800"/>
            <a:ext cx="292608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FP – ложная тревога</a:t>
            </a:r>
            <a:endParaRPr lang="en-US" sz="1350" dirty="0"/>
          </a:p>
        </p:txBody>
      </p:sp>
      <p:sp>
        <p:nvSpPr>
          <p:cNvPr id="28" name="Text 26"/>
          <p:cNvSpPr txBox="1"/>
          <p:nvPr/>
        </p:nvSpPr>
        <p:spPr>
          <a:xfrm>
            <a:off x="5989320" y="3255264"/>
            <a:ext cx="292608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Письмо от учителя улетело в спам.</a:t>
            </a:r>
            <a:endParaRPr lang="en-US" sz="1050" dirty="0"/>
          </a:p>
        </p:txBody>
      </p:sp>
      <p:sp>
        <p:nvSpPr>
          <p:cNvPr id="29" name="Text 27"/>
          <p:cNvSpPr txBox="1"/>
          <p:nvPr/>
        </p:nvSpPr>
        <p:spPr>
          <a:xfrm>
            <a:off x="5394960" y="376732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04</a:t>
            </a:r>
            <a:endParaRPr lang="en-US" sz="2000" dirty="0"/>
          </a:p>
        </p:txBody>
      </p:sp>
      <p:sp>
        <p:nvSpPr>
          <p:cNvPr id="30" name="Text 28"/>
          <p:cNvSpPr txBox="1"/>
          <p:nvPr/>
        </p:nvSpPr>
        <p:spPr>
          <a:xfrm>
            <a:off x="5989320" y="3794760"/>
            <a:ext cx="292608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FN – пропуск</a:t>
            </a:r>
            <a:endParaRPr lang="en-US" sz="1350" dirty="0"/>
          </a:p>
        </p:txBody>
      </p:sp>
      <p:sp>
        <p:nvSpPr>
          <p:cNvPr id="31" name="Text 29"/>
          <p:cNvSpPr txBox="1"/>
          <p:nvPr/>
        </p:nvSpPr>
        <p:spPr>
          <a:xfrm>
            <a:off x="5989320" y="4078224"/>
            <a:ext cx="292608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Реклама казино попала во входящие.</a:t>
            </a:r>
            <a:endParaRPr lang="en-US" sz="1050" dirty="0"/>
          </a:p>
        </p:txBody>
      </p:sp>
      <p:sp>
        <p:nvSpPr>
          <p:cNvPr id="32" name="Text 30"/>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33" name="Text 31"/>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СЧИТАЕМ ВМЕСТЕ</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10 писем, порог 0.5</a:t>
            </a:r>
            <a:endParaRPr lang="en-US" sz="2600" dirty="0"/>
          </a:p>
        </p:txBody>
      </p:sp>
      <p:sp>
        <p:nvSpPr>
          <p:cNvPr id="4" name="Text 2"/>
          <p:cNvSpPr txBox="1"/>
          <p:nvPr/>
        </p:nvSpPr>
        <p:spPr>
          <a:xfrm>
            <a:off x="457200" y="1344168"/>
            <a:ext cx="914400" cy="274320"/>
          </a:xfrm>
          <a:prstGeom prst="rect">
            <a:avLst/>
          </a:prstGeom>
          <a:noFill/>
          <a:ln/>
        </p:spPr>
        <p:txBody>
          <a:bodyPr wrap="square" lIns="0" tIns="0" rIns="0" bIns="0" rtlCol="0" anchor="ctr"/>
          <a:lstStyle/>
          <a:p>
            <a:pPr algn="r" indent="0" marL="0">
              <a:buNone/>
            </a:pPr>
            <a:r>
              <a:rPr lang="en-US" sz="1100" b="1" dirty="0">
                <a:solidFill>
                  <a:srgbClr val="8F8260"/>
                </a:solidFill>
                <a:latin typeface="Calibri" pitchFamily="34" charset="0"/>
                <a:ea typeface="Calibri" pitchFamily="34" charset="-122"/>
                <a:cs typeface="Calibri" pitchFamily="34" charset="-120"/>
              </a:rPr>
              <a:t>спам</a:t>
            </a:r>
            <a:endParaRPr lang="en-US" sz="1100" dirty="0"/>
          </a:p>
        </p:txBody>
      </p:sp>
      <p:sp>
        <p:nvSpPr>
          <p:cNvPr id="5" name="Text 3"/>
          <p:cNvSpPr txBox="1"/>
          <p:nvPr/>
        </p:nvSpPr>
        <p:spPr>
          <a:xfrm>
            <a:off x="457200" y="1892808"/>
            <a:ext cx="914400" cy="274320"/>
          </a:xfrm>
          <a:prstGeom prst="rect">
            <a:avLst/>
          </a:prstGeom>
          <a:noFill/>
          <a:ln/>
        </p:spPr>
        <p:txBody>
          <a:bodyPr wrap="square" lIns="0" tIns="0" rIns="0" bIns="0" rtlCol="0" anchor="ctr"/>
          <a:lstStyle/>
          <a:p>
            <a:pPr algn="r" indent="0" marL="0">
              <a:buNone/>
            </a:pPr>
            <a:r>
              <a:rPr lang="en-US" sz="1100" b="1" dirty="0">
                <a:solidFill>
                  <a:srgbClr val="6E6E78"/>
                </a:solidFill>
                <a:latin typeface="Calibri" pitchFamily="34" charset="0"/>
                <a:ea typeface="Calibri" pitchFamily="34" charset="-122"/>
                <a:cs typeface="Calibri" pitchFamily="34" charset="-120"/>
              </a:rPr>
              <a:t>обычные</a:t>
            </a:r>
            <a:endParaRPr lang="en-US" sz="1100" dirty="0"/>
          </a:p>
        </p:txBody>
      </p:sp>
      <p:sp>
        <p:nvSpPr>
          <p:cNvPr id="6" name="Shape 4"/>
          <p:cNvSpPr/>
          <p:nvPr/>
        </p:nvSpPr>
        <p:spPr>
          <a:xfrm>
            <a:off x="4937760" y="1188720"/>
            <a:ext cx="3383280" cy="1188720"/>
          </a:xfrm>
          <a:prstGeom prst="rect">
            <a:avLst/>
          </a:prstGeom>
          <a:solidFill>
            <a:srgbClr val="F2F1ED"/>
          </a:solidFill>
          <a:ln w="12700">
            <a:solidFill>
              <a:srgbClr val="F2F1ED"/>
            </a:solidFill>
            <a:prstDash val="solid"/>
          </a:ln>
        </p:spPr>
      </p:sp>
      <p:sp>
        <p:nvSpPr>
          <p:cNvPr id="7" name="Shape 5"/>
          <p:cNvSpPr/>
          <p:nvPr/>
        </p:nvSpPr>
        <p:spPr>
          <a:xfrm>
            <a:off x="1554480" y="2468880"/>
            <a:ext cx="6766560" cy="0"/>
          </a:xfrm>
          <a:prstGeom prst="line">
            <a:avLst/>
          </a:prstGeom>
          <a:noFill/>
          <a:ln w="12700">
            <a:solidFill>
              <a:srgbClr val="9A9AA3"/>
            </a:solidFill>
            <a:prstDash val="solid"/>
          </a:ln>
        </p:spPr>
      </p:sp>
      <p:sp>
        <p:nvSpPr>
          <p:cNvPr id="8" name="Shape 6"/>
          <p:cNvSpPr/>
          <p:nvPr/>
        </p:nvSpPr>
        <p:spPr>
          <a:xfrm>
            <a:off x="4937760" y="1143000"/>
            <a:ext cx="0" cy="1417320"/>
          </a:xfrm>
          <a:prstGeom prst="line">
            <a:avLst/>
          </a:prstGeom>
          <a:noFill/>
          <a:ln w="19050">
            <a:solidFill>
              <a:srgbClr val="8F8260"/>
            </a:solidFill>
            <a:prstDash val="dash"/>
          </a:ln>
        </p:spPr>
      </p:sp>
      <p:sp>
        <p:nvSpPr>
          <p:cNvPr id="9" name="Text 7"/>
          <p:cNvSpPr txBox="1"/>
          <p:nvPr/>
        </p:nvSpPr>
        <p:spPr>
          <a:xfrm>
            <a:off x="4389120" y="2542032"/>
            <a:ext cx="1097280" cy="201168"/>
          </a:xfrm>
          <a:prstGeom prst="rect">
            <a:avLst/>
          </a:prstGeom>
          <a:noFill/>
          <a:ln/>
        </p:spPr>
        <p:txBody>
          <a:bodyPr wrap="square" lIns="0" tIns="0" rIns="0" bIns="0" rtlCol="0" anchor="t"/>
          <a:lstStyle/>
          <a:p>
            <a:pPr algn="ctr" indent="0" marL="0">
              <a:buNone/>
            </a:pPr>
            <a:r>
              <a:rPr lang="en-US" sz="950" b="1" dirty="0">
                <a:solidFill>
                  <a:srgbClr val="8F8260"/>
                </a:solidFill>
                <a:latin typeface="Calibri" pitchFamily="34" charset="0"/>
                <a:ea typeface="Calibri" pitchFamily="34" charset="-122"/>
                <a:cs typeface="Calibri" pitchFamily="34" charset="-120"/>
              </a:rPr>
              <a:t>порог 0.5</a:t>
            </a:r>
            <a:endParaRPr lang="en-US" sz="950" dirty="0"/>
          </a:p>
        </p:txBody>
      </p:sp>
      <p:sp>
        <p:nvSpPr>
          <p:cNvPr id="10" name="Text 8"/>
          <p:cNvSpPr txBox="1"/>
          <p:nvPr/>
        </p:nvSpPr>
        <p:spPr>
          <a:xfrm>
            <a:off x="1280160" y="2542032"/>
            <a:ext cx="548640" cy="201168"/>
          </a:xfrm>
          <a:prstGeom prst="rect">
            <a:avLst/>
          </a:prstGeom>
          <a:noFill/>
          <a:ln/>
        </p:spPr>
        <p:txBody>
          <a:bodyPr wrap="square" lIns="0" tIns="0" rIns="0" bIns="0" rtlCol="0" anchor="t"/>
          <a:lstStyle/>
          <a:p>
            <a:pPr algn="ctr" indent="0" marL="0">
              <a:buNone/>
            </a:pPr>
            <a:r>
              <a:rPr lang="en-US" sz="900" dirty="0">
                <a:solidFill>
                  <a:srgbClr val="6E6E78"/>
                </a:solidFill>
                <a:latin typeface="Calibri" pitchFamily="34" charset="0"/>
                <a:ea typeface="Calibri" pitchFamily="34" charset="-122"/>
                <a:cs typeface="Calibri" pitchFamily="34" charset="-120"/>
              </a:rPr>
              <a:t>0</a:t>
            </a:r>
            <a:endParaRPr lang="en-US" sz="900" dirty="0"/>
          </a:p>
        </p:txBody>
      </p:sp>
      <p:sp>
        <p:nvSpPr>
          <p:cNvPr id="11" name="Text 9"/>
          <p:cNvSpPr txBox="1"/>
          <p:nvPr/>
        </p:nvSpPr>
        <p:spPr>
          <a:xfrm>
            <a:off x="2971800" y="2542032"/>
            <a:ext cx="548640" cy="201168"/>
          </a:xfrm>
          <a:prstGeom prst="rect">
            <a:avLst/>
          </a:prstGeom>
          <a:noFill/>
          <a:ln/>
        </p:spPr>
        <p:txBody>
          <a:bodyPr wrap="square" lIns="0" tIns="0" rIns="0" bIns="0" rtlCol="0" anchor="t"/>
          <a:lstStyle/>
          <a:p>
            <a:pPr algn="ctr" indent="0" marL="0">
              <a:buNone/>
            </a:pPr>
            <a:r>
              <a:rPr lang="en-US" sz="900" dirty="0">
                <a:solidFill>
                  <a:srgbClr val="6E6E78"/>
                </a:solidFill>
                <a:latin typeface="Calibri" pitchFamily="34" charset="0"/>
                <a:ea typeface="Calibri" pitchFamily="34" charset="-122"/>
                <a:cs typeface="Calibri" pitchFamily="34" charset="-120"/>
              </a:rPr>
              <a:t>0.25</a:t>
            </a:r>
            <a:endParaRPr lang="en-US" sz="900" dirty="0"/>
          </a:p>
        </p:txBody>
      </p:sp>
      <p:sp>
        <p:nvSpPr>
          <p:cNvPr id="12" name="Text 10"/>
          <p:cNvSpPr txBox="1"/>
          <p:nvPr/>
        </p:nvSpPr>
        <p:spPr>
          <a:xfrm>
            <a:off x="6355080" y="2542032"/>
            <a:ext cx="548640" cy="201168"/>
          </a:xfrm>
          <a:prstGeom prst="rect">
            <a:avLst/>
          </a:prstGeom>
          <a:noFill/>
          <a:ln/>
        </p:spPr>
        <p:txBody>
          <a:bodyPr wrap="square" lIns="0" tIns="0" rIns="0" bIns="0" rtlCol="0" anchor="t"/>
          <a:lstStyle/>
          <a:p>
            <a:pPr algn="ctr" indent="0" marL="0">
              <a:buNone/>
            </a:pPr>
            <a:r>
              <a:rPr lang="en-US" sz="900" dirty="0">
                <a:solidFill>
                  <a:srgbClr val="6E6E78"/>
                </a:solidFill>
                <a:latin typeface="Calibri" pitchFamily="34" charset="0"/>
                <a:ea typeface="Calibri" pitchFamily="34" charset="-122"/>
                <a:cs typeface="Calibri" pitchFamily="34" charset="-120"/>
              </a:rPr>
              <a:t>0.75</a:t>
            </a:r>
            <a:endParaRPr lang="en-US" sz="900" dirty="0"/>
          </a:p>
        </p:txBody>
      </p:sp>
      <p:sp>
        <p:nvSpPr>
          <p:cNvPr id="13" name="Text 11"/>
          <p:cNvSpPr txBox="1"/>
          <p:nvPr/>
        </p:nvSpPr>
        <p:spPr>
          <a:xfrm>
            <a:off x="8046720" y="2542032"/>
            <a:ext cx="548640" cy="201168"/>
          </a:xfrm>
          <a:prstGeom prst="rect">
            <a:avLst/>
          </a:prstGeom>
          <a:noFill/>
          <a:ln/>
        </p:spPr>
        <p:txBody>
          <a:bodyPr wrap="square" lIns="0" tIns="0" rIns="0" bIns="0" rtlCol="0" anchor="t"/>
          <a:lstStyle/>
          <a:p>
            <a:pPr algn="ctr" indent="0" marL="0">
              <a:buNone/>
            </a:pPr>
            <a:r>
              <a:rPr lang="en-US" sz="900" dirty="0">
                <a:solidFill>
                  <a:srgbClr val="6E6E78"/>
                </a:solidFill>
                <a:latin typeface="Calibri" pitchFamily="34" charset="0"/>
                <a:ea typeface="Calibri" pitchFamily="34" charset="-122"/>
                <a:cs typeface="Calibri" pitchFamily="34" charset="-120"/>
              </a:rPr>
              <a:t>1</a:t>
            </a:r>
            <a:endParaRPr lang="en-US" sz="900" dirty="0"/>
          </a:p>
        </p:txBody>
      </p:sp>
      <p:sp>
        <p:nvSpPr>
          <p:cNvPr id="14" name="Text 12"/>
          <p:cNvSpPr txBox="1"/>
          <p:nvPr/>
        </p:nvSpPr>
        <p:spPr>
          <a:xfrm>
            <a:off x="1554480" y="1188720"/>
            <a:ext cx="2286000" cy="182880"/>
          </a:xfrm>
          <a:prstGeom prst="rect">
            <a:avLst/>
          </a:prstGeom>
          <a:noFill/>
          <a:ln/>
        </p:spPr>
        <p:txBody>
          <a:bodyPr wrap="square" lIns="0" tIns="0" rIns="0" bIns="0" rtlCol="0" anchor="t"/>
          <a:lstStyle/>
          <a:p>
            <a:pPr indent="0" marL="0">
              <a:buNone/>
            </a:pPr>
            <a:r>
              <a:rPr lang="en-US" sz="900" dirty="0">
                <a:solidFill>
                  <a:srgbClr val="6E6E78"/>
                </a:solidFill>
                <a:latin typeface="Calibri" pitchFamily="34" charset="0"/>
                <a:ea typeface="Calibri" pitchFamily="34" charset="-122"/>
                <a:cs typeface="Calibri" pitchFamily="34" charset="-120"/>
              </a:rPr>
              <a:t>← модель: «не спам»</a:t>
            </a:r>
            <a:endParaRPr lang="en-US" sz="900" dirty="0"/>
          </a:p>
        </p:txBody>
      </p:sp>
      <p:sp>
        <p:nvSpPr>
          <p:cNvPr id="15" name="Text 13"/>
          <p:cNvSpPr txBox="1"/>
          <p:nvPr/>
        </p:nvSpPr>
        <p:spPr>
          <a:xfrm>
            <a:off x="6035040" y="1188720"/>
            <a:ext cx="2286000" cy="182880"/>
          </a:xfrm>
          <a:prstGeom prst="rect">
            <a:avLst/>
          </a:prstGeom>
          <a:noFill/>
          <a:ln/>
        </p:spPr>
        <p:txBody>
          <a:bodyPr wrap="square" lIns="0" tIns="0" rIns="0" bIns="0" rtlCol="0" anchor="t"/>
          <a:lstStyle/>
          <a:p>
            <a:pPr algn="r" indent="0" marL="0">
              <a:buNone/>
            </a:pPr>
            <a:r>
              <a:rPr lang="en-US" sz="900" dirty="0">
                <a:solidFill>
                  <a:srgbClr val="8F8260"/>
                </a:solidFill>
                <a:latin typeface="Calibri" pitchFamily="34" charset="0"/>
                <a:ea typeface="Calibri" pitchFamily="34" charset="-122"/>
                <a:cs typeface="Calibri" pitchFamily="34" charset="-120"/>
              </a:rPr>
              <a:t>модель: «спам» →</a:t>
            </a:r>
            <a:endParaRPr lang="en-US" sz="900" dirty="0"/>
          </a:p>
        </p:txBody>
      </p:sp>
      <p:sp>
        <p:nvSpPr>
          <p:cNvPr id="16" name="Shape 14"/>
          <p:cNvSpPr/>
          <p:nvPr/>
        </p:nvSpPr>
        <p:spPr>
          <a:xfrm>
            <a:off x="7525512" y="1362456"/>
            <a:ext cx="237744" cy="237744"/>
          </a:xfrm>
          <a:prstGeom prst="ellipse">
            <a:avLst/>
          </a:prstGeom>
          <a:solidFill>
            <a:srgbClr val="B8AB84"/>
          </a:solidFill>
          <a:ln w="9525">
            <a:solidFill>
              <a:srgbClr val="B8AB84"/>
            </a:solidFill>
            <a:prstDash val="solid"/>
          </a:ln>
        </p:spPr>
      </p:sp>
      <p:sp>
        <p:nvSpPr>
          <p:cNvPr id="17" name="Text 15"/>
          <p:cNvSpPr txBox="1"/>
          <p:nvPr/>
        </p:nvSpPr>
        <p:spPr>
          <a:xfrm>
            <a:off x="7370064" y="1673352"/>
            <a:ext cx="548640" cy="164592"/>
          </a:xfrm>
          <a:prstGeom prst="rect">
            <a:avLst/>
          </a:prstGeom>
          <a:noFill/>
          <a:ln/>
        </p:spPr>
        <p:txBody>
          <a:bodyPr wrap="square" lIns="0" tIns="0" rIns="0" bIns="0" rtlCol="0" anchor="t"/>
          <a:lstStyle/>
          <a:p>
            <a:pPr algn="ctr" indent="0" marL="0">
              <a:buNone/>
            </a:pPr>
            <a:r>
              <a:rPr lang="en-US" sz="800" dirty="0">
                <a:solidFill>
                  <a:srgbClr val="8F8260"/>
                </a:solidFill>
                <a:latin typeface="Calibri" pitchFamily="34" charset="0"/>
                <a:ea typeface="Calibri" pitchFamily="34" charset="-122"/>
                <a:cs typeface="Calibri" pitchFamily="34" charset="-120"/>
              </a:rPr>
              <a:t>0.9</a:t>
            </a:r>
            <a:endParaRPr lang="en-US" sz="800" dirty="0"/>
          </a:p>
        </p:txBody>
      </p:sp>
      <p:sp>
        <p:nvSpPr>
          <p:cNvPr id="18" name="Shape 16"/>
          <p:cNvSpPr/>
          <p:nvPr/>
        </p:nvSpPr>
        <p:spPr>
          <a:xfrm>
            <a:off x="6848856" y="1362456"/>
            <a:ext cx="237744" cy="237744"/>
          </a:xfrm>
          <a:prstGeom prst="ellipse">
            <a:avLst/>
          </a:prstGeom>
          <a:solidFill>
            <a:srgbClr val="B8AB84"/>
          </a:solidFill>
          <a:ln w="9525">
            <a:solidFill>
              <a:srgbClr val="B8AB84"/>
            </a:solidFill>
            <a:prstDash val="solid"/>
          </a:ln>
        </p:spPr>
      </p:sp>
      <p:sp>
        <p:nvSpPr>
          <p:cNvPr id="19" name="Text 17"/>
          <p:cNvSpPr txBox="1"/>
          <p:nvPr/>
        </p:nvSpPr>
        <p:spPr>
          <a:xfrm>
            <a:off x="6693408" y="1673352"/>
            <a:ext cx="548640" cy="164592"/>
          </a:xfrm>
          <a:prstGeom prst="rect">
            <a:avLst/>
          </a:prstGeom>
          <a:noFill/>
          <a:ln/>
        </p:spPr>
        <p:txBody>
          <a:bodyPr wrap="square" lIns="0" tIns="0" rIns="0" bIns="0" rtlCol="0" anchor="t"/>
          <a:lstStyle/>
          <a:p>
            <a:pPr algn="ctr" indent="0" marL="0">
              <a:buNone/>
            </a:pPr>
            <a:r>
              <a:rPr lang="en-US" sz="800" dirty="0">
                <a:solidFill>
                  <a:srgbClr val="8F8260"/>
                </a:solidFill>
                <a:latin typeface="Calibri" pitchFamily="34" charset="0"/>
                <a:ea typeface="Calibri" pitchFamily="34" charset="-122"/>
                <a:cs typeface="Calibri" pitchFamily="34" charset="-120"/>
              </a:rPr>
              <a:t>0.8</a:t>
            </a:r>
            <a:endParaRPr lang="en-US" sz="800" dirty="0"/>
          </a:p>
        </p:txBody>
      </p:sp>
      <p:sp>
        <p:nvSpPr>
          <p:cNvPr id="20" name="Shape 18"/>
          <p:cNvSpPr/>
          <p:nvPr/>
        </p:nvSpPr>
        <p:spPr>
          <a:xfrm>
            <a:off x="5495544" y="1362456"/>
            <a:ext cx="237744" cy="237744"/>
          </a:xfrm>
          <a:prstGeom prst="ellipse">
            <a:avLst/>
          </a:prstGeom>
          <a:solidFill>
            <a:srgbClr val="B8AB84"/>
          </a:solidFill>
          <a:ln w="9525">
            <a:solidFill>
              <a:srgbClr val="B8AB84"/>
            </a:solidFill>
            <a:prstDash val="solid"/>
          </a:ln>
        </p:spPr>
      </p:sp>
      <p:sp>
        <p:nvSpPr>
          <p:cNvPr id="21" name="Text 19"/>
          <p:cNvSpPr txBox="1"/>
          <p:nvPr/>
        </p:nvSpPr>
        <p:spPr>
          <a:xfrm>
            <a:off x="5340096" y="1673352"/>
            <a:ext cx="548640" cy="164592"/>
          </a:xfrm>
          <a:prstGeom prst="rect">
            <a:avLst/>
          </a:prstGeom>
          <a:noFill/>
          <a:ln/>
        </p:spPr>
        <p:txBody>
          <a:bodyPr wrap="square" lIns="0" tIns="0" rIns="0" bIns="0" rtlCol="0" anchor="t"/>
          <a:lstStyle/>
          <a:p>
            <a:pPr algn="ctr" indent="0" marL="0">
              <a:buNone/>
            </a:pPr>
            <a:r>
              <a:rPr lang="en-US" sz="800" dirty="0">
                <a:solidFill>
                  <a:srgbClr val="8F8260"/>
                </a:solidFill>
                <a:latin typeface="Calibri" pitchFamily="34" charset="0"/>
                <a:ea typeface="Calibri" pitchFamily="34" charset="-122"/>
                <a:cs typeface="Calibri" pitchFamily="34" charset="-120"/>
              </a:rPr>
              <a:t>0.6</a:t>
            </a:r>
            <a:endParaRPr lang="en-US" sz="800" dirty="0"/>
          </a:p>
        </p:txBody>
      </p:sp>
      <p:sp>
        <p:nvSpPr>
          <p:cNvPr id="22" name="Shape 20"/>
          <p:cNvSpPr/>
          <p:nvPr/>
        </p:nvSpPr>
        <p:spPr>
          <a:xfrm>
            <a:off x="3465576" y="1362456"/>
            <a:ext cx="237744" cy="237744"/>
          </a:xfrm>
          <a:prstGeom prst="ellipse">
            <a:avLst/>
          </a:prstGeom>
          <a:solidFill>
            <a:srgbClr val="B8AB84"/>
          </a:solidFill>
          <a:ln w="9525">
            <a:solidFill>
              <a:srgbClr val="B8AB84"/>
            </a:solidFill>
            <a:prstDash val="solid"/>
          </a:ln>
        </p:spPr>
      </p:sp>
      <p:sp>
        <p:nvSpPr>
          <p:cNvPr id="23" name="Text 21"/>
          <p:cNvSpPr txBox="1"/>
          <p:nvPr/>
        </p:nvSpPr>
        <p:spPr>
          <a:xfrm>
            <a:off x="3310128" y="1673352"/>
            <a:ext cx="548640" cy="164592"/>
          </a:xfrm>
          <a:prstGeom prst="rect">
            <a:avLst/>
          </a:prstGeom>
          <a:noFill/>
          <a:ln/>
        </p:spPr>
        <p:txBody>
          <a:bodyPr wrap="square" lIns="0" tIns="0" rIns="0" bIns="0" rtlCol="0" anchor="t"/>
          <a:lstStyle/>
          <a:p>
            <a:pPr algn="ctr" indent="0" marL="0">
              <a:buNone/>
            </a:pPr>
            <a:r>
              <a:rPr lang="en-US" sz="800" dirty="0">
                <a:solidFill>
                  <a:srgbClr val="8F8260"/>
                </a:solidFill>
                <a:latin typeface="Calibri" pitchFamily="34" charset="0"/>
                <a:ea typeface="Calibri" pitchFamily="34" charset="-122"/>
                <a:cs typeface="Calibri" pitchFamily="34" charset="-120"/>
              </a:rPr>
              <a:t>0.3</a:t>
            </a:r>
            <a:endParaRPr lang="en-US" sz="800" dirty="0"/>
          </a:p>
        </p:txBody>
      </p:sp>
      <p:sp>
        <p:nvSpPr>
          <p:cNvPr id="24" name="Shape 22"/>
          <p:cNvSpPr/>
          <p:nvPr/>
        </p:nvSpPr>
        <p:spPr>
          <a:xfrm>
            <a:off x="6172200" y="1911096"/>
            <a:ext cx="237744" cy="237744"/>
          </a:xfrm>
          <a:prstGeom prst="ellipse">
            <a:avLst/>
          </a:prstGeom>
          <a:solidFill>
            <a:srgbClr val="9A9AA3"/>
          </a:solidFill>
          <a:ln w="9525">
            <a:solidFill>
              <a:srgbClr val="9A9AA3"/>
            </a:solidFill>
            <a:prstDash val="solid"/>
          </a:ln>
        </p:spPr>
      </p:sp>
      <p:sp>
        <p:nvSpPr>
          <p:cNvPr id="25" name="Text 23"/>
          <p:cNvSpPr txBox="1"/>
          <p:nvPr/>
        </p:nvSpPr>
        <p:spPr>
          <a:xfrm>
            <a:off x="6016752" y="2221992"/>
            <a:ext cx="548640" cy="164592"/>
          </a:xfrm>
          <a:prstGeom prst="rect">
            <a:avLst/>
          </a:prstGeom>
          <a:noFill/>
          <a:ln/>
        </p:spPr>
        <p:txBody>
          <a:bodyPr wrap="square" lIns="0" tIns="0" rIns="0" bIns="0" rtlCol="0" anchor="t"/>
          <a:lstStyle/>
          <a:p>
            <a:pPr algn="ctr" indent="0" marL="0">
              <a:buNone/>
            </a:pPr>
            <a:r>
              <a:rPr lang="en-US" sz="800" dirty="0">
                <a:solidFill>
                  <a:srgbClr val="6E6E78"/>
                </a:solidFill>
                <a:latin typeface="Calibri" pitchFamily="34" charset="0"/>
                <a:ea typeface="Calibri" pitchFamily="34" charset="-122"/>
                <a:cs typeface="Calibri" pitchFamily="34" charset="-120"/>
              </a:rPr>
              <a:t>0.7</a:t>
            </a:r>
            <a:endParaRPr lang="en-US" sz="800" dirty="0"/>
          </a:p>
        </p:txBody>
      </p:sp>
      <p:sp>
        <p:nvSpPr>
          <p:cNvPr id="26" name="Shape 24"/>
          <p:cNvSpPr/>
          <p:nvPr/>
        </p:nvSpPr>
        <p:spPr>
          <a:xfrm>
            <a:off x="4142232" y="1911096"/>
            <a:ext cx="237744" cy="237744"/>
          </a:xfrm>
          <a:prstGeom prst="ellipse">
            <a:avLst/>
          </a:prstGeom>
          <a:solidFill>
            <a:srgbClr val="9A9AA3"/>
          </a:solidFill>
          <a:ln w="9525">
            <a:solidFill>
              <a:srgbClr val="9A9AA3"/>
            </a:solidFill>
            <a:prstDash val="solid"/>
          </a:ln>
        </p:spPr>
      </p:sp>
      <p:sp>
        <p:nvSpPr>
          <p:cNvPr id="27" name="Text 25"/>
          <p:cNvSpPr txBox="1"/>
          <p:nvPr/>
        </p:nvSpPr>
        <p:spPr>
          <a:xfrm>
            <a:off x="3986784" y="2221992"/>
            <a:ext cx="548640" cy="164592"/>
          </a:xfrm>
          <a:prstGeom prst="rect">
            <a:avLst/>
          </a:prstGeom>
          <a:noFill/>
          <a:ln/>
        </p:spPr>
        <p:txBody>
          <a:bodyPr wrap="square" lIns="0" tIns="0" rIns="0" bIns="0" rtlCol="0" anchor="t"/>
          <a:lstStyle/>
          <a:p>
            <a:pPr algn="ctr" indent="0" marL="0">
              <a:buNone/>
            </a:pPr>
            <a:r>
              <a:rPr lang="en-US" sz="800" dirty="0">
                <a:solidFill>
                  <a:srgbClr val="6E6E78"/>
                </a:solidFill>
                <a:latin typeface="Calibri" pitchFamily="34" charset="0"/>
                <a:ea typeface="Calibri" pitchFamily="34" charset="-122"/>
                <a:cs typeface="Calibri" pitchFamily="34" charset="-120"/>
              </a:rPr>
              <a:t>0.4</a:t>
            </a:r>
            <a:endParaRPr lang="en-US" sz="800" dirty="0"/>
          </a:p>
        </p:txBody>
      </p:sp>
      <p:sp>
        <p:nvSpPr>
          <p:cNvPr id="28" name="Shape 26"/>
          <p:cNvSpPr/>
          <p:nvPr/>
        </p:nvSpPr>
        <p:spPr>
          <a:xfrm>
            <a:off x="3803904" y="1911096"/>
            <a:ext cx="237744" cy="237744"/>
          </a:xfrm>
          <a:prstGeom prst="ellipse">
            <a:avLst/>
          </a:prstGeom>
          <a:solidFill>
            <a:srgbClr val="9A9AA3"/>
          </a:solidFill>
          <a:ln w="9525">
            <a:solidFill>
              <a:srgbClr val="9A9AA3"/>
            </a:solidFill>
            <a:prstDash val="solid"/>
          </a:ln>
        </p:spPr>
      </p:sp>
      <p:sp>
        <p:nvSpPr>
          <p:cNvPr id="29" name="Text 27"/>
          <p:cNvSpPr txBox="1"/>
          <p:nvPr/>
        </p:nvSpPr>
        <p:spPr>
          <a:xfrm>
            <a:off x="3648456" y="2221992"/>
            <a:ext cx="548640" cy="164592"/>
          </a:xfrm>
          <a:prstGeom prst="rect">
            <a:avLst/>
          </a:prstGeom>
          <a:noFill/>
          <a:ln/>
        </p:spPr>
        <p:txBody>
          <a:bodyPr wrap="square" lIns="0" tIns="0" rIns="0" bIns="0" rtlCol="0" anchor="t"/>
          <a:lstStyle/>
          <a:p>
            <a:pPr algn="ctr" indent="0" marL="0">
              <a:buNone/>
            </a:pPr>
            <a:r>
              <a:rPr lang="en-US" sz="800" dirty="0">
                <a:solidFill>
                  <a:srgbClr val="6E6E78"/>
                </a:solidFill>
                <a:latin typeface="Calibri" pitchFamily="34" charset="0"/>
                <a:ea typeface="Calibri" pitchFamily="34" charset="-122"/>
                <a:cs typeface="Calibri" pitchFamily="34" charset="-120"/>
              </a:rPr>
              <a:t>0.35</a:t>
            </a:r>
            <a:endParaRPr lang="en-US" sz="800" dirty="0"/>
          </a:p>
        </p:txBody>
      </p:sp>
      <p:sp>
        <p:nvSpPr>
          <p:cNvPr id="30" name="Shape 28"/>
          <p:cNvSpPr/>
          <p:nvPr/>
        </p:nvSpPr>
        <p:spPr>
          <a:xfrm>
            <a:off x="2788920" y="1911096"/>
            <a:ext cx="237744" cy="237744"/>
          </a:xfrm>
          <a:prstGeom prst="ellipse">
            <a:avLst/>
          </a:prstGeom>
          <a:solidFill>
            <a:srgbClr val="9A9AA3"/>
          </a:solidFill>
          <a:ln w="9525">
            <a:solidFill>
              <a:srgbClr val="9A9AA3"/>
            </a:solidFill>
            <a:prstDash val="solid"/>
          </a:ln>
        </p:spPr>
      </p:sp>
      <p:sp>
        <p:nvSpPr>
          <p:cNvPr id="31" name="Text 29"/>
          <p:cNvSpPr txBox="1"/>
          <p:nvPr/>
        </p:nvSpPr>
        <p:spPr>
          <a:xfrm>
            <a:off x="2633472" y="2221992"/>
            <a:ext cx="548640" cy="164592"/>
          </a:xfrm>
          <a:prstGeom prst="rect">
            <a:avLst/>
          </a:prstGeom>
          <a:noFill/>
          <a:ln/>
        </p:spPr>
        <p:txBody>
          <a:bodyPr wrap="square" lIns="0" tIns="0" rIns="0" bIns="0" rtlCol="0" anchor="t"/>
          <a:lstStyle/>
          <a:p>
            <a:pPr algn="ctr" indent="0" marL="0">
              <a:buNone/>
            </a:pPr>
            <a:r>
              <a:rPr lang="en-US" sz="800" dirty="0">
                <a:solidFill>
                  <a:srgbClr val="6E6E78"/>
                </a:solidFill>
                <a:latin typeface="Calibri" pitchFamily="34" charset="0"/>
                <a:ea typeface="Calibri" pitchFamily="34" charset="-122"/>
                <a:cs typeface="Calibri" pitchFamily="34" charset="-120"/>
              </a:rPr>
              <a:t>0.2</a:t>
            </a:r>
            <a:endParaRPr lang="en-US" sz="800" dirty="0"/>
          </a:p>
        </p:txBody>
      </p:sp>
      <p:sp>
        <p:nvSpPr>
          <p:cNvPr id="32" name="Shape 30"/>
          <p:cNvSpPr/>
          <p:nvPr/>
        </p:nvSpPr>
        <p:spPr>
          <a:xfrm>
            <a:off x="2112264" y="1911096"/>
            <a:ext cx="237744" cy="237744"/>
          </a:xfrm>
          <a:prstGeom prst="ellipse">
            <a:avLst/>
          </a:prstGeom>
          <a:solidFill>
            <a:srgbClr val="9A9AA3"/>
          </a:solidFill>
          <a:ln w="9525">
            <a:solidFill>
              <a:srgbClr val="9A9AA3"/>
            </a:solidFill>
            <a:prstDash val="solid"/>
          </a:ln>
        </p:spPr>
      </p:sp>
      <p:sp>
        <p:nvSpPr>
          <p:cNvPr id="33" name="Text 31"/>
          <p:cNvSpPr txBox="1"/>
          <p:nvPr/>
        </p:nvSpPr>
        <p:spPr>
          <a:xfrm>
            <a:off x="1956816" y="2221992"/>
            <a:ext cx="548640" cy="164592"/>
          </a:xfrm>
          <a:prstGeom prst="rect">
            <a:avLst/>
          </a:prstGeom>
          <a:noFill/>
          <a:ln/>
        </p:spPr>
        <p:txBody>
          <a:bodyPr wrap="square" lIns="0" tIns="0" rIns="0" bIns="0" rtlCol="0" anchor="t"/>
          <a:lstStyle/>
          <a:p>
            <a:pPr algn="ctr" indent="0" marL="0">
              <a:buNone/>
            </a:pPr>
            <a:r>
              <a:rPr lang="en-US" sz="800" dirty="0">
                <a:solidFill>
                  <a:srgbClr val="6E6E78"/>
                </a:solidFill>
                <a:latin typeface="Calibri" pitchFamily="34" charset="0"/>
                <a:ea typeface="Calibri" pitchFamily="34" charset="-122"/>
                <a:cs typeface="Calibri" pitchFamily="34" charset="-120"/>
              </a:rPr>
              <a:t>0.1</a:t>
            </a:r>
            <a:endParaRPr lang="en-US" sz="800" dirty="0"/>
          </a:p>
        </p:txBody>
      </p:sp>
      <p:sp>
        <p:nvSpPr>
          <p:cNvPr id="34" name="Shape 32"/>
          <p:cNvSpPr/>
          <p:nvPr/>
        </p:nvSpPr>
        <p:spPr>
          <a:xfrm>
            <a:off x="1773936" y="1911096"/>
            <a:ext cx="237744" cy="237744"/>
          </a:xfrm>
          <a:prstGeom prst="ellipse">
            <a:avLst/>
          </a:prstGeom>
          <a:solidFill>
            <a:srgbClr val="9A9AA3"/>
          </a:solidFill>
          <a:ln w="9525">
            <a:solidFill>
              <a:srgbClr val="9A9AA3"/>
            </a:solidFill>
            <a:prstDash val="solid"/>
          </a:ln>
        </p:spPr>
      </p:sp>
      <p:sp>
        <p:nvSpPr>
          <p:cNvPr id="35" name="Text 33"/>
          <p:cNvSpPr txBox="1"/>
          <p:nvPr/>
        </p:nvSpPr>
        <p:spPr>
          <a:xfrm>
            <a:off x="1618488" y="2221992"/>
            <a:ext cx="548640" cy="164592"/>
          </a:xfrm>
          <a:prstGeom prst="rect">
            <a:avLst/>
          </a:prstGeom>
          <a:noFill/>
          <a:ln/>
        </p:spPr>
        <p:txBody>
          <a:bodyPr wrap="square" lIns="0" tIns="0" rIns="0" bIns="0" rtlCol="0" anchor="t"/>
          <a:lstStyle/>
          <a:p>
            <a:pPr algn="ctr" indent="0" marL="0">
              <a:buNone/>
            </a:pPr>
            <a:r>
              <a:rPr lang="en-US" sz="800" dirty="0">
                <a:solidFill>
                  <a:srgbClr val="6E6E78"/>
                </a:solidFill>
                <a:latin typeface="Calibri" pitchFamily="34" charset="0"/>
                <a:ea typeface="Calibri" pitchFamily="34" charset="-122"/>
                <a:cs typeface="Calibri" pitchFamily="34" charset="-120"/>
              </a:rPr>
              <a:t>0.05</a:t>
            </a:r>
            <a:endParaRPr lang="en-US" sz="800" dirty="0"/>
          </a:p>
        </p:txBody>
      </p:sp>
      <p:sp>
        <p:nvSpPr>
          <p:cNvPr id="36" name="Shape 34"/>
          <p:cNvSpPr/>
          <p:nvPr/>
        </p:nvSpPr>
        <p:spPr>
          <a:xfrm>
            <a:off x="3419856" y="1316736"/>
            <a:ext cx="329184" cy="329184"/>
          </a:xfrm>
          <a:prstGeom prst="ellipse">
            <a:avLst/>
          </a:prstGeom>
          <a:ln w="15875">
            <a:solidFill>
              <a:srgbClr val="1C1C22"/>
            </a:solidFill>
            <a:prstDash val="solid"/>
          </a:ln>
        </p:spPr>
      </p:sp>
      <p:sp>
        <p:nvSpPr>
          <p:cNvPr id="37" name="Shape 35"/>
          <p:cNvSpPr/>
          <p:nvPr/>
        </p:nvSpPr>
        <p:spPr>
          <a:xfrm>
            <a:off x="6126480" y="1865376"/>
            <a:ext cx="329184" cy="329184"/>
          </a:xfrm>
          <a:prstGeom prst="ellipse">
            <a:avLst/>
          </a:prstGeom>
          <a:ln w="15875">
            <a:solidFill>
              <a:srgbClr val="1C1C22"/>
            </a:solidFill>
            <a:prstDash val="solid"/>
          </a:ln>
        </p:spPr>
      </p:sp>
      <p:sp>
        <p:nvSpPr>
          <p:cNvPr id="38" name="Shape 36"/>
          <p:cNvSpPr/>
          <p:nvPr/>
        </p:nvSpPr>
        <p:spPr>
          <a:xfrm>
            <a:off x="548640" y="3017520"/>
            <a:ext cx="1874520" cy="1371600"/>
          </a:xfrm>
          <a:prstGeom prst="roundRect">
            <a:avLst>
              <a:gd name="adj" fmla="val 533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39" name="Text 37"/>
          <p:cNvSpPr txBox="1"/>
          <p:nvPr/>
        </p:nvSpPr>
        <p:spPr>
          <a:xfrm>
            <a:off x="731520" y="3127248"/>
            <a:ext cx="91440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TP</a:t>
            </a:r>
            <a:endParaRPr lang="en-US" sz="1250" dirty="0"/>
          </a:p>
        </p:txBody>
      </p:sp>
      <p:sp>
        <p:nvSpPr>
          <p:cNvPr id="40" name="Text 38"/>
          <p:cNvSpPr txBox="1"/>
          <p:nvPr/>
        </p:nvSpPr>
        <p:spPr>
          <a:xfrm>
            <a:off x="731520" y="3383280"/>
            <a:ext cx="914400" cy="548640"/>
          </a:xfrm>
          <a:prstGeom prst="rect">
            <a:avLst/>
          </a:prstGeom>
          <a:noFill/>
          <a:ln/>
        </p:spPr>
        <p:txBody>
          <a:bodyPr wrap="square" lIns="0" tIns="0" rIns="0" bIns="0" rtlCol="0" anchor="t"/>
          <a:lstStyle/>
          <a:p>
            <a:pPr indent="0" marL="0">
              <a:buNone/>
            </a:pPr>
            <a:r>
              <a:rPr lang="en-US" sz="3200" b="1" dirty="0">
                <a:solidFill>
                  <a:srgbClr val="8F8260"/>
                </a:solidFill>
                <a:latin typeface="Cambria" pitchFamily="34" charset="0"/>
                <a:ea typeface="Cambria" pitchFamily="34" charset="-122"/>
                <a:cs typeface="Cambria" pitchFamily="34" charset="-120"/>
              </a:rPr>
              <a:t>3</a:t>
            </a:r>
            <a:endParaRPr lang="en-US" sz="3200" dirty="0"/>
          </a:p>
        </p:txBody>
      </p:sp>
      <p:sp>
        <p:nvSpPr>
          <p:cNvPr id="41" name="Text 39"/>
          <p:cNvSpPr txBox="1"/>
          <p:nvPr/>
        </p:nvSpPr>
        <p:spPr>
          <a:xfrm>
            <a:off x="731520" y="3931920"/>
            <a:ext cx="1554480" cy="41148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спам с p = 0.9, 0.8, 0.6</a:t>
            </a:r>
            <a:endParaRPr lang="en-US" sz="950" dirty="0"/>
          </a:p>
        </p:txBody>
      </p:sp>
      <p:sp>
        <p:nvSpPr>
          <p:cNvPr id="42" name="Shape 40"/>
          <p:cNvSpPr/>
          <p:nvPr/>
        </p:nvSpPr>
        <p:spPr>
          <a:xfrm>
            <a:off x="2606040" y="3017520"/>
            <a:ext cx="1874520" cy="1371600"/>
          </a:xfrm>
          <a:prstGeom prst="roundRect">
            <a:avLst>
              <a:gd name="adj" fmla="val 5333"/>
            </a:avLst>
          </a:prstGeom>
          <a:solidFill>
            <a:srgbClr val="F2F1ED"/>
          </a:solidFill>
          <a:ln w="9525">
            <a:solidFill>
              <a:srgbClr val="F2F1ED"/>
            </a:solidFill>
            <a:prstDash val="solid"/>
          </a:ln>
        </p:spPr>
      </p:sp>
      <p:sp>
        <p:nvSpPr>
          <p:cNvPr id="43" name="Text 41"/>
          <p:cNvSpPr txBox="1"/>
          <p:nvPr/>
        </p:nvSpPr>
        <p:spPr>
          <a:xfrm>
            <a:off x="2788920" y="3127248"/>
            <a:ext cx="91440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FN</a:t>
            </a:r>
            <a:endParaRPr lang="en-US" sz="1250" dirty="0"/>
          </a:p>
        </p:txBody>
      </p:sp>
      <p:sp>
        <p:nvSpPr>
          <p:cNvPr id="44" name="Text 42"/>
          <p:cNvSpPr txBox="1"/>
          <p:nvPr/>
        </p:nvSpPr>
        <p:spPr>
          <a:xfrm>
            <a:off x="2788920" y="3383280"/>
            <a:ext cx="914400" cy="548640"/>
          </a:xfrm>
          <a:prstGeom prst="rect">
            <a:avLst/>
          </a:prstGeom>
          <a:noFill/>
          <a:ln/>
        </p:spPr>
        <p:txBody>
          <a:bodyPr wrap="square" lIns="0" tIns="0" rIns="0" bIns="0" rtlCol="0" anchor="t"/>
          <a:lstStyle/>
          <a:p>
            <a:pPr indent="0" marL="0">
              <a:buNone/>
            </a:pPr>
            <a:r>
              <a:rPr lang="en-US" sz="3200" b="1" dirty="0">
                <a:solidFill>
                  <a:srgbClr val="8F8260"/>
                </a:solidFill>
                <a:latin typeface="Cambria" pitchFamily="34" charset="0"/>
                <a:ea typeface="Cambria" pitchFamily="34" charset="-122"/>
                <a:cs typeface="Cambria" pitchFamily="34" charset="-120"/>
              </a:rPr>
              <a:t>1</a:t>
            </a:r>
            <a:endParaRPr lang="en-US" sz="3200" dirty="0"/>
          </a:p>
        </p:txBody>
      </p:sp>
      <p:sp>
        <p:nvSpPr>
          <p:cNvPr id="45" name="Text 43"/>
          <p:cNvSpPr txBox="1"/>
          <p:nvPr/>
        </p:nvSpPr>
        <p:spPr>
          <a:xfrm>
            <a:off x="2788920" y="3931920"/>
            <a:ext cx="1554480" cy="41148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спам с p = 0.3 – модель его проспала</a:t>
            </a:r>
            <a:endParaRPr lang="en-US" sz="950" dirty="0"/>
          </a:p>
        </p:txBody>
      </p:sp>
      <p:sp>
        <p:nvSpPr>
          <p:cNvPr id="46" name="Shape 44"/>
          <p:cNvSpPr/>
          <p:nvPr/>
        </p:nvSpPr>
        <p:spPr>
          <a:xfrm>
            <a:off x="4663440" y="3017520"/>
            <a:ext cx="1874520" cy="1371600"/>
          </a:xfrm>
          <a:prstGeom prst="roundRect">
            <a:avLst>
              <a:gd name="adj" fmla="val 5333"/>
            </a:avLst>
          </a:prstGeom>
          <a:solidFill>
            <a:srgbClr val="F2F1ED"/>
          </a:solidFill>
          <a:ln w="9525">
            <a:solidFill>
              <a:srgbClr val="F2F1ED"/>
            </a:solidFill>
            <a:prstDash val="solid"/>
          </a:ln>
        </p:spPr>
      </p:sp>
      <p:sp>
        <p:nvSpPr>
          <p:cNvPr id="47" name="Text 45"/>
          <p:cNvSpPr txBox="1"/>
          <p:nvPr/>
        </p:nvSpPr>
        <p:spPr>
          <a:xfrm>
            <a:off x="4846320" y="3127248"/>
            <a:ext cx="91440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FP</a:t>
            </a:r>
            <a:endParaRPr lang="en-US" sz="1250" dirty="0"/>
          </a:p>
        </p:txBody>
      </p:sp>
      <p:sp>
        <p:nvSpPr>
          <p:cNvPr id="48" name="Text 46"/>
          <p:cNvSpPr txBox="1"/>
          <p:nvPr/>
        </p:nvSpPr>
        <p:spPr>
          <a:xfrm>
            <a:off x="4846320" y="3383280"/>
            <a:ext cx="914400" cy="548640"/>
          </a:xfrm>
          <a:prstGeom prst="rect">
            <a:avLst/>
          </a:prstGeom>
          <a:noFill/>
          <a:ln/>
        </p:spPr>
        <p:txBody>
          <a:bodyPr wrap="square" lIns="0" tIns="0" rIns="0" bIns="0" rtlCol="0" anchor="t"/>
          <a:lstStyle/>
          <a:p>
            <a:pPr indent="0" marL="0">
              <a:buNone/>
            </a:pPr>
            <a:r>
              <a:rPr lang="en-US" sz="3200" b="1" dirty="0">
                <a:solidFill>
                  <a:srgbClr val="8F8260"/>
                </a:solidFill>
                <a:latin typeface="Cambria" pitchFamily="34" charset="0"/>
                <a:ea typeface="Cambria" pitchFamily="34" charset="-122"/>
                <a:cs typeface="Cambria" pitchFamily="34" charset="-120"/>
              </a:rPr>
              <a:t>1</a:t>
            </a:r>
            <a:endParaRPr lang="en-US" sz="3200" dirty="0"/>
          </a:p>
        </p:txBody>
      </p:sp>
      <p:sp>
        <p:nvSpPr>
          <p:cNvPr id="49" name="Text 47"/>
          <p:cNvSpPr txBox="1"/>
          <p:nvPr/>
        </p:nvSpPr>
        <p:spPr>
          <a:xfrm>
            <a:off x="4846320" y="3931920"/>
            <a:ext cx="1554480" cy="41148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обычное с p = 0.7 – ложная тревога</a:t>
            </a:r>
            <a:endParaRPr lang="en-US" sz="950" dirty="0"/>
          </a:p>
        </p:txBody>
      </p:sp>
      <p:sp>
        <p:nvSpPr>
          <p:cNvPr id="50" name="Shape 48"/>
          <p:cNvSpPr/>
          <p:nvPr/>
        </p:nvSpPr>
        <p:spPr>
          <a:xfrm>
            <a:off x="6720840" y="3017520"/>
            <a:ext cx="1874520" cy="1371600"/>
          </a:xfrm>
          <a:prstGeom prst="roundRect">
            <a:avLst>
              <a:gd name="adj" fmla="val 533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51" name="Text 49"/>
          <p:cNvSpPr txBox="1"/>
          <p:nvPr/>
        </p:nvSpPr>
        <p:spPr>
          <a:xfrm>
            <a:off x="6903720" y="3127248"/>
            <a:ext cx="91440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TN</a:t>
            </a:r>
            <a:endParaRPr lang="en-US" sz="1250" dirty="0"/>
          </a:p>
        </p:txBody>
      </p:sp>
      <p:sp>
        <p:nvSpPr>
          <p:cNvPr id="52" name="Text 50"/>
          <p:cNvSpPr txBox="1"/>
          <p:nvPr/>
        </p:nvSpPr>
        <p:spPr>
          <a:xfrm>
            <a:off x="6903720" y="3383280"/>
            <a:ext cx="914400" cy="548640"/>
          </a:xfrm>
          <a:prstGeom prst="rect">
            <a:avLst/>
          </a:prstGeom>
          <a:noFill/>
          <a:ln/>
        </p:spPr>
        <p:txBody>
          <a:bodyPr wrap="square" lIns="0" tIns="0" rIns="0" bIns="0" rtlCol="0" anchor="t"/>
          <a:lstStyle/>
          <a:p>
            <a:pPr indent="0" marL="0">
              <a:buNone/>
            </a:pPr>
            <a:r>
              <a:rPr lang="en-US" sz="3200" b="1" dirty="0">
                <a:solidFill>
                  <a:srgbClr val="8F8260"/>
                </a:solidFill>
                <a:latin typeface="Cambria" pitchFamily="34" charset="0"/>
                <a:ea typeface="Cambria" pitchFamily="34" charset="-122"/>
                <a:cs typeface="Cambria" pitchFamily="34" charset="-120"/>
              </a:rPr>
              <a:t>5</a:t>
            </a:r>
            <a:endParaRPr lang="en-US" sz="3200" dirty="0"/>
          </a:p>
        </p:txBody>
      </p:sp>
      <p:sp>
        <p:nvSpPr>
          <p:cNvPr id="53" name="Text 51"/>
          <p:cNvSpPr txBox="1"/>
          <p:nvPr/>
        </p:nvSpPr>
        <p:spPr>
          <a:xfrm>
            <a:off x="6903720" y="3931920"/>
            <a:ext cx="1554480" cy="41148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обычные с p ≤ 0.4</a:t>
            </a:r>
            <a:endParaRPr lang="en-US" sz="950" dirty="0"/>
          </a:p>
        </p:txBody>
      </p:sp>
      <p:sp>
        <p:nvSpPr>
          <p:cNvPr id="54" name="Text 5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55" name="Text 5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ДОЛЯ ВЕРНЫХ ОТВЕТОВ</a:t>
            </a:r>
            <a:endParaRPr lang="en-US" sz="900" dirty="0"/>
          </a:p>
        </p:txBody>
      </p:sp>
      <p:sp>
        <p:nvSpPr>
          <p:cNvPr id="3" name="Text 1"/>
          <p:cNvSpPr txBox="1"/>
          <p:nvPr/>
        </p:nvSpPr>
        <p:spPr>
          <a:xfrm>
            <a:off x="457200" y="521208"/>
            <a:ext cx="45720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Accuracy и ее ловушка</a:t>
            </a:r>
            <a:endParaRPr lang="en-US" sz="2600" dirty="0"/>
          </a:p>
        </p:txBody>
      </p:sp>
      <p:sp>
        <p:nvSpPr>
          <p:cNvPr id="4" name="Text 2"/>
          <p:cNvSpPr txBox="1"/>
          <p:nvPr/>
        </p:nvSpPr>
        <p:spPr>
          <a:xfrm>
            <a:off x="4754880" y="457200"/>
            <a:ext cx="3931920" cy="548640"/>
          </a:xfrm>
          <a:prstGeom prst="rect">
            <a:avLst/>
          </a:prstGeom>
          <a:noFill/>
          <a:ln/>
        </p:spPr>
        <p:txBody>
          <a:bodyPr wrap="square" lIns="0" tIns="0" rIns="0" bIns="0" rtlCol="0" anchor="ctr"/>
          <a:lstStyle/>
          <a:p>
            <a:pPr algn="r" indent="0" marL="0">
              <a:buNone/>
            </a:pPr>
            <a:r>
              <a:rPr lang="en-US" sz="1900" b="1" dirty="0">
                <a:solidFill>
                  <a:srgbClr val="1C1C22"/>
                </a:solidFill>
                <a:latin typeface="Cambria" pitchFamily="34" charset="0"/>
                <a:ea typeface="Cambria" pitchFamily="34" charset="-122"/>
                <a:cs typeface="Cambria" pitchFamily="34" charset="-120"/>
              </a:rPr>
              <a:t>Accuracy = (TP + TN) / все</a:t>
            </a:r>
            <a:endParaRPr lang="en-US" sz="1900" dirty="0"/>
          </a:p>
        </p:txBody>
      </p:sp>
      <p:sp>
        <p:nvSpPr>
          <p:cNvPr id="5" name="Text 3"/>
          <p:cNvSpPr txBox="1"/>
          <p:nvPr/>
        </p:nvSpPr>
        <p:spPr>
          <a:xfrm>
            <a:off x="4754880" y="1024128"/>
            <a:ext cx="3931920" cy="228600"/>
          </a:xfrm>
          <a:prstGeom prst="rect">
            <a:avLst/>
          </a:prstGeom>
          <a:noFill/>
          <a:ln/>
        </p:spPr>
        <p:txBody>
          <a:bodyPr wrap="square" lIns="0" tIns="0" rIns="0" bIns="0" rtlCol="0" anchor="t"/>
          <a:lstStyle/>
          <a:p>
            <a:pPr algn="r" indent="0" marL="0">
              <a:buNone/>
            </a:pPr>
            <a:r>
              <a:rPr lang="en-US" sz="1100" dirty="0">
                <a:solidFill>
                  <a:srgbClr val="6E6E78"/>
                </a:solidFill>
                <a:latin typeface="Calibri" pitchFamily="34" charset="0"/>
                <a:ea typeface="Calibri" pitchFamily="34" charset="-122"/>
                <a:cs typeface="Calibri" pitchFamily="34" charset="-120"/>
              </a:rPr>
              <a:t>10 писем: (3 + 5) / 10 = 0.8</a:t>
            </a:r>
            <a:endParaRPr lang="en-US" sz="1100" dirty="0"/>
          </a:p>
        </p:txBody>
      </p:sp>
      <p:sp>
        <p:nvSpPr>
          <p:cNvPr id="6" name="Shape 4"/>
          <p:cNvSpPr/>
          <p:nvPr/>
        </p:nvSpPr>
        <p:spPr>
          <a:xfrm>
            <a:off x="548640" y="1463040"/>
            <a:ext cx="2560320" cy="2240280"/>
          </a:xfrm>
          <a:prstGeom prst="roundRect">
            <a:avLst>
              <a:gd name="adj" fmla="val 3265"/>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691640"/>
            <a:ext cx="146304" cy="146304"/>
          </a:xfrm>
          <a:prstGeom prst="ellipse">
            <a:avLst/>
          </a:prstGeom>
          <a:solidFill>
            <a:srgbClr val="9A9AA3"/>
          </a:solidFill>
          <a:ln w="9525">
            <a:solidFill>
              <a:srgbClr val="9A9AA3"/>
            </a:solidFill>
            <a:prstDash val="solid"/>
          </a:ln>
        </p:spPr>
      </p:sp>
      <p:sp>
        <p:nvSpPr>
          <p:cNvPr id="8" name="Shape 6"/>
          <p:cNvSpPr/>
          <p:nvPr/>
        </p:nvSpPr>
        <p:spPr>
          <a:xfrm>
            <a:off x="973836" y="1691640"/>
            <a:ext cx="146304" cy="146304"/>
          </a:xfrm>
          <a:prstGeom prst="ellipse">
            <a:avLst/>
          </a:prstGeom>
          <a:solidFill>
            <a:srgbClr val="9A9AA3"/>
          </a:solidFill>
          <a:ln w="9525">
            <a:solidFill>
              <a:srgbClr val="9A9AA3"/>
            </a:solidFill>
            <a:prstDash val="solid"/>
          </a:ln>
        </p:spPr>
      </p:sp>
      <p:sp>
        <p:nvSpPr>
          <p:cNvPr id="9" name="Shape 7"/>
          <p:cNvSpPr/>
          <p:nvPr/>
        </p:nvSpPr>
        <p:spPr>
          <a:xfrm>
            <a:off x="1170432" y="1691640"/>
            <a:ext cx="146304" cy="146304"/>
          </a:xfrm>
          <a:prstGeom prst="ellipse">
            <a:avLst/>
          </a:prstGeom>
          <a:solidFill>
            <a:srgbClr val="9A9AA3"/>
          </a:solidFill>
          <a:ln w="9525">
            <a:solidFill>
              <a:srgbClr val="9A9AA3"/>
            </a:solidFill>
            <a:prstDash val="solid"/>
          </a:ln>
        </p:spPr>
      </p:sp>
      <p:sp>
        <p:nvSpPr>
          <p:cNvPr id="10" name="Shape 8"/>
          <p:cNvSpPr/>
          <p:nvPr/>
        </p:nvSpPr>
        <p:spPr>
          <a:xfrm>
            <a:off x="1367028" y="1691640"/>
            <a:ext cx="146304" cy="146304"/>
          </a:xfrm>
          <a:prstGeom prst="ellipse">
            <a:avLst/>
          </a:prstGeom>
          <a:solidFill>
            <a:srgbClr val="9A9AA3"/>
          </a:solidFill>
          <a:ln w="9525">
            <a:solidFill>
              <a:srgbClr val="9A9AA3"/>
            </a:solidFill>
            <a:prstDash val="solid"/>
          </a:ln>
        </p:spPr>
      </p:sp>
      <p:sp>
        <p:nvSpPr>
          <p:cNvPr id="11" name="Shape 9"/>
          <p:cNvSpPr/>
          <p:nvPr/>
        </p:nvSpPr>
        <p:spPr>
          <a:xfrm>
            <a:off x="1563624" y="1691640"/>
            <a:ext cx="146304" cy="146304"/>
          </a:xfrm>
          <a:prstGeom prst="ellipse">
            <a:avLst/>
          </a:prstGeom>
          <a:solidFill>
            <a:srgbClr val="9A9AA3"/>
          </a:solidFill>
          <a:ln w="9525">
            <a:solidFill>
              <a:srgbClr val="9A9AA3"/>
            </a:solidFill>
            <a:prstDash val="solid"/>
          </a:ln>
        </p:spPr>
      </p:sp>
      <p:sp>
        <p:nvSpPr>
          <p:cNvPr id="12" name="Shape 10"/>
          <p:cNvSpPr/>
          <p:nvPr/>
        </p:nvSpPr>
        <p:spPr>
          <a:xfrm>
            <a:off x="1760220" y="1691640"/>
            <a:ext cx="146304" cy="146304"/>
          </a:xfrm>
          <a:prstGeom prst="ellipse">
            <a:avLst/>
          </a:prstGeom>
          <a:solidFill>
            <a:srgbClr val="9A9AA3"/>
          </a:solidFill>
          <a:ln w="9525">
            <a:solidFill>
              <a:srgbClr val="9A9AA3"/>
            </a:solidFill>
            <a:prstDash val="solid"/>
          </a:ln>
        </p:spPr>
      </p:sp>
      <p:sp>
        <p:nvSpPr>
          <p:cNvPr id="13" name="Shape 11"/>
          <p:cNvSpPr/>
          <p:nvPr/>
        </p:nvSpPr>
        <p:spPr>
          <a:xfrm>
            <a:off x="1956816" y="1691640"/>
            <a:ext cx="146304" cy="146304"/>
          </a:xfrm>
          <a:prstGeom prst="ellipse">
            <a:avLst/>
          </a:prstGeom>
          <a:solidFill>
            <a:srgbClr val="9A9AA3"/>
          </a:solidFill>
          <a:ln w="9525">
            <a:solidFill>
              <a:srgbClr val="9A9AA3"/>
            </a:solidFill>
            <a:prstDash val="solid"/>
          </a:ln>
        </p:spPr>
      </p:sp>
      <p:sp>
        <p:nvSpPr>
          <p:cNvPr id="14" name="Shape 12"/>
          <p:cNvSpPr/>
          <p:nvPr/>
        </p:nvSpPr>
        <p:spPr>
          <a:xfrm>
            <a:off x="2153412" y="1691640"/>
            <a:ext cx="146304" cy="146304"/>
          </a:xfrm>
          <a:prstGeom prst="ellipse">
            <a:avLst/>
          </a:prstGeom>
          <a:solidFill>
            <a:srgbClr val="9A9AA3"/>
          </a:solidFill>
          <a:ln w="9525">
            <a:solidFill>
              <a:srgbClr val="9A9AA3"/>
            </a:solidFill>
            <a:prstDash val="solid"/>
          </a:ln>
        </p:spPr>
      </p:sp>
      <p:sp>
        <p:nvSpPr>
          <p:cNvPr id="15" name="Shape 13"/>
          <p:cNvSpPr/>
          <p:nvPr/>
        </p:nvSpPr>
        <p:spPr>
          <a:xfrm>
            <a:off x="2350008" y="1691640"/>
            <a:ext cx="146304" cy="146304"/>
          </a:xfrm>
          <a:prstGeom prst="ellipse">
            <a:avLst/>
          </a:prstGeom>
          <a:solidFill>
            <a:srgbClr val="9A9AA3"/>
          </a:solidFill>
          <a:ln w="9525">
            <a:solidFill>
              <a:srgbClr val="9A9AA3"/>
            </a:solidFill>
            <a:prstDash val="solid"/>
          </a:ln>
        </p:spPr>
      </p:sp>
      <p:sp>
        <p:nvSpPr>
          <p:cNvPr id="16" name="Shape 14"/>
          <p:cNvSpPr/>
          <p:nvPr/>
        </p:nvSpPr>
        <p:spPr>
          <a:xfrm>
            <a:off x="2546604" y="1691640"/>
            <a:ext cx="146304" cy="146304"/>
          </a:xfrm>
          <a:prstGeom prst="ellipse">
            <a:avLst/>
          </a:prstGeom>
          <a:solidFill>
            <a:srgbClr val="9A9AA3"/>
          </a:solidFill>
          <a:ln w="9525">
            <a:solidFill>
              <a:srgbClr val="9A9AA3"/>
            </a:solidFill>
            <a:prstDash val="solid"/>
          </a:ln>
        </p:spPr>
      </p:sp>
      <p:sp>
        <p:nvSpPr>
          <p:cNvPr id="17" name="Shape 15"/>
          <p:cNvSpPr/>
          <p:nvPr/>
        </p:nvSpPr>
        <p:spPr>
          <a:xfrm>
            <a:off x="2743200" y="1691640"/>
            <a:ext cx="146304" cy="146304"/>
          </a:xfrm>
          <a:prstGeom prst="ellipse">
            <a:avLst/>
          </a:prstGeom>
          <a:solidFill>
            <a:srgbClr val="B8AB84"/>
          </a:solidFill>
          <a:ln w="9525">
            <a:solidFill>
              <a:srgbClr val="B8AB84"/>
            </a:solidFill>
            <a:prstDash val="solid"/>
          </a:ln>
        </p:spPr>
      </p:sp>
      <p:sp>
        <p:nvSpPr>
          <p:cNvPr id="18" name="Text 16"/>
          <p:cNvSpPr txBox="1"/>
          <p:nvPr/>
        </p:nvSpPr>
        <p:spPr>
          <a:xfrm>
            <a:off x="777240" y="2011680"/>
            <a:ext cx="2194560" cy="640080"/>
          </a:xfrm>
          <a:prstGeom prst="rect">
            <a:avLst/>
          </a:prstGeom>
          <a:noFill/>
          <a:ln/>
        </p:spPr>
        <p:txBody>
          <a:bodyPr wrap="square" lIns="0" tIns="0" rIns="0" bIns="0" rtlCol="0" anchor="ctr"/>
          <a:lstStyle/>
          <a:p>
            <a:pPr indent="0" marL="0">
              <a:buNone/>
            </a:pPr>
            <a:r>
              <a:rPr lang="en-US" sz="3400" b="1" dirty="0">
                <a:solidFill>
                  <a:srgbClr val="8F8260"/>
                </a:solidFill>
                <a:latin typeface="Cambria" pitchFamily="34" charset="0"/>
                <a:ea typeface="Cambria" pitchFamily="34" charset="-122"/>
                <a:cs typeface="Cambria" pitchFamily="34" charset="-120"/>
              </a:rPr>
              <a:t>86.4 %</a:t>
            </a:r>
            <a:endParaRPr lang="en-US" sz="3400" dirty="0"/>
          </a:p>
        </p:txBody>
      </p:sp>
      <p:sp>
        <p:nvSpPr>
          <p:cNvPr id="19" name="Text 17"/>
          <p:cNvSpPr txBox="1"/>
          <p:nvPr/>
        </p:nvSpPr>
        <p:spPr>
          <a:xfrm>
            <a:off x="777240" y="2697480"/>
            <a:ext cx="219456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Честный фильтр</a:t>
            </a:r>
            <a:endParaRPr lang="en-US" sz="1250" dirty="0"/>
          </a:p>
        </p:txBody>
      </p:sp>
      <p:sp>
        <p:nvSpPr>
          <p:cNvPr id="20" name="Text 18"/>
          <p:cNvSpPr txBox="1"/>
          <p:nvPr/>
        </p:nvSpPr>
        <p:spPr>
          <a:xfrm>
            <a:off x="777240" y="2999232"/>
            <a:ext cx="2148840" cy="640080"/>
          </a:xfrm>
          <a:prstGeom prst="rect">
            <a:avLst/>
          </a:prstGeom>
          <a:noFill/>
          <a:ln/>
        </p:spPr>
        <p:txBody>
          <a:bodyPr wrap="square" lIns="0" tIns="0" rIns="0" bIns="0" rtlCol="0" anchor="t"/>
          <a:lstStyle/>
          <a:p>
            <a:pPr indent="0" marL="0">
              <a:buNone/>
            </a:pPr>
            <a:r>
              <a:rPr lang="en-US" sz="1000" dirty="0">
                <a:solidFill>
                  <a:srgbClr val="6E6E78"/>
                </a:solidFill>
                <a:latin typeface="Calibri" pitchFamily="34" charset="0"/>
                <a:ea typeface="Calibri" pitchFamily="34" charset="-122"/>
                <a:cs typeface="Calibri" pitchFamily="34" charset="-120"/>
              </a:rPr>
              <a:t>Нашел 5 спамных из 10, дал 10 ложных тревог.</a:t>
            </a:r>
            <a:endParaRPr lang="en-US" sz="1000" dirty="0"/>
          </a:p>
        </p:txBody>
      </p:sp>
      <p:sp>
        <p:nvSpPr>
          <p:cNvPr id="21" name="Shape 19"/>
          <p:cNvSpPr/>
          <p:nvPr/>
        </p:nvSpPr>
        <p:spPr>
          <a:xfrm>
            <a:off x="3291840" y="1463040"/>
            <a:ext cx="2560320" cy="2240280"/>
          </a:xfrm>
          <a:prstGeom prst="roundRect">
            <a:avLst>
              <a:gd name="adj" fmla="val 3265"/>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3520440" y="1691640"/>
            <a:ext cx="146304" cy="146304"/>
          </a:xfrm>
          <a:prstGeom prst="ellipse">
            <a:avLst/>
          </a:prstGeom>
          <a:solidFill>
            <a:srgbClr val="9A9AA3"/>
          </a:solidFill>
          <a:ln w="9525">
            <a:solidFill>
              <a:srgbClr val="9A9AA3"/>
            </a:solidFill>
            <a:prstDash val="solid"/>
          </a:ln>
        </p:spPr>
      </p:sp>
      <p:sp>
        <p:nvSpPr>
          <p:cNvPr id="23" name="Shape 21"/>
          <p:cNvSpPr/>
          <p:nvPr/>
        </p:nvSpPr>
        <p:spPr>
          <a:xfrm>
            <a:off x="3717036" y="1691640"/>
            <a:ext cx="146304" cy="146304"/>
          </a:xfrm>
          <a:prstGeom prst="ellipse">
            <a:avLst/>
          </a:prstGeom>
          <a:solidFill>
            <a:srgbClr val="9A9AA3"/>
          </a:solidFill>
          <a:ln w="9525">
            <a:solidFill>
              <a:srgbClr val="9A9AA3"/>
            </a:solidFill>
            <a:prstDash val="solid"/>
          </a:ln>
        </p:spPr>
      </p:sp>
      <p:sp>
        <p:nvSpPr>
          <p:cNvPr id="24" name="Shape 22"/>
          <p:cNvSpPr/>
          <p:nvPr/>
        </p:nvSpPr>
        <p:spPr>
          <a:xfrm>
            <a:off x="3913632" y="1691640"/>
            <a:ext cx="146304" cy="146304"/>
          </a:xfrm>
          <a:prstGeom prst="ellipse">
            <a:avLst/>
          </a:prstGeom>
          <a:solidFill>
            <a:srgbClr val="9A9AA3"/>
          </a:solidFill>
          <a:ln w="9525">
            <a:solidFill>
              <a:srgbClr val="9A9AA3"/>
            </a:solidFill>
            <a:prstDash val="solid"/>
          </a:ln>
        </p:spPr>
      </p:sp>
      <p:sp>
        <p:nvSpPr>
          <p:cNvPr id="25" name="Shape 23"/>
          <p:cNvSpPr/>
          <p:nvPr/>
        </p:nvSpPr>
        <p:spPr>
          <a:xfrm>
            <a:off x="4110228" y="1691640"/>
            <a:ext cx="146304" cy="146304"/>
          </a:xfrm>
          <a:prstGeom prst="ellipse">
            <a:avLst/>
          </a:prstGeom>
          <a:solidFill>
            <a:srgbClr val="9A9AA3"/>
          </a:solidFill>
          <a:ln w="9525">
            <a:solidFill>
              <a:srgbClr val="9A9AA3"/>
            </a:solidFill>
            <a:prstDash val="solid"/>
          </a:ln>
        </p:spPr>
      </p:sp>
      <p:sp>
        <p:nvSpPr>
          <p:cNvPr id="26" name="Shape 24"/>
          <p:cNvSpPr/>
          <p:nvPr/>
        </p:nvSpPr>
        <p:spPr>
          <a:xfrm>
            <a:off x="4306824" y="1691640"/>
            <a:ext cx="146304" cy="146304"/>
          </a:xfrm>
          <a:prstGeom prst="ellipse">
            <a:avLst/>
          </a:prstGeom>
          <a:solidFill>
            <a:srgbClr val="9A9AA3"/>
          </a:solidFill>
          <a:ln w="9525">
            <a:solidFill>
              <a:srgbClr val="9A9AA3"/>
            </a:solidFill>
            <a:prstDash val="solid"/>
          </a:ln>
        </p:spPr>
      </p:sp>
      <p:sp>
        <p:nvSpPr>
          <p:cNvPr id="27" name="Shape 25"/>
          <p:cNvSpPr/>
          <p:nvPr/>
        </p:nvSpPr>
        <p:spPr>
          <a:xfrm>
            <a:off x="4503420" y="1691640"/>
            <a:ext cx="146304" cy="146304"/>
          </a:xfrm>
          <a:prstGeom prst="ellipse">
            <a:avLst/>
          </a:prstGeom>
          <a:solidFill>
            <a:srgbClr val="9A9AA3"/>
          </a:solidFill>
          <a:ln w="9525">
            <a:solidFill>
              <a:srgbClr val="9A9AA3"/>
            </a:solidFill>
            <a:prstDash val="solid"/>
          </a:ln>
        </p:spPr>
      </p:sp>
      <p:sp>
        <p:nvSpPr>
          <p:cNvPr id="28" name="Shape 26"/>
          <p:cNvSpPr/>
          <p:nvPr/>
        </p:nvSpPr>
        <p:spPr>
          <a:xfrm>
            <a:off x="4700016" y="1691640"/>
            <a:ext cx="146304" cy="146304"/>
          </a:xfrm>
          <a:prstGeom prst="ellipse">
            <a:avLst/>
          </a:prstGeom>
          <a:solidFill>
            <a:srgbClr val="9A9AA3"/>
          </a:solidFill>
          <a:ln w="9525">
            <a:solidFill>
              <a:srgbClr val="9A9AA3"/>
            </a:solidFill>
            <a:prstDash val="solid"/>
          </a:ln>
        </p:spPr>
      </p:sp>
      <p:sp>
        <p:nvSpPr>
          <p:cNvPr id="29" name="Shape 27"/>
          <p:cNvSpPr/>
          <p:nvPr/>
        </p:nvSpPr>
        <p:spPr>
          <a:xfrm>
            <a:off x="4896612" y="1691640"/>
            <a:ext cx="146304" cy="146304"/>
          </a:xfrm>
          <a:prstGeom prst="ellipse">
            <a:avLst/>
          </a:prstGeom>
          <a:solidFill>
            <a:srgbClr val="9A9AA3"/>
          </a:solidFill>
          <a:ln w="9525">
            <a:solidFill>
              <a:srgbClr val="9A9AA3"/>
            </a:solidFill>
            <a:prstDash val="solid"/>
          </a:ln>
        </p:spPr>
      </p:sp>
      <p:sp>
        <p:nvSpPr>
          <p:cNvPr id="30" name="Shape 28"/>
          <p:cNvSpPr/>
          <p:nvPr/>
        </p:nvSpPr>
        <p:spPr>
          <a:xfrm>
            <a:off x="5093208" y="1691640"/>
            <a:ext cx="146304" cy="146304"/>
          </a:xfrm>
          <a:prstGeom prst="ellipse">
            <a:avLst/>
          </a:prstGeom>
          <a:solidFill>
            <a:srgbClr val="9A9AA3"/>
          </a:solidFill>
          <a:ln w="9525">
            <a:solidFill>
              <a:srgbClr val="9A9AA3"/>
            </a:solidFill>
            <a:prstDash val="solid"/>
          </a:ln>
        </p:spPr>
      </p:sp>
      <p:sp>
        <p:nvSpPr>
          <p:cNvPr id="31" name="Shape 29"/>
          <p:cNvSpPr/>
          <p:nvPr/>
        </p:nvSpPr>
        <p:spPr>
          <a:xfrm>
            <a:off x="5289804" y="1691640"/>
            <a:ext cx="146304" cy="146304"/>
          </a:xfrm>
          <a:prstGeom prst="ellipse">
            <a:avLst/>
          </a:prstGeom>
          <a:solidFill>
            <a:srgbClr val="9A9AA3"/>
          </a:solidFill>
          <a:ln w="9525">
            <a:solidFill>
              <a:srgbClr val="9A9AA3"/>
            </a:solidFill>
            <a:prstDash val="solid"/>
          </a:ln>
        </p:spPr>
      </p:sp>
      <p:sp>
        <p:nvSpPr>
          <p:cNvPr id="32" name="Shape 30"/>
          <p:cNvSpPr/>
          <p:nvPr/>
        </p:nvSpPr>
        <p:spPr>
          <a:xfrm>
            <a:off x="5486400" y="1691640"/>
            <a:ext cx="146304" cy="146304"/>
          </a:xfrm>
          <a:prstGeom prst="ellipse">
            <a:avLst/>
          </a:prstGeom>
          <a:solidFill>
            <a:srgbClr val="B8AB84"/>
          </a:solidFill>
          <a:ln w="9525">
            <a:solidFill>
              <a:srgbClr val="B8AB84"/>
            </a:solidFill>
            <a:prstDash val="solid"/>
          </a:ln>
        </p:spPr>
      </p:sp>
      <p:sp>
        <p:nvSpPr>
          <p:cNvPr id="33" name="Text 31"/>
          <p:cNvSpPr txBox="1"/>
          <p:nvPr/>
        </p:nvSpPr>
        <p:spPr>
          <a:xfrm>
            <a:off x="3520440" y="2011680"/>
            <a:ext cx="2194560" cy="640080"/>
          </a:xfrm>
          <a:prstGeom prst="rect">
            <a:avLst/>
          </a:prstGeom>
          <a:noFill/>
          <a:ln/>
        </p:spPr>
        <p:txBody>
          <a:bodyPr wrap="square" lIns="0" tIns="0" rIns="0" bIns="0" rtlCol="0" anchor="ctr"/>
          <a:lstStyle/>
          <a:p>
            <a:pPr indent="0" marL="0">
              <a:buNone/>
            </a:pPr>
            <a:r>
              <a:rPr lang="en-US" sz="3400" b="1" dirty="0">
                <a:solidFill>
                  <a:srgbClr val="8F8260"/>
                </a:solidFill>
                <a:latin typeface="Cambria" pitchFamily="34" charset="0"/>
                <a:ea typeface="Cambria" pitchFamily="34" charset="-122"/>
                <a:cs typeface="Cambria" pitchFamily="34" charset="-120"/>
              </a:rPr>
              <a:t>90.9 %</a:t>
            </a:r>
            <a:endParaRPr lang="en-US" sz="3400" dirty="0"/>
          </a:p>
        </p:txBody>
      </p:sp>
      <p:sp>
        <p:nvSpPr>
          <p:cNvPr id="34" name="Text 32"/>
          <p:cNvSpPr txBox="1"/>
          <p:nvPr/>
        </p:nvSpPr>
        <p:spPr>
          <a:xfrm>
            <a:off x="3520440" y="2697480"/>
            <a:ext cx="219456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Ленивый фильтр</a:t>
            </a:r>
            <a:endParaRPr lang="en-US" sz="1250" dirty="0"/>
          </a:p>
        </p:txBody>
      </p:sp>
      <p:sp>
        <p:nvSpPr>
          <p:cNvPr id="35" name="Text 33"/>
          <p:cNvSpPr txBox="1"/>
          <p:nvPr/>
        </p:nvSpPr>
        <p:spPr>
          <a:xfrm>
            <a:off x="3520440" y="2999232"/>
            <a:ext cx="2148840" cy="640080"/>
          </a:xfrm>
          <a:prstGeom prst="rect">
            <a:avLst/>
          </a:prstGeom>
          <a:noFill/>
          <a:ln/>
        </p:spPr>
        <p:txBody>
          <a:bodyPr wrap="square" lIns="0" tIns="0" rIns="0" bIns="0" rtlCol="0" anchor="t"/>
          <a:lstStyle/>
          <a:p>
            <a:pPr indent="0" marL="0">
              <a:buNone/>
            </a:pPr>
            <a:r>
              <a:rPr lang="en-US" sz="1000" dirty="0">
                <a:solidFill>
                  <a:srgbClr val="6E6E78"/>
                </a:solidFill>
                <a:latin typeface="Calibri" pitchFamily="34" charset="0"/>
                <a:ea typeface="Calibri" pitchFamily="34" charset="-122"/>
                <a:cs typeface="Calibri" pitchFamily="34" charset="-120"/>
              </a:rPr>
              <a:t>Всегда отвечает «не спам». Не нашел ни одного.</a:t>
            </a:r>
            <a:endParaRPr lang="en-US" sz="1000" dirty="0"/>
          </a:p>
        </p:txBody>
      </p:sp>
      <p:sp>
        <p:nvSpPr>
          <p:cNvPr id="36" name="Shape 34"/>
          <p:cNvSpPr/>
          <p:nvPr/>
        </p:nvSpPr>
        <p:spPr>
          <a:xfrm>
            <a:off x="6035040" y="1463040"/>
            <a:ext cx="2560320" cy="2240280"/>
          </a:xfrm>
          <a:prstGeom prst="roundRect">
            <a:avLst>
              <a:gd name="adj" fmla="val 3265"/>
            </a:avLst>
          </a:prstGeom>
          <a:solidFill>
            <a:srgbClr val="F2F1ED"/>
          </a:solidFill>
          <a:ln w="9525">
            <a:solidFill>
              <a:srgbClr val="F2F1ED"/>
            </a:solidFill>
            <a:prstDash val="solid"/>
          </a:ln>
        </p:spPr>
      </p:sp>
      <p:sp>
        <p:nvSpPr>
          <p:cNvPr id="37" name="Shape 35"/>
          <p:cNvSpPr/>
          <p:nvPr/>
        </p:nvSpPr>
        <p:spPr>
          <a:xfrm>
            <a:off x="6263640" y="1691640"/>
            <a:ext cx="146304" cy="146304"/>
          </a:xfrm>
          <a:prstGeom prst="ellipse">
            <a:avLst/>
          </a:prstGeom>
          <a:solidFill>
            <a:srgbClr val="9A9AA3"/>
          </a:solidFill>
          <a:ln w="9525">
            <a:solidFill>
              <a:srgbClr val="9A9AA3"/>
            </a:solidFill>
            <a:prstDash val="solid"/>
          </a:ln>
        </p:spPr>
      </p:sp>
      <p:sp>
        <p:nvSpPr>
          <p:cNvPr id="38" name="Shape 36"/>
          <p:cNvSpPr/>
          <p:nvPr/>
        </p:nvSpPr>
        <p:spPr>
          <a:xfrm>
            <a:off x="6460236" y="1691640"/>
            <a:ext cx="146304" cy="146304"/>
          </a:xfrm>
          <a:prstGeom prst="ellipse">
            <a:avLst/>
          </a:prstGeom>
          <a:solidFill>
            <a:srgbClr val="9A9AA3"/>
          </a:solidFill>
          <a:ln w="9525">
            <a:solidFill>
              <a:srgbClr val="9A9AA3"/>
            </a:solidFill>
            <a:prstDash val="solid"/>
          </a:ln>
        </p:spPr>
      </p:sp>
      <p:sp>
        <p:nvSpPr>
          <p:cNvPr id="39" name="Shape 37"/>
          <p:cNvSpPr/>
          <p:nvPr/>
        </p:nvSpPr>
        <p:spPr>
          <a:xfrm>
            <a:off x="6656832" y="1691640"/>
            <a:ext cx="146304" cy="146304"/>
          </a:xfrm>
          <a:prstGeom prst="ellipse">
            <a:avLst/>
          </a:prstGeom>
          <a:solidFill>
            <a:srgbClr val="9A9AA3"/>
          </a:solidFill>
          <a:ln w="9525">
            <a:solidFill>
              <a:srgbClr val="9A9AA3"/>
            </a:solidFill>
            <a:prstDash val="solid"/>
          </a:ln>
        </p:spPr>
      </p:sp>
      <p:sp>
        <p:nvSpPr>
          <p:cNvPr id="40" name="Shape 38"/>
          <p:cNvSpPr/>
          <p:nvPr/>
        </p:nvSpPr>
        <p:spPr>
          <a:xfrm>
            <a:off x="6853428" y="1691640"/>
            <a:ext cx="146304" cy="146304"/>
          </a:xfrm>
          <a:prstGeom prst="ellipse">
            <a:avLst/>
          </a:prstGeom>
          <a:solidFill>
            <a:srgbClr val="9A9AA3"/>
          </a:solidFill>
          <a:ln w="9525">
            <a:solidFill>
              <a:srgbClr val="9A9AA3"/>
            </a:solidFill>
            <a:prstDash val="solid"/>
          </a:ln>
        </p:spPr>
      </p:sp>
      <p:sp>
        <p:nvSpPr>
          <p:cNvPr id="41" name="Shape 39"/>
          <p:cNvSpPr/>
          <p:nvPr/>
        </p:nvSpPr>
        <p:spPr>
          <a:xfrm>
            <a:off x="7050024" y="1691640"/>
            <a:ext cx="146304" cy="146304"/>
          </a:xfrm>
          <a:prstGeom prst="ellipse">
            <a:avLst/>
          </a:prstGeom>
          <a:solidFill>
            <a:srgbClr val="9A9AA3"/>
          </a:solidFill>
          <a:ln w="9525">
            <a:solidFill>
              <a:srgbClr val="9A9AA3"/>
            </a:solidFill>
            <a:prstDash val="solid"/>
          </a:ln>
        </p:spPr>
      </p:sp>
      <p:sp>
        <p:nvSpPr>
          <p:cNvPr id="42" name="Shape 40"/>
          <p:cNvSpPr/>
          <p:nvPr/>
        </p:nvSpPr>
        <p:spPr>
          <a:xfrm>
            <a:off x="7246620" y="1691640"/>
            <a:ext cx="146304" cy="146304"/>
          </a:xfrm>
          <a:prstGeom prst="ellipse">
            <a:avLst/>
          </a:prstGeom>
          <a:solidFill>
            <a:srgbClr val="9A9AA3"/>
          </a:solidFill>
          <a:ln w="9525">
            <a:solidFill>
              <a:srgbClr val="9A9AA3"/>
            </a:solidFill>
            <a:prstDash val="solid"/>
          </a:ln>
        </p:spPr>
      </p:sp>
      <p:sp>
        <p:nvSpPr>
          <p:cNvPr id="43" name="Shape 41"/>
          <p:cNvSpPr/>
          <p:nvPr/>
        </p:nvSpPr>
        <p:spPr>
          <a:xfrm>
            <a:off x="7443216" y="1691640"/>
            <a:ext cx="146304" cy="146304"/>
          </a:xfrm>
          <a:prstGeom prst="ellipse">
            <a:avLst/>
          </a:prstGeom>
          <a:solidFill>
            <a:srgbClr val="9A9AA3"/>
          </a:solidFill>
          <a:ln w="9525">
            <a:solidFill>
              <a:srgbClr val="9A9AA3"/>
            </a:solidFill>
            <a:prstDash val="solid"/>
          </a:ln>
        </p:spPr>
      </p:sp>
      <p:sp>
        <p:nvSpPr>
          <p:cNvPr id="44" name="Shape 42"/>
          <p:cNvSpPr/>
          <p:nvPr/>
        </p:nvSpPr>
        <p:spPr>
          <a:xfrm>
            <a:off x="7639812" y="1691640"/>
            <a:ext cx="146304" cy="146304"/>
          </a:xfrm>
          <a:prstGeom prst="ellipse">
            <a:avLst/>
          </a:prstGeom>
          <a:solidFill>
            <a:srgbClr val="9A9AA3"/>
          </a:solidFill>
          <a:ln w="9525">
            <a:solidFill>
              <a:srgbClr val="9A9AA3"/>
            </a:solidFill>
            <a:prstDash val="solid"/>
          </a:ln>
        </p:spPr>
      </p:sp>
      <p:sp>
        <p:nvSpPr>
          <p:cNvPr id="45" name="Shape 43"/>
          <p:cNvSpPr/>
          <p:nvPr/>
        </p:nvSpPr>
        <p:spPr>
          <a:xfrm>
            <a:off x="7836408" y="1691640"/>
            <a:ext cx="146304" cy="146304"/>
          </a:xfrm>
          <a:prstGeom prst="ellipse">
            <a:avLst/>
          </a:prstGeom>
          <a:solidFill>
            <a:srgbClr val="9A9AA3"/>
          </a:solidFill>
          <a:ln w="9525">
            <a:solidFill>
              <a:srgbClr val="9A9AA3"/>
            </a:solidFill>
            <a:prstDash val="solid"/>
          </a:ln>
        </p:spPr>
      </p:sp>
      <p:sp>
        <p:nvSpPr>
          <p:cNvPr id="46" name="Shape 44"/>
          <p:cNvSpPr/>
          <p:nvPr/>
        </p:nvSpPr>
        <p:spPr>
          <a:xfrm>
            <a:off x="8033004" y="1691640"/>
            <a:ext cx="146304" cy="146304"/>
          </a:xfrm>
          <a:prstGeom prst="ellipse">
            <a:avLst/>
          </a:prstGeom>
          <a:solidFill>
            <a:srgbClr val="9A9AA3"/>
          </a:solidFill>
          <a:ln w="9525">
            <a:solidFill>
              <a:srgbClr val="9A9AA3"/>
            </a:solidFill>
            <a:prstDash val="solid"/>
          </a:ln>
        </p:spPr>
      </p:sp>
      <p:sp>
        <p:nvSpPr>
          <p:cNvPr id="47" name="Shape 45"/>
          <p:cNvSpPr/>
          <p:nvPr/>
        </p:nvSpPr>
        <p:spPr>
          <a:xfrm>
            <a:off x="8229600" y="1691640"/>
            <a:ext cx="146304" cy="146304"/>
          </a:xfrm>
          <a:prstGeom prst="ellipse">
            <a:avLst/>
          </a:prstGeom>
          <a:solidFill>
            <a:srgbClr val="B8AB84"/>
          </a:solidFill>
          <a:ln w="9525">
            <a:solidFill>
              <a:srgbClr val="B8AB84"/>
            </a:solidFill>
            <a:prstDash val="solid"/>
          </a:ln>
        </p:spPr>
      </p:sp>
      <p:sp>
        <p:nvSpPr>
          <p:cNvPr id="48" name="Text 46"/>
          <p:cNvSpPr txBox="1"/>
          <p:nvPr/>
        </p:nvSpPr>
        <p:spPr>
          <a:xfrm>
            <a:off x="6263640" y="2011680"/>
            <a:ext cx="2194560" cy="640080"/>
          </a:xfrm>
          <a:prstGeom prst="rect">
            <a:avLst/>
          </a:prstGeom>
          <a:noFill/>
          <a:ln/>
        </p:spPr>
        <p:txBody>
          <a:bodyPr wrap="square" lIns="0" tIns="0" rIns="0" bIns="0" rtlCol="0" anchor="ctr"/>
          <a:lstStyle/>
          <a:p>
            <a:pPr indent="0" marL="0">
              <a:buNone/>
            </a:pPr>
            <a:r>
              <a:rPr lang="en-US" sz="3400" b="1" dirty="0">
                <a:solidFill>
                  <a:srgbClr val="8F8260"/>
                </a:solidFill>
                <a:latin typeface="Cambria" pitchFamily="34" charset="0"/>
                <a:ea typeface="Cambria" pitchFamily="34" charset="-122"/>
                <a:cs typeface="Cambria" pitchFamily="34" charset="-120"/>
              </a:rPr>
              <a:t>100 : 10</a:t>
            </a:r>
            <a:endParaRPr lang="en-US" sz="3400" dirty="0"/>
          </a:p>
        </p:txBody>
      </p:sp>
      <p:sp>
        <p:nvSpPr>
          <p:cNvPr id="49" name="Text 47"/>
          <p:cNvSpPr txBox="1"/>
          <p:nvPr/>
        </p:nvSpPr>
        <p:spPr>
          <a:xfrm>
            <a:off x="6263640" y="2697480"/>
            <a:ext cx="219456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Почему так</a:t>
            </a:r>
            <a:endParaRPr lang="en-US" sz="1250" dirty="0"/>
          </a:p>
        </p:txBody>
      </p:sp>
      <p:sp>
        <p:nvSpPr>
          <p:cNvPr id="50" name="Text 48"/>
          <p:cNvSpPr txBox="1"/>
          <p:nvPr/>
        </p:nvSpPr>
        <p:spPr>
          <a:xfrm>
            <a:off x="6263640" y="2999232"/>
            <a:ext cx="2148840" cy="640080"/>
          </a:xfrm>
          <a:prstGeom prst="rect">
            <a:avLst/>
          </a:prstGeom>
          <a:noFill/>
          <a:ln/>
        </p:spPr>
        <p:txBody>
          <a:bodyPr wrap="square" lIns="0" tIns="0" rIns="0" bIns="0" rtlCol="0" anchor="t"/>
          <a:lstStyle/>
          <a:p>
            <a:pPr indent="0" marL="0">
              <a:buNone/>
            </a:pPr>
            <a:r>
              <a:rPr lang="en-US" sz="1000" dirty="0">
                <a:solidFill>
                  <a:srgbClr val="6E6E78"/>
                </a:solidFill>
                <a:latin typeface="Calibri" pitchFamily="34" charset="0"/>
                <a:ea typeface="Calibri" pitchFamily="34" charset="-122"/>
                <a:cs typeface="Calibri" pitchFamily="34" charset="-120"/>
              </a:rPr>
              <a:t>Обычных писем в 10 раз больше. Ответ «не спам» почти всегда верен.</a:t>
            </a:r>
            <a:endParaRPr lang="en-US" sz="1000" dirty="0"/>
          </a:p>
        </p:txBody>
      </p:sp>
      <p:sp>
        <p:nvSpPr>
          <p:cNvPr id="51" name="Text 49"/>
          <p:cNvSpPr txBox="1"/>
          <p:nvPr/>
        </p:nvSpPr>
        <p:spPr>
          <a:xfrm>
            <a:off x="548640" y="3730752"/>
            <a:ext cx="8046720" cy="182880"/>
          </a:xfrm>
          <a:prstGeom prst="rect">
            <a:avLst/>
          </a:prstGeom>
          <a:noFill/>
          <a:ln/>
        </p:spPr>
        <p:txBody>
          <a:bodyPr wrap="square" lIns="0" tIns="0" rIns="0" bIns="0" rtlCol="0" anchor="t"/>
          <a:lstStyle/>
          <a:p>
            <a:pPr indent="0" marL="0">
              <a:buNone/>
            </a:pPr>
            <a:r>
              <a:rPr lang="en-US" sz="850" i="1" dirty="0">
                <a:solidFill>
                  <a:srgbClr val="9A9AA3"/>
                </a:solidFill>
                <a:latin typeface="Calibri" pitchFamily="34" charset="0"/>
                <a:ea typeface="Calibri" pitchFamily="34" charset="-122"/>
                <a:cs typeface="Calibri" pitchFamily="34" charset="-120"/>
              </a:rPr>
              <a:t>одна точка – 10 писем: серые – обычные, золотая – спам</a:t>
            </a:r>
            <a:endParaRPr lang="en-US" sz="850" dirty="0"/>
          </a:p>
        </p:txBody>
      </p:sp>
      <p:sp>
        <p:nvSpPr>
          <p:cNvPr id="52" name="Shape 50"/>
          <p:cNvSpPr/>
          <p:nvPr/>
        </p:nvSpPr>
        <p:spPr>
          <a:xfrm>
            <a:off x="548640" y="3977640"/>
            <a:ext cx="8046720" cy="658368"/>
          </a:xfrm>
          <a:prstGeom prst="roundRect">
            <a:avLst>
              <a:gd name="adj" fmla="val 11111"/>
            </a:avLst>
          </a:prstGeom>
          <a:solidFill>
            <a:srgbClr val="1C1C22"/>
          </a:solidFill>
          <a:ln w="12700">
            <a:solidFill>
              <a:srgbClr val="1C1C22"/>
            </a:solidFill>
            <a:prstDash val="solid"/>
          </a:ln>
        </p:spPr>
      </p:sp>
      <p:sp>
        <p:nvSpPr>
          <p:cNvPr id="53" name="Text 51"/>
          <p:cNvSpPr txBox="1"/>
          <p:nvPr/>
        </p:nvSpPr>
        <p:spPr>
          <a:xfrm>
            <a:off x="822960" y="3977640"/>
            <a:ext cx="7589520" cy="658368"/>
          </a:xfrm>
          <a:prstGeom prst="rect">
            <a:avLst/>
          </a:prstGeom>
          <a:noFill/>
          <a:ln/>
        </p:spPr>
        <p:txBody>
          <a:bodyPr wrap="square" lIns="0" tIns="0" rIns="0" bIns="0" rtlCol="0" anchor="ctr"/>
          <a:lstStyle/>
          <a:p>
            <a:pPr indent="0" marL="0">
              <a:buNone/>
            </a:pPr>
            <a:r>
              <a:rPr lang="en-US" sz="1200" b="1" dirty="0">
                <a:solidFill>
                  <a:srgbClr val="B8AB84"/>
                </a:solidFill>
                <a:latin typeface="Calibri" pitchFamily="34" charset="0"/>
                <a:ea typeface="Calibri" pitchFamily="34" charset="-122"/>
                <a:cs typeface="Calibri" pitchFamily="34" charset="-120"/>
              </a:rPr>
              <a:t>Вывод: </a:t>
            </a:r>
            <a:pPr indent="0" marL="0">
              <a:buNone/>
            </a:pPr>
            <a:r>
              <a:rPr lang="en-US" sz="1200" dirty="0">
                <a:solidFill>
                  <a:srgbClr val="FFFFFF"/>
                </a:solidFill>
                <a:latin typeface="Calibri" pitchFamily="34" charset="0"/>
                <a:ea typeface="Calibri" pitchFamily="34" charset="-122"/>
                <a:cs typeface="Calibri" pitchFamily="34" charset="-120"/>
              </a:rPr>
              <a:t>при неравных классах accuracy обманывает. Нужны метрики, которые смотрят на каждый класс отдельно.</a:t>
            </a:r>
            <a:endParaRPr lang="en-US" sz="1200" dirty="0"/>
          </a:p>
        </p:txBody>
      </p:sp>
      <p:sp>
        <p:nvSpPr>
          <p:cNvPr id="54" name="Text 5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55" name="Text 5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img/sec_pr.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6400" b="1" dirty="0">
                <a:solidFill>
                  <a:srgbClr val="B8AB84"/>
                </a:solidFill>
                <a:latin typeface="Cambria" pitchFamily="34" charset="0"/>
                <a:ea typeface="Cambria" pitchFamily="34" charset="-122"/>
                <a:cs typeface="Cambria" pitchFamily="34" charset="-120"/>
              </a:rPr>
              <a:t>02</a:t>
            </a:r>
            <a:endParaRPr lang="en-US" sz="6400" dirty="0"/>
          </a:p>
        </p:txBody>
      </p:sp>
      <p:sp>
        <p:nvSpPr>
          <p:cNvPr id="4" name="Text 1"/>
          <p:cNvSpPr txBox="1"/>
          <p:nvPr/>
        </p:nvSpPr>
        <p:spPr>
          <a:xfrm>
            <a:off x="548640" y="2121408"/>
            <a:ext cx="3657600" cy="1234440"/>
          </a:xfrm>
          <a:prstGeom prst="rect">
            <a:avLst/>
          </a:prstGeom>
          <a:noFill/>
          <a:ln/>
        </p:spPr>
        <p:txBody>
          <a:bodyPr wrap="square" lIns="0" tIns="0" rIns="0" bIns="0" rtlCol="0" anchor="ctr"/>
          <a:lstStyle/>
          <a:p>
            <a:pPr indent="0" marL="0">
              <a:buNone/>
            </a:pPr>
            <a:r>
              <a:rPr lang="en-US" sz="2500" b="1" dirty="0">
                <a:solidFill>
                  <a:srgbClr val="1C1C22"/>
                </a:solidFill>
                <a:latin typeface="Cambria" pitchFamily="34" charset="0"/>
                <a:ea typeface="Cambria" pitchFamily="34" charset="-122"/>
                <a:cs typeface="Cambria" pitchFamily="34" charset="-120"/>
              </a:rPr>
              <a:t>Precision, recall</a:t>
            </a:r>
            <a:endParaRPr lang="en-US" sz="2500" dirty="0"/>
          </a:p>
          <a:p>
            <a:pPr indent="0" marL="0">
              <a:buNone/>
            </a:pPr>
            <a:r>
              <a:rPr lang="en-US" sz="2500" b="1" dirty="0">
                <a:solidFill>
                  <a:srgbClr val="1C1C22"/>
                </a:solidFill>
                <a:latin typeface="Cambria" pitchFamily="34" charset="0"/>
                <a:ea typeface="Cambria" pitchFamily="34" charset="-122"/>
                <a:cs typeface="Cambria" pitchFamily="34" charset="-120"/>
              </a:rPr>
              <a:t>и F-мера</a:t>
            </a:r>
            <a:endParaRPr lang="en-US" sz="2500" dirty="0"/>
          </a:p>
        </p:txBody>
      </p:sp>
      <p:sp>
        <p:nvSpPr>
          <p:cNvPr id="5" name="Text 2"/>
          <p:cNvSpPr txBox="1"/>
          <p:nvPr/>
        </p:nvSpPr>
        <p:spPr>
          <a:xfrm>
            <a:off x="548640" y="3456432"/>
            <a:ext cx="3474720" cy="731520"/>
          </a:xfrm>
          <a:prstGeom prst="rect">
            <a:avLst/>
          </a:prstGeom>
          <a:noFill/>
          <a:ln/>
        </p:spPr>
        <p:txBody>
          <a:bodyPr wrap="square" lIns="0" tIns="0" rIns="0" bIns="0" rtlCol="0" anchor="t"/>
          <a:lstStyle/>
          <a:p>
            <a:pPr indent="0" marL="0">
              <a:buNone/>
            </a:pPr>
            <a:r>
              <a:rPr lang="en-US" sz="1200" dirty="0">
                <a:solidFill>
                  <a:srgbClr val="6E6E78"/>
                </a:solidFill>
                <a:latin typeface="Calibri" pitchFamily="34" charset="0"/>
                <a:ea typeface="Calibri" pitchFamily="34" charset="-122"/>
                <a:cs typeface="Calibri" pitchFamily="34" charset="-120"/>
              </a:rPr>
              <a:t>Какая ошибка дороже – и как свести две метрики в одно число</a:t>
            </a:r>
            <a:endParaRPr lang="en-US" sz="12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FFFFFF"/>
                </a:solidFill>
                <a:latin typeface="Cambria" pitchFamily="34" charset="0"/>
                <a:ea typeface="Cambria" pitchFamily="34" charset="-122"/>
                <a:cs typeface="Cambria"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ДВЕ ГЛАВНЫЕ МЕТРИКИ</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Precision и recall</a:t>
            </a:r>
            <a:endParaRPr lang="en-US" sz="2600" dirty="0"/>
          </a:p>
        </p:txBody>
      </p:sp>
      <p:sp>
        <p:nvSpPr>
          <p:cNvPr id="4" name="Shape 2"/>
          <p:cNvSpPr/>
          <p:nvPr/>
        </p:nvSpPr>
        <p:spPr>
          <a:xfrm>
            <a:off x="548640" y="1234440"/>
            <a:ext cx="3931920" cy="2514600"/>
          </a:xfrm>
          <a:prstGeom prst="roundRect">
            <a:avLst>
              <a:gd name="adj" fmla="val 2909"/>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417320"/>
            <a:ext cx="3474720" cy="201168"/>
          </a:xfrm>
          <a:prstGeom prst="rect">
            <a:avLst/>
          </a:prstGeom>
          <a:noFill/>
          <a:ln/>
        </p:spPr>
        <p:txBody>
          <a:bodyPr wrap="square" lIns="0" tIns="0" rIns="0" bIns="0" rtlCol="0" anchor="t"/>
          <a:lstStyle/>
          <a:p>
            <a:pPr indent="0" marL="0">
              <a:buNone/>
            </a:pPr>
            <a:r>
              <a:rPr lang="en-US" sz="900" b="1" spc="300" kern="0" dirty="0">
                <a:solidFill>
                  <a:srgbClr val="B8AB84"/>
                </a:solidFill>
                <a:latin typeface="Calibri" pitchFamily="34" charset="0"/>
                <a:ea typeface="Calibri" pitchFamily="34" charset="-122"/>
                <a:cs typeface="Calibri" pitchFamily="34" charset="-120"/>
              </a:rPr>
              <a:t>PRECISION · ТОЧНОСТЬ</a:t>
            </a:r>
            <a:endParaRPr lang="en-US" sz="900" dirty="0"/>
          </a:p>
        </p:txBody>
      </p:sp>
      <p:sp>
        <p:nvSpPr>
          <p:cNvPr id="6" name="Text 4"/>
          <p:cNvSpPr txBox="1"/>
          <p:nvPr/>
        </p:nvSpPr>
        <p:spPr>
          <a:xfrm>
            <a:off x="822960" y="1691640"/>
            <a:ext cx="3474720" cy="457200"/>
          </a:xfrm>
          <a:prstGeom prst="rect">
            <a:avLst/>
          </a:prstGeom>
          <a:noFill/>
          <a:ln/>
        </p:spPr>
        <p:txBody>
          <a:bodyPr wrap="square" lIns="0" tIns="0" rIns="0" bIns="0" rtlCol="0" anchor="t"/>
          <a:lstStyle/>
          <a:p>
            <a:pPr indent="0" marL="0">
              <a:buNone/>
            </a:pPr>
            <a:r>
              <a:rPr lang="en-US" sz="2400" b="1" dirty="0">
                <a:solidFill>
                  <a:srgbClr val="8F8260"/>
                </a:solidFill>
                <a:latin typeface="Cambria" pitchFamily="34" charset="0"/>
                <a:ea typeface="Cambria" pitchFamily="34" charset="-122"/>
                <a:cs typeface="Cambria" pitchFamily="34" charset="-120"/>
              </a:rPr>
              <a:t>TP / (TP + FP)</a:t>
            </a:r>
            <a:endParaRPr lang="en-US" sz="2400" dirty="0"/>
          </a:p>
        </p:txBody>
      </p:sp>
      <p:sp>
        <p:nvSpPr>
          <p:cNvPr id="7" name="Shape 5"/>
          <p:cNvSpPr/>
          <p:nvPr/>
        </p:nvSpPr>
        <p:spPr>
          <a:xfrm>
            <a:off x="822960" y="2258568"/>
            <a:ext cx="1280160" cy="347472"/>
          </a:xfrm>
          <a:prstGeom prst="roundRect">
            <a:avLst>
              <a:gd name="adj" fmla="val 50000"/>
            </a:avLst>
          </a:prstGeom>
          <a:ln w="12700">
            <a:solidFill>
              <a:srgbClr val="1C1C22"/>
            </a:solidFill>
            <a:prstDash val="dash"/>
          </a:ln>
        </p:spPr>
      </p:sp>
      <p:sp>
        <p:nvSpPr>
          <p:cNvPr id="8" name="Shape 6"/>
          <p:cNvSpPr/>
          <p:nvPr/>
        </p:nvSpPr>
        <p:spPr>
          <a:xfrm>
            <a:off x="932688" y="2322576"/>
            <a:ext cx="219456" cy="219456"/>
          </a:xfrm>
          <a:prstGeom prst="ellipse">
            <a:avLst/>
          </a:prstGeom>
          <a:solidFill>
            <a:srgbClr val="B8AB84"/>
          </a:solidFill>
          <a:ln w="9525">
            <a:solidFill>
              <a:srgbClr val="B8AB84"/>
            </a:solidFill>
            <a:prstDash val="solid"/>
          </a:ln>
        </p:spPr>
      </p:sp>
      <p:sp>
        <p:nvSpPr>
          <p:cNvPr id="9" name="Shape 7"/>
          <p:cNvSpPr/>
          <p:nvPr/>
        </p:nvSpPr>
        <p:spPr>
          <a:xfrm>
            <a:off x="1207008" y="2322576"/>
            <a:ext cx="219456" cy="219456"/>
          </a:xfrm>
          <a:prstGeom prst="ellipse">
            <a:avLst/>
          </a:prstGeom>
          <a:solidFill>
            <a:srgbClr val="B8AB84"/>
          </a:solidFill>
          <a:ln w="9525">
            <a:solidFill>
              <a:srgbClr val="B8AB84"/>
            </a:solidFill>
            <a:prstDash val="solid"/>
          </a:ln>
        </p:spPr>
      </p:sp>
      <p:sp>
        <p:nvSpPr>
          <p:cNvPr id="10" name="Shape 8"/>
          <p:cNvSpPr/>
          <p:nvPr/>
        </p:nvSpPr>
        <p:spPr>
          <a:xfrm>
            <a:off x="1481328" y="2322576"/>
            <a:ext cx="219456" cy="219456"/>
          </a:xfrm>
          <a:prstGeom prst="ellipse">
            <a:avLst/>
          </a:prstGeom>
          <a:solidFill>
            <a:srgbClr val="B8AB84"/>
          </a:solidFill>
          <a:ln w="9525">
            <a:solidFill>
              <a:srgbClr val="B8AB84"/>
            </a:solidFill>
            <a:prstDash val="solid"/>
          </a:ln>
        </p:spPr>
      </p:sp>
      <p:sp>
        <p:nvSpPr>
          <p:cNvPr id="11" name="Shape 9"/>
          <p:cNvSpPr/>
          <p:nvPr/>
        </p:nvSpPr>
        <p:spPr>
          <a:xfrm>
            <a:off x="1755648" y="2322576"/>
            <a:ext cx="219456" cy="219456"/>
          </a:xfrm>
          <a:prstGeom prst="ellipse">
            <a:avLst/>
          </a:prstGeom>
          <a:solidFill>
            <a:srgbClr val="9A9AA3"/>
          </a:solidFill>
          <a:ln w="9525">
            <a:solidFill>
              <a:srgbClr val="9A9AA3"/>
            </a:solidFill>
            <a:prstDash val="solid"/>
          </a:ln>
        </p:spPr>
      </p:sp>
      <p:sp>
        <p:nvSpPr>
          <p:cNvPr id="12" name="Text 10"/>
          <p:cNvSpPr txBox="1"/>
          <p:nvPr/>
        </p:nvSpPr>
        <p:spPr>
          <a:xfrm>
            <a:off x="2331720" y="2286000"/>
            <a:ext cx="2011680" cy="292608"/>
          </a:xfrm>
          <a:prstGeom prst="rect">
            <a:avLst/>
          </a:prstGeom>
          <a:noFill/>
          <a:ln/>
        </p:spPr>
        <p:txBody>
          <a:bodyPr wrap="square" lIns="0" tIns="0" rIns="0" bIns="0" rtlCol="0" anchor="ctr"/>
          <a:lstStyle/>
          <a:p>
            <a:pPr indent="0" marL="0">
              <a:buNone/>
            </a:pPr>
            <a:r>
              <a:rPr lang="en-US" sz="900" dirty="0">
                <a:solidFill>
                  <a:srgbClr val="6E6E78"/>
                </a:solidFill>
                <a:latin typeface="Calibri" pitchFamily="34" charset="0"/>
                <a:ea typeface="Calibri" pitchFamily="34" charset="-122"/>
                <a:cs typeface="Calibri" pitchFamily="34" charset="-120"/>
              </a:rPr>
              <a:t>названы спамом: 3 спама и 1 лишнее</a:t>
            </a:r>
            <a:endParaRPr lang="en-US" sz="900" dirty="0"/>
          </a:p>
        </p:txBody>
      </p:sp>
      <p:sp>
        <p:nvSpPr>
          <p:cNvPr id="13" name="Text 11"/>
          <p:cNvSpPr txBox="1"/>
          <p:nvPr/>
        </p:nvSpPr>
        <p:spPr>
          <a:xfrm>
            <a:off x="822960" y="2743200"/>
            <a:ext cx="3474720" cy="457200"/>
          </a:xfrm>
          <a:prstGeom prst="rect">
            <a:avLst/>
          </a:prstGeom>
          <a:noFill/>
          <a:ln/>
        </p:spPr>
        <p:txBody>
          <a:bodyPr wrap="square" lIns="0" tIns="0" rIns="0" bIns="0" rtlCol="0" anchor="t"/>
          <a:lstStyle/>
          <a:p>
            <a:pPr indent="0" marL="0">
              <a:buNone/>
            </a:pPr>
            <a:r>
              <a:rPr lang="en-US" sz="1200" b="1" dirty="0">
                <a:solidFill>
                  <a:srgbClr val="1C1C22"/>
                </a:solidFill>
                <a:latin typeface="Cambria" pitchFamily="34" charset="0"/>
                <a:ea typeface="Cambria" pitchFamily="34" charset="-122"/>
                <a:cs typeface="Cambria" pitchFamily="34" charset="-120"/>
              </a:rPr>
              <a:t>Из тех, кого модель назвала спамом, сколько правда спам?</a:t>
            </a:r>
            <a:endParaRPr lang="en-US" sz="1200" dirty="0"/>
          </a:p>
        </p:txBody>
      </p:sp>
      <p:sp>
        <p:nvSpPr>
          <p:cNvPr id="14" name="Text 12"/>
          <p:cNvSpPr txBox="1"/>
          <p:nvPr/>
        </p:nvSpPr>
        <p:spPr>
          <a:xfrm>
            <a:off x="822960" y="3310128"/>
            <a:ext cx="3474720" cy="274320"/>
          </a:xfrm>
          <a:prstGeom prst="rect">
            <a:avLst/>
          </a:prstGeom>
          <a:noFill/>
          <a:ln/>
        </p:spPr>
        <p:txBody>
          <a:bodyPr wrap="square" lIns="0" tIns="0" rIns="0" bIns="0" rtlCol="0" anchor="t"/>
          <a:lstStyle/>
          <a:p>
            <a:pPr indent="0" marL="0">
              <a:buNone/>
            </a:pPr>
            <a:r>
              <a:rPr lang="en-US" sz="1050" b="1" dirty="0">
                <a:solidFill>
                  <a:srgbClr val="8F8260"/>
                </a:solidFill>
                <a:latin typeface="Calibri" pitchFamily="34" charset="0"/>
                <a:ea typeface="Calibri" pitchFamily="34" charset="-122"/>
                <a:cs typeface="Calibri" pitchFamily="34" charset="-120"/>
              </a:rPr>
              <a:t>3 / (3 + 1) = 0.75</a:t>
            </a:r>
            <a:pPr indent="0" marL="0">
              <a:buNone/>
            </a:pPr>
            <a:r>
              <a:rPr lang="en-US" sz="1050" dirty="0">
                <a:solidFill>
                  <a:srgbClr val="6E6E78"/>
                </a:solidFill>
                <a:latin typeface="Calibri" pitchFamily="34" charset="0"/>
                <a:ea typeface="Calibri" pitchFamily="34" charset="-122"/>
                <a:cs typeface="Calibri" pitchFamily="34" charset="-120"/>
              </a:rPr>
              <a:t>   ·   Падает от ложных тревог</a:t>
            </a:r>
            <a:endParaRPr lang="en-US" sz="1050" dirty="0"/>
          </a:p>
        </p:txBody>
      </p:sp>
      <p:sp>
        <p:nvSpPr>
          <p:cNvPr id="15" name="Shape 13"/>
          <p:cNvSpPr/>
          <p:nvPr/>
        </p:nvSpPr>
        <p:spPr>
          <a:xfrm>
            <a:off x="4663440" y="1234440"/>
            <a:ext cx="3931920" cy="2514600"/>
          </a:xfrm>
          <a:prstGeom prst="roundRect">
            <a:avLst>
              <a:gd name="adj" fmla="val 2909"/>
            </a:avLst>
          </a:prstGeom>
          <a:solidFill>
            <a:srgbClr val="1C1C22"/>
          </a:solidFill>
          <a:ln w="12700">
            <a:solidFill>
              <a:srgbClr val="1C1C22"/>
            </a:solidFill>
            <a:prstDash val="solid"/>
          </a:ln>
        </p:spPr>
      </p:sp>
      <p:sp>
        <p:nvSpPr>
          <p:cNvPr id="16" name="Text 14"/>
          <p:cNvSpPr txBox="1"/>
          <p:nvPr/>
        </p:nvSpPr>
        <p:spPr>
          <a:xfrm>
            <a:off x="4937760" y="1417320"/>
            <a:ext cx="3474720" cy="201168"/>
          </a:xfrm>
          <a:prstGeom prst="rect">
            <a:avLst/>
          </a:prstGeom>
          <a:noFill/>
          <a:ln/>
        </p:spPr>
        <p:txBody>
          <a:bodyPr wrap="square" lIns="0" tIns="0" rIns="0" bIns="0" rtlCol="0" anchor="t"/>
          <a:lstStyle/>
          <a:p>
            <a:pPr indent="0" marL="0">
              <a:buNone/>
            </a:pPr>
            <a:r>
              <a:rPr lang="en-US" sz="900" b="1" spc="300" kern="0" dirty="0">
                <a:solidFill>
                  <a:srgbClr val="B8AB84"/>
                </a:solidFill>
                <a:latin typeface="Calibri" pitchFamily="34" charset="0"/>
                <a:ea typeface="Calibri" pitchFamily="34" charset="-122"/>
                <a:cs typeface="Calibri" pitchFamily="34" charset="-120"/>
              </a:rPr>
              <a:t>RECALL · ПОЛНОТА</a:t>
            </a:r>
            <a:endParaRPr lang="en-US" sz="900" dirty="0"/>
          </a:p>
        </p:txBody>
      </p:sp>
      <p:sp>
        <p:nvSpPr>
          <p:cNvPr id="17" name="Text 15"/>
          <p:cNvSpPr txBox="1"/>
          <p:nvPr/>
        </p:nvSpPr>
        <p:spPr>
          <a:xfrm>
            <a:off x="4937760" y="1691640"/>
            <a:ext cx="3474720" cy="457200"/>
          </a:xfrm>
          <a:prstGeom prst="rect">
            <a:avLst/>
          </a:prstGeom>
          <a:noFill/>
          <a:ln/>
        </p:spPr>
        <p:txBody>
          <a:bodyPr wrap="square" lIns="0" tIns="0" rIns="0" bIns="0" rtlCol="0" anchor="t"/>
          <a:lstStyle/>
          <a:p>
            <a:pPr indent="0" marL="0">
              <a:buNone/>
            </a:pPr>
            <a:r>
              <a:rPr lang="en-US" sz="2400" b="1" dirty="0">
                <a:solidFill>
                  <a:srgbClr val="B8AB84"/>
                </a:solidFill>
                <a:latin typeface="Cambria" pitchFamily="34" charset="0"/>
                <a:ea typeface="Cambria" pitchFamily="34" charset="-122"/>
                <a:cs typeface="Cambria" pitchFamily="34" charset="-120"/>
              </a:rPr>
              <a:t>TP / (TP + FN)</a:t>
            </a:r>
            <a:endParaRPr lang="en-US" sz="2400" dirty="0"/>
          </a:p>
        </p:txBody>
      </p:sp>
      <p:sp>
        <p:nvSpPr>
          <p:cNvPr id="18" name="Shape 16"/>
          <p:cNvSpPr/>
          <p:nvPr/>
        </p:nvSpPr>
        <p:spPr>
          <a:xfrm>
            <a:off x="4937760" y="2258568"/>
            <a:ext cx="1005840" cy="347472"/>
          </a:xfrm>
          <a:prstGeom prst="roundRect">
            <a:avLst>
              <a:gd name="adj" fmla="val 50000"/>
            </a:avLst>
          </a:prstGeom>
          <a:ln w="12700">
            <a:solidFill>
              <a:srgbClr val="FFFFFF"/>
            </a:solidFill>
            <a:prstDash val="dash"/>
          </a:ln>
        </p:spPr>
      </p:sp>
      <p:sp>
        <p:nvSpPr>
          <p:cNvPr id="19" name="Shape 17"/>
          <p:cNvSpPr/>
          <p:nvPr/>
        </p:nvSpPr>
        <p:spPr>
          <a:xfrm>
            <a:off x="5047488" y="2322576"/>
            <a:ext cx="219456" cy="219456"/>
          </a:xfrm>
          <a:prstGeom prst="ellipse">
            <a:avLst/>
          </a:prstGeom>
          <a:solidFill>
            <a:srgbClr val="B8AB84"/>
          </a:solidFill>
          <a:ln w="9525">
            <a:solidFill>
              <a:srgbClr val="B8AB84"/>
            </a:solidFill>
            <a:prstDash val="solid"/>
          </a:ln>
        </p:spPr>
      </p:sp>
      <p:sp>
        <p:nvSpPr>
          <p:cNvPr id="20" name="Shape 18"/>
          <p:cNvSpPr/>
          <p:nvPr/>
        </p:nvSpPr>
        <p:spPr>
          <a:xfrm>
            <a:off x="5321808" y="2322576"/>
            <a:ext cx="219456" cy="219456"/>
          </a:xfrm>
          <a:prstGeom prst="ellipse">
            <a:avLst/>
          </a:prstGeom>
          <a:solidFill>
            <a:srgbClr val="B8AB84"/>
          </a:solidFill>
          <a:ln w="9525">
            <a:solidFill>
              <a:srgbClr val="B8AB84"/>
            </a:solidFill>
            <a:prstDash val="solid"/>
          </a:ln>
        </p:spPr>
      </p:sp>
      <p:sp>
        <p:nvSpPr>
          <p:cNvPr id="21" name="Shape 19"/>
          <p:cNvSpPr/>
          <p:nvPr/>
        </p:nvSpPr>
        <p:spPr>
          <a:xfrm>
            <a:off x="5596128" y="2322576"/>
            <a:ext cx="219456" cy="219456"/>
          </a:xfrm>
          <a:prstGeom prst="ellipse">
            <a:avLst/>
          </a:prstGeom>
          <a:solidFill>
            <a:srgbClr val="B8AB84"/>
          </a:solidFill>
          <a:ln w="9525">
            <a:solidFill>
              <a:srgbClr val="B8AB84"/>
            </a:solidFill>
            <a:prstDash val="solid"/>
          </a:ln>
        </p:spPr>
      </p:sp>
      <p:sp>
        <p:nvSpPr>
          <p:cNvPr id="22" name="Shape 20"/>
          <p:cNvSpPr/>
          <p:nvPr/>
        </p:nvSpPr>
        <p:spPr>
          <a:xfrm>
            <a:off x="6126480" y="2322576"/>
            <a:ext cx="219456" cy="219456"/>
          </a:xfrm>
          <a:prstGeom prst="ellipse">
            <a:avLst/>
          </a:prstGeom>
          <a:solidFill>
            <a:srgbClr val="B8AB84"/>
          </a:solidFill>
          <a:ln w="9525">
            <a:solidFill>
              <a:srgbClr val="B8AB84"/>
            </a:solidFill>
            <a:prstDash val="solid"/>
          </a:ln>
        </p:spPr>
      </p:sp>
      <p:sp>
        <p:nvSpPr>
          <p:cNvPr id="23" name="Text 21"/>
          <p:cNvSpPr txBox="1"/>
          <p:nvPr/>
        </p:nvSpPr>
        <p:spPr>
          <a:xfrm>
            <a:off x="6492240" y="2286000"/>
            <a:ext cx="2011680" cy="292608"/>
          </a:xfrm>
          <a:prstGeom prst="rect">
            <a:avLst/>
          </a:prstGeom>
          <a:noFill/>
          <a:ln/>
        </p:spPr>
        <p:txBody>
          <a:bodyPr wrap="square" lIns="0" tIns="0" rIns="0" bIns="0" rtlCol="0" anchor="ctr"/>
          <a:lstStyle/>
          <a:p>
            <a:pPr indent="0" marL="0">
              <a:buNone/>
            </a:pPr>
            <a:r>
              <a:rPr lang="en-US" sz="900" dirty="0">
                <a:solidFill>
                  <a:srgbClr val="E2E2E6"/>
                </a:solidFill>
                <a:latin typeface="Calibri" pitchFamily="34" charset="0"/>
                <a:ea typeface="Calibri" pitchFamily="34" charset="-122"/>
                <a:cs typeface="Calibri" pitchFamily="34" charset="-120"/>
              </a:rPr>
              <a:t>все 4 спамных: 3 внутри, 1 снаружи</a:t>
            </a:r>
            <a:endParaRPr lang="en-US" sz="900" dirty="0"/>
          </a:p>
        </p:txBody>
      </p:sp>
      <p:sp>
        <p:nvSpPr>
          <p:cNvPr id="24" name="Text 22"/>
          <p:cNvSpPr txBox="1"/>
          <p:nvPr/>
        </p:nvSpPr>
        <p:spPr>
          <a:xfrm>
            <a:off x="4937760" y="2743200"/>
            <a:ext cx="3474720" cy="457200"/>
          </a:xfrm>
          <a:prstGeom prst="rect">
            <a:avLst/>
          </a:prstGeom>
          <a:noFill/>
          <a:ln/>
        </p:spPr>
        <p:txBody>
          <a:bodyPr wrap="square" lIns="0" tIns="0" rIns="0" bIns="0" rtlCol="0" anchor="t"/>
          <a:lstStyle/>
          <a:p>
            <a:pPr indent="0" marL="0">
              <a:buNone/>
            </a:pPr>
            <a:r>
              <a:rPr lang="en-US" sz="1200" b="1" dirty="0">
                <a:solidFill>
                  <a:srgbClr val="FFFFFF"/>
                </a:solidFill>
                <a:latin typeface="Cambria" pitchFamily="34" charset="0"/>
                <a:ea typeface="Cambria" pitchFamily="34" charset="-122"/>
                <a:cs typeface="Cambria" pitchFamily="34" charset="-120"/>
              </a:rPr>
              <a:t>Из всех спамных писем сколько модель нашла?</a:t>
            </a:r>
            <a:endParaRPr lang="en-US" sz="1200" dirty="0"/>
          </a:p>
        </p:txBody>
      </p:sp>
      <p:sp>
        <p:nvSpPr>
          <p:cNvPr id="25" name="Text 23"/>
          <p:cNvSpPr txBox="1"/>
          <p:nvPr/>
        </p:nvSpPr>
        <p:spPr>
          <a:xfrm>
            <a:off x="4937760" y="3310128"/>
            <a:ext cx="3474720" cy="274320"/>
          </a:xfrm>
          <a:prstGeom prst="rect">
            <a:avLst/>
          </a:prstGeom>
          <a:noFill/>
          <a:ln/>
        </p:spPr>
        <p:txBody>
          <a:bodyPr wrap="square" lIns="0" tIns="0" rIns="0" bIns="0" rtlCol="0" anchor="t"/>
          <a:lstStyle/>
          <a:p>
            <a:pPr indent="0" marL="0">
              <a:buNone/>
            </a:pPr>
            <a:r>
              <a:rPr lang="en-US" sz="1050" b="1" dirty="0">
                <a:solidFill>
                  <a:srgbClr val="B8AB84"/>
                </a:solidFill>
                <a:latin typeface="Calibri" pitchFamily="34" charset="0"/>
                <a:ea typeface="Calibri" pitchFamily="34" charset="-122"/>
                <a:cs typeface="Calibri" pitchFamily="34" charset="-120"/>
              </a:rPr>
              <a:t>3 / (3 + 1) = 0.75</a:t>
            </a:r>
            <a:pPr indent="0" marL="0">
              <a:buNone/>
            </a:pPr>
            <a:r>
              <a:rPr lang="en-US" sz="1050" dirty="0">
                <a:solidFill>
                  <a:srgbClr val="E2E2E6"/>
                </a:solidFill>
                <a:latin typeface="Calibri" pitchFamily="34" charset="0"/>
                <a:ea typeface="Calibri" pitchFamily="34" charset="-122"/>
                <a:cs typeface="Calibri" pitchFamily="34" charset="-120"/>
              </a:rPr>
              <a:t>   ·   Падает от пропусков</a:t>
            </a:r>
            <a:endParaRPr lang="en-US" sz="1050" dirty="0"/>
          </a:p>
        </p:txBody>
      </p:sp>
      <p:sp>
        <p:nvSpPr>
          <p:cNvPr id="26" name="Shape 24"/>
          <p:cNvSpPr/>
          <p:nvPr/>
        </p:nvSpPr>
        <p:spPr>
          <a:xfrm>
            <a:off x="548640" y="3931920"/>
            <a:ext cx="8046720" cy="658368"/>
          </a:xfrm>
          <a:prstGeom prst="roundRect">
            <a:avLst>
              <a:gd name="adj" fmla="val 11111"/>
            </a:avLst>
          </a:prstGeom>
          <a:solidFill>
            <a:srgbClr val="F2F1ED"/>
          </a:solidFill>
          <a:ln w="9525">
            <a:solidFill>
              <a:srgbClr val="F2F1ED"/>
            </a:solidFill>
            <a:prstDash val="solid"/>
          </a:ln>
        </p:spPr>
      </p:sp>
      <p:pic>
        <p:nvPicPr>
          <p:cNvPr id="27" name="Image 0" descr="img/ic_bulb_d.png">    </p:cNvPr>
          <p:cNvPicPr>
            <a:picLocks noChangeAspect="1"/>
          </p:cNvPicPr>
          <p:nvPr/>
        </p:nvPicPr>
        <p:blipFill>
          <a:blip r:embed="rId1"/>
          <a:stretch>
            <a:fillRect/>
          </a:stretch>
        </p:blipFill>
        <p:spPr>
          <a:xfrm>
            <a:off x="777240" y="4142232"/>
            <a:ext cx="237744" cy="237744"/>
          </a:xfrm>
          <a:prstGeom prst="rect">
            <a:avLst/>
          </a:prstGeom>
        </p:spPr>
      </p:pic>
      <p:sp>
        <p:nvSpPr>
          <p:cNvPr id="28" name="Text 25"/>
          <p:cNvSpPr txBox="1"/>
          <p:nvPr/>
        </p:nvSpPr>
        <p:spPr>
          <a:xfrm>
            <a:off x="1188720" y="3931920"/>
            <a:ext cx="7223760" cy="658368"/>
          </a:xfrm>
          <a:prstGeom prst="rect">
            <a:avLst/>
          </a:prstGeom>
          <a:noFill/>
          <a:ln/>
        </p:spPr>
        <p:txBody>
          <a:bodyPr wrap="square" lIns="0" tIns="0" rIns="0" bIns="0" rtlCol="0" anchor="ctr"/>
          <a:lstStyle/>
          <a:p>
            <a:pPr indent="0" marL="0">
              <a:buNone/>
            </a:pPr>
            <a:r>
              <a:rPr lang="en-US" sz="1100" b="1" dirty="0">
                <a:solidFill>
                  <a:srgbClr val="1C1C22"/>
                </a:solidFill>
                <a:latin typeface="Calibri" pitchFamily="34" charset="0"/>
                <a:ea typeface="Calibri" pitchFamily="34" charset="-122"/>
                <a:cs typeface="Calibri" pitchFamily="34" charset="-120"/>
              </a:rPr>
              <a:t>Specificity = TN / (TN + FP) </a:t>
            </a:r>
            <a:pPr indent="0" marL="0">
              <a:buNone/>
            </a:pPr>
            <a:r>
              <a:rPr lang="en-US" sz="1100" dirty="0">
                <a:solidFill>
                  <a:srgbClr val="6E6E78"/>
                </a:solidFill>
                <a:latin typeface="Calibri" pitchFamily="34" charset="0"/>
                <a:ea typeface="Calibri" pitchFamily="34" charset="-122"/>
                <a:cs typeface="Calibri" pitchFamily="34" charset="-120"/>
              </a:rPr>
              <a:t>– сколько обычных писем модель верно пропустила. У нас 5 / 6 = 0.83. У ленивого фильтра recall = 0 – обман раскрыт.</a:t>
            </a:r>
            <a:endParaRPr lang="en-US" sz="1100" dirty="0"/>
          </a:p>
        </p:txBody>
      </p:sp>
      <p:sp>
        <p:nvSpPr>
          <p:cNvPr id="29" name="Text 26"/>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30" name="Text 27"/>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ЦЕНА ОШИБКИ</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Какая ошибка дороже?</a:t>
            </a:r>
            <a:endParaRPr lang="en-US" sz="2600" dirty="0"/>
          </a:p>
        </p:txBody>
      </p:sp>
      <p:sp>
        <p:nvSpPr>
          <p:cNvPr id="4" name="Shape 2"/>
          <p:cNvSpPr/>
          <p:nvPr/>
        </p:nvSpPr>
        <p:spPr>
          <a:xfrm>
            <a:off x="548640" y="1234440"/>
            <a:ext cx="2560320" cy="2468880"/>
          </a:xfrm>
          <a:prstGeom prst="roundRect">
            <a:avLst>
              <a:gd name="adj" fmla="val 296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463040"/>
            <a:ext cx="502920" cy="438912"/>
          </a:xfrm>
          <a:prstGeom prst="hexagon">
            <a:avLst/>
          </a:prstGeom>
          <a:solidFill>
            <a:srgbClr val="1C1C22"/>
          </a:solidFill>
          <a:ln w="12700">
            <a:solidFill>
              <a:srgbClr val="1C1C22"/>
            </a:solidFill>
            <a:prstDash val="solid"/>
          </a:ln>
        </p:spPr>
      </p:sp>
      <p:pic>
        <p:nvPicPr>
          <p:cNvPr id="6" name="Image 0" descr="img/ic_heart_w.png">    </p:cNvPr>
          <p:cNvPicPr>
            <a:picLocks noChangeAspect="1"/>
          </p:cNvPicPr>
          <p:nvPr/>
        </p:nvPicPr>
        <p:blipFill>
          <a:blip r:embed="rId1"/>
          <a:stretch>
            <a:fillRect/>
          </a:stretch>
        </p:blipFill>
        <p:spPr>
          <a:xfrm>
            <a:off x="918972" y="1572768"/>
            <a:ext cx="219456" cy="219456"/>
          </a:xfrm>
          <a:prstGeom prst="rect">
            <a:avLst/>
          </a:prstGeom>
        </p:spPr>
      </p:pic>
      <p:sp>
        <p:nvSpPr>
          <p:cNvPr id="7" name="Text 4"/>
          <p:cNvSpPr txBox="1"/>
          <p:nvPr/>
        </p:nvSpPr>
        <p:spPr>
          <a:xfrm>
            <a:off x="777240" y="2057400"/>
            <a:ext cx="2194560" cy="292608"/>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Поиск опухоли</a:t>
            </a:r>
            <a:endParaRPr lang="en-US" sz="1350" dirty="0"/>
          </a:p>
        </p:txBody>
      </p:sp>
      <p:sp>
        <p:nvSpPr>
          <p:cNvPr id="8" name="Text 5"/>
          <p:cNvSpPr txBox="1"/>
          <p:nvPr/>
        </p:nvSpPr>
        <p:spPr>
          <a:xfrm>
            <a:off x="777240" y="2377440"/>
            <a:ext cx="2148840" cy="73152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Пропустить больного опасно. Лишнее обследование неприятно, но не страшно.</a:t>
            </a:r>
            <a:endParaRPr lang="en-US" sz="1050" dirty="0"/>
          </a:p>
        </p:txBody>
      </p:sp>
      <p:sp>
        <p:nvSpPr>
          <p:cNvPr id="9" name="Shape 6"/>
          <p:cNvSpPr/>
          <p:nvPr/>
        </p:nvSpPr>
        <p:spPr>
          <a:xfrm>
            <a:off x="777240" y="3200400"/>
            <a:ext cx="1783080" cy="292608"/>
          </a:xfrm>
          <a:prstGeom prst="roundRect">
            <a:avLst>
              <a:gd name="adj" fmla="val 50000"/>
            </a:avLst>
          </a:prstGeom>
          <a:solidFill>
            <a:srgbClr val="B8AB84"/>
          </a:solidFill>
          <a:ln w="12700">
            <a:solidFill>
              <a:srgbClr val="B8AB84"/>
            </a:solidFill>
            <a:prstDash val="solid"/>
          </a:ln>
        </p:spPr>
      </p:sp>
      <p:sp>
        <p:nvSpPr>
          <p:cNvPr id="10" name="Text 7"/>
          <p:cNvSpPr txBox="1"/>
          <p:nvPr/>
        </p:nvSpPr>
        <p:spPr>
          <a:xfrm>
            <a:off x="777240" y="3200400"/>
            <a:ext cx="1783080" cy="292608"/>
          </a:xfrm>
          <a:prstGeom prst="rect">
            <a:avLst/>
          </a:prstGeom>
          <a:noFill/>
          <a:ln/>
        </p:spPr>
        <p:txBody>
          <a:bodyPr wrap="square" lIns="0" tIns="0" rIns="0" bIns="0" rtlCol="0" anchor="ctr"/>
          <a:lstStyle/>
          <a:p>
            <a:pPr algn="ctr" indent="0" marL="0">
              <a:buNone/>
            </a:pPr>
            <a:r>
              <a:rPr lang="en-US" sz="900" b="1" spc="100" kern="0" dirty="0">
                <a:solidFill>
                  <a:srgbClr val="1C1C22"/>
                </a:solidFill>
                <a:latin typeface="Calibri" pitchFamily="34" charset="0"/>
                <a:ea typeface="Calibri" pitchFamily="34" charset="-122"/>
                <a:cs typeface="Calibri" pitchFamily="34" charset="-120"/>
              </a:rPr>
              <a:t>ВАЖНЕЕ RECALL</a:t>
            </a:r>
            <a:endParaRPr lang="en-US" sz="900" dirty="0"/>
          </a:p>
        </p:txBody>
      </p:sp>
      <p:sp>
        <p:nvSpPr>
          <p:cNvPr id="11" name="Shape 8"/>
          <p:cNvSpPr/>
          <p:nvPr/>
        </p:nvSpPr>
        <p:spPr>
          <a:xfrm>
            <a:off x="3291840" y="1234440"/>
            <a:ext cx="2560320" cy="2468880"/>
          </a:xfrm>
          <a:prstGeom prst="roundRect">
            <a:avLst>
              <a:gd name="adj" fmla="val 296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3520440" y="1463040"/>
            <a:ext cx="502920" cy="438912"/>
          </a:xfrm>
          <a:prstGeom prst="hexagon">
            <a:avLst/>
          </a:prstGeom>
          <a:solidFill>
            <a:srgbClr val="1C1C22"/>
          </a:solidFill>
          <a:ln w="12700">
            <a:solidFill>
              <a:srgbClr val="1C1C22"/>
            </a:solidFill>
            <a:prstDash val="solid"/>
          </a:ln>
        </p:spPr>
      </p:sp>
      <p:pic>
        <p:nvPicPr>
          <p:cNvPr id="13" name="Image 1" descr="img/ic_envelope_w.png">    </p:cNvPr>
          <p:cNvPicPr>
            <a:picLocks noChangeAspect="1"/>
          </p:cNvPicPr>
          <p:nvPr/>
        </p:nvPicPr>
        <p:blipFill>
          <a:blip r:embed="rId2"/>
          <a:stretch>
            <a:fillRect/>
          </a:stretch>
        </p:blipFill>
        <p:spPr>
          <a:xfrm>
            <a:off x="3662172" y="1572768"/>
            <a:ext cx="219456" cy="219456"/>
          </a:xfrm>
          <a:prstGeom prst="rect">
            <a:avLst/>
          </a:prstGeom>
        </p:spPr>
      </p:pic>
      <p:sp>
        <p:nvSpPr>
          <p:cNvPr id="14" name="Text 10"/>
          <p:cNvSpPr txBox="1"/>
          <p:nvPr/>
        </p:nvSpPr>
        <p:spPr>
          <a:xfrm>
            <a:off x="3520440" y="2057400"/>
            <a:ext cx="2194560" cy="292608"/>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Спам-фильтр</a:t>
            </a:r>
            <a:endParaRPr lang="en-US" sz="1350" dirty="0"/>
          </a:p>
        </p:txBody>
      </p:sp>
      <p:sp>
        <p:nvSpPr>
          <p:cNvPr id="15" name="Text 11"/>
          <p:cNvSpPr txBox="1"/>
          <p:nvPr/>
        </p:nvSpPr>
        <p:spPr>
          <a:xfrm>
            <a:off x="3520440" y="2377440"/>
            <a:ext cx="2148840" cy="73152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Потерять письмо от учителя хуже, чем увидеть лишнюю рекламу.</a:t>
            </a:r>
            <a:endParaRPr lang="en-US" sz="1050" dirty="0"/>
          </a:p>
        </p:txBody>
      </p:sp>
      <p:sp>
        <p:nvSpPr>
          <p:cNvPr id="16" name="Shape 12"/>
          <p:cNvSpPr/>
          <p:nvPr/>
        </p:nvSpPr>
        <p:spPr>
          <a:xfrm>
            <a:off x="3520440" y="3200400"/>
            <a:ext cx="1783080" cy="292608"/>
          </a:xfrm>
          <a:prstGeom prst="roundRect">
            <a:avLst>
              <a:gd name="adj" fmla="val 50000"/>
            </a:avLst>
          </a:prstGeom>
          <a:solidFill>
            <a:srgbClr val="B8AB84"/>
          </a:solidFill>
          <a:ln w="12700">
            <a:solidFill>
              <a:srgbClr val="B8AB84"/>
            </a:solidFill>
            <a:prstDash val="solid"/>
          </a:ln>
        </p:spPr>
      </p:sp>
      <p:sp>
        <p:nvSpPr>
          <p:cNvPr id="17" name="Text 13"/>
          <p:cNvSpPr txBox="1"/>
          <p:nvPr/>
        </p:nvSpPr>
        <p:spPr>
          <a:xfrm>
            <a:off x="3520440" y="3200400"/>
            <a:ext cx="1783080" cy="292608"/>
          </a:xfrm>
          <a:prstGeom prst="rect">
            <a:avLst/>
          </a:prstGeom>
          <a:noFill/>
          <a:ln/>
        </p:spPr>
        <p:txBody>
          <a:bodyPr wrap="square" lIns="0" tIns="0" rIns="0" bIns="0" rtlCol="0" anchor="ctr"/>
          <a:lstStyle/>
          <a:p>
            <a:pPr algn="ctr" indent="0" marL="0">
              <a:buNone/>
            </a:pPr>
            <a:r>
              <a:rPr lang="en-US" sz="900" b="1" spc="100" kern="0" dirty="0">
                <a:solidFill>
                  <a:srgbClr val="1C1C22"/>
                </a:solidFill>
                <a:latin typeface="Calibri" pitchFamily="34" charset="0"/>
                <a:ea typeface="Calibri" pitchFamily="34" charset="-122"/>
                <a:cs typeface="Calibri" pitchFamily="34" charset="-120"/>
              </a:rPr>
              <a:t>ВАЖНЕЕ PRECISION</a:t>
            </a:r>
            <a:endParaRPr lang="en-US" sz="900" dirty="0"/>
          </a:p>
        </p:txBody>
      </p:sp>
      <p:sp>
        <p:nvSpPr>
          <p:cNvPr id="18" name="Shape 14"/>
          <p:cNvSpPr/>
          <p:nvPr/>
        </p:nvSpPr>
        <p:spPr>
          <a:xfrm>
            <a:off x="6035040" y="1234440"/>
            <a:ext cx="2560320" cy="2468880"/>
          </a:xfrm>
          <a:prstGeom prst="roundRect">
            <a:avLst>
              <a:gd name="adj" fmla="val 296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6263640" y="1463040"/>
            <a:ext cx="502920" cy="438912"/>
          </a:xfrm>
          <a:prstGeom prst="hexagon">
            <a:avLst/>
          </a:prstGeom>
          <a:solidFill>
            <a:srgbClr val="1C1C22"/>
          </a:solidFill>
          <a:ln w="12700">
            <a:solidFill>
              <a:srgbClr val="1C1C22"/>
            </a:solidFill>
            <a:prstDash val="solid"/>
          </a:ln>
        </p:spPr>
      </p:sp>
      <p:pic>
        <p:nvPicPr>
          <p:cNvPr id="20" name="Image 2" descr="img/ic_car_w.png">    </p:cNvPr>
          <p:cNvPicPr>
            <a:picLocks noChangeAspect="1"/>
          </p:cNvPicPr>
          <p:nvPr/>
        </p:nvPicPr>
        <p:blipFill>
          <a:blip r:embed="rId3"/>
          <a:stretch>
            <a:fillRect/>
          </a:stretch>
        </p:blipFill>
        <p:spPr>
          <a:xfrm>
            <a:off x="6405372" y="1572768"/>
            <a:ext cx="219456" cy="219456"/>
          </a:xfrm>
          <a:prstGeom prst="rect">
            <a:avLst/>
          </a:prstGeom>
        </p:spPr>
      </p:pic>
      <p:sp>
        <p:nvSpPr>
          <p:cNvPr id="21" name="Text 16"/>
          <p:cNvSpPr txBox="1"/>
          <p:nvPr/>
        </p:nvSpPr>
        <p:spPr>
          <a:xfrm>
            <a:off x="6263640" y="2057400"/>
            <a:ext cx="2194560" cy="292608"/>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Беспилотник</a:t>
            </a:r>
            <a:endParaRPr lang="en-US" sz="1350" dirty="0"/>
          </a:p>
        </p:txBody>
      </p:sp>
      <p:sp>
        <p:nvSpPr>
          <p:cNvPr id="22" name="Text 17"/>
          <p:cNvSpPr txBox="1"/>
          <p:nvPr/>
        </p:nvSpPr>
        <p:spPr>
          <a:xfrm>
            <a:off x="6263640" y="2377440"/>
            <a:ext cx="2148840" cy="73152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Не заметить пешехода недопустимо. Лишнее торможение терпимо.</a:t>
            </a:r>
            <a:endParaRPr lang="en-US" sz="1050" dirty="0"/>
          </a:p>
        </p:txBody>
      </p:sp>
      <p:sp>
        <p:nvSpPr>
          <p:cNvPr id="23" name="Shape 18"/>
          <p:cNvSpPr/>
          <p:nvPr/>
        </p:nvSpPr>
        <p:spPr>
          <a:xfrm>
            <a:off x="6263640" y="3200400"/>
            <a:ext cx="1783080" cy="292608"/>
          </a:xfrm>
          <a:prstGeom prst="roundRect">
            <a:avLst>
              <a:gd name="adj" fmla="val 50000"/>
            </a:avLst>
          </a:prstGeom>
          <a:solidFill>
            <a:srgbClr val="B8AB84"/>
          </a:solidFill>
          <a:ln w="12700">
            <a:solidFill>
              <a:srgbClr val="B8AB84"/>
            </a:solidFill>
            <a:prstDash val="solid"/>
          </a:ln>
        </p:spPr>
      </p:sp>
      <p:sp>
        <p:nvSpPr>
          <p:cNvPr id="24" name="Text 19"/>
          <p:cNvSpPr txBox="1"/>
          <p:nvPr/>
        </p:nvSpPr>
        <p:spPr>
          <a:xfrm>
            <a:off x="6263640" y="3200400"/>
            <a:ext cx="1783080" cy="292608"/>
          </a:xfrm>
          <a:prstGeom prst="rect">
            <a:avLst/>
          </a:prstGeom>
          <a:noFill/>
          <a:ln/>
        </p:spPr>
        <p:txBody>
          <a:bodyPr wrap="square" lIns="0" tIns="0" rIns="0" bIns="0" rtlCol="0" anchor="ctr"/>
          <a:lstStyle/>
          <a:p>
            <a:pPr algn="ctr" indent="0" marL="0">
              <a:buNone/>
            </a:pPr>
            <a:r>
              <a:rPr lang="en-US" sz="900" b="1" spc="100" kern="0" dirty="0">
                <a:solidFill>
                  <a:srgbClr val="1C1C22"/>
                </a:solidFill>
                <a:latin typeface="Calibri" pitchFamily="34" charset="0"/>
                <a:ea typeface="Calibri" pitchFamily="34" charset="-122"/>
                <a:cs typeface="Calibri" pitchFamily="34" charset="-120"/>
              </a:rPr>
              <a:t>ВАЖНЕЕ RECALL</a:t>
            </a:r>
            <a:endParaRPr lang="en-US" sz="900" dirty="0"/>
          </a:p>
        </p:txBody>
      </p:sp>
      <p:sp>
        <p:nvSpPr>
          <p:cNvPr id="25" name="Shape 20"/>
          <p:cNvSpPr/>
          <p:nvPr/>
        </p:nvSpPr>
        <p:spPr>
          <a:xfrm>
            <a:off x="548640" y="3931920"/>
            <a:ext cx="8046720" cy="658368"/>
          </a:xfrm>
          <a:prstGeom prst="roundRect">
            <a:avLst>
              <a:gd name="adj" fmla="val 11111"/>
            </a:avLst>
          </a:prstGeom>
          <a:solidFill>
            <a:srgbClr val="1C1C22"/>
          </a:solidFill>
          <a:ln w="12700">
            <a:solidFill>
              <a:srgbClr val="1C1C22"/>
            </a:solidFill>
            <a:prstDash val="solid"/>
          </a:ln>
        </p:spPr>
      </p:sp>
      <p:sp>
        <p:nvSpPr>
          <p:cNvPr id="26" name="Text 21"/>
          <p:cNvSpPr txBox="1"/>
          <p:nvPr/>
        </p:nvSpPr>
        <p:spPr>
          <a:xfrm>
            <a:off x="822960" y="3931920"/>
            <a:ext cx="7589520" cy="658368"/>
          </a:xfrm>
          <a:prstGeom prst="rect">
            <a:avLst/>
          </a:prstGeom>
          <a:noFill/>
          <a:ln/>
        </p:spPr>
        <p:txBody>
          <a:bodyPr wrap="square" lIns="0" tIns="0" rIns="0" bIns="0" rtlCol="0" anchor="ctr"/>
          <a:lstStyle/>
          <a:p>
            <a:pPr indent="0" marL="0">
              <a:buNone/>
            </a:pPr>
            <a:r>
              <a:rPr lang="en-US" sz="1200" b="1" dirty="0">
                <a:solidFill>
                  <a:srgbClr val="B8AB84"/>
                </a:solidFill>
                <a:latin typeface="Calibri" pitchFamily="34" charset="0"/>
                <a:ea typeface="Calibri" pitchFamily="34" charset="-122"/>
                <a:cs typeface="Calibri" pitchFamily="34" charset="-120"/>
              </a:rPr>
              <a:t>Precision и recall тянут в разные стороны: </a:t>
            </a:r>
            <a:pPr indent="0" marL="0">
              <a:buNone/>
            </a:pPr>
            <a:r>
              <a:rPr lang="en-US" sz="1200" dirty="0">
                <a:solidFill>
                  <a:srgbClr val="FFFFFF"/>
                </a:solidFill>
                <a:latin typeface="Calibri" pitchFamily="34" charset="0"/>
                <a:ea typeface="Calibri" pitchFamily="34" charset="-122"/>
                <a:cs typeface="Calibri" pitchFamily="34" charset="-120"/>
              </a:rPr>
              <a:t>одна растет – другая обычно падает. Какую выбрать, решает задача, а не математика.</a:t>
            </a:r>
            <a:endParaRPr lang="en-US" sz="1200" dirty="0"/>
          </a:p>
        </p:txBody>
      </p:sp>
      <p:sp>
        <p:nvSpPr>
          <p:cNvPr id="27" name="Text 2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28" name="Text 2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ОДНО ЧИСЛО ВМЕСТО ДВУХ</a:t>
            </a:r>
            <a:endParaRPr lang="en-US" sz="900" dirty="0"/>
          </a:p>
        </p:txBody>
      </p:sp>
      <p:sp>
        <p:nvSpPr>
          <p:cNvPr id="3" name="Text 1"/>
          <p:cNvSpPr txBox="1"/>
          <p:nvPr/>
        </p:nvSpPr>
        <p:spPr>
          <a:xfrm>
            <a:off x="457200" y="521208"/>
            <a:ext cx="3657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F-мера</a:t>
            </a:r>
            <a:endParaRPr lang="en-US" sz="2600" dirty="0"/>
          </a:p>
        </p:txBody>
      </p:sp>
      <p:sp>
        <p:nvSpPr>
          <p:cNvPr id="4" name="Text 2"/>
          <p:cNvSpPr txBox="1"/>
          <p:nvPr/>
        </p:nvSpPr>
        <p:spPr>
          <a:xfrm>
            <a:off x="4114800" y="457200"/>
            <a:ext cx="4572000" cy="548640"/>
          </a:xfrm>
          <a:prstGeom prst="rect">
            <a:avLst/>
          </a:prstGeom>
          <a:noFill/>
          <a:ln/>
        </p:spPr>
        <p:txBody>
          <a:bodyPr wrap="square" lIns="0" tIns="0" rIns="0" bIns="0" rtlCol="0" anchor="ctr"/>
          <a:lstStyle/>
          <a:p>
            <a:pPr algn="r" indent="0" marL="0">
              <a:buNone/>
            </a:pPr>
            <a:r>
              <a:rPr lang="en-US" sz="2600" b="1" dirty="0">
                <a:solidFill>
                  <a:srgbClr val="1C1C22"/>
                </a:solidFill>
                <a:latin typeface="Cambria" pitchFamily="34" charset="0"/>
                <a:ea typeface="Cambria" pitchFamily="34" charset="-122"/>
                <a:cs typeface="Cambria" pitchFamily="34" charset="-120"/>
              </a:rPr>
              <a:t>F</a:t>
            </a:r>
            <a:pPr algn="r" indent="0" marL="0">
              <a:buNone/>
            </a:pPr>
            <a:r>
              <a:rPr lang="en-US" sz="2600" b="1" baseline="-40000" dirty="0">
                <a:solidFill>
                  <a:srgbClr val="1C1C22"/>
                </a:solidFill>
                <a:latin typeface="Cambria" pitchFamily="34" charset="0"/>
                <a:ea typeface="Cambria" pitchFamily="34" charset="-122"/>
                <a:cs typeface="Cambria" pitchFamily="34" charset="-120"/>
              </a:rPr>
              <a:t>1</a:t>
            </a:r>
            <a:pPr algn="r" indent="0" marL="0">
              <a:buNone/>
            </a:pPr>
            <a:r>
              <a:rPr lang="en-US" sz="2600" b="1" dirty="0">
                <a:solidFill>
                  <a:srgbClr val="1C1C22"/>
                </a:solidFill>
                <a:latin typeface="Cambria" pitchFamily="34" charset="0"/>
                <a:ea typeface="Cambria" pitchFamily="34" charset="-122"/>
                <a:cs typeface="Cambria" pitchFamily="34" charset="-120"/>
              </a:rPr>
              <a:t> = 2 · P · R / (P + R)</a:t>
            </a:r>
            <a:endParaRPr lang="en-US" sz="2600" dirty="0"/>
          </a:p>
        </p:txBody>
      </p:sp>
      <p:sp>
        <p:nvSpPr>
          <p:cNvPr id="5" name="Text 3"/>
          <p:cNvSpPr txBox="1"/>
          <p:nvPr/>
        </p:nvSpPr>
        <p:spPr>
          <a:xfrm>
            <a:off x="4114800" y="1024128"/>
            <a:ext cx="4572000" cy="228600"/>
          </a:xfrm>
          <a:prstGeom prst="rect">
            <a:avLst/>
          </a:prstGeom>
          <a:noFill/>
          <a:ln/>
        </p:spPr>
        <p:txBody>
          <a:bodyPr wrap="square" lIns="0" tIns="0" rIns="0" bIns="0" rtlCol="0" anchor="t"/>
          <a:lstStyle/>
          <a:p>
            <a:pPr algn="r" indent="0" marL="0">
              <a:buNone/>
            </a:pPr>
            <a:r>
              <a:rPr lang="en-US" sz="1100" dirty="0">
                <a:solidFill>
                  <a:srgbClr val="6E6E78"/>
                </a:solidFill>
                <a:latin typeface="Calibri" pitchFamily="34" charset="0"/>
                <a:ea typeface="Calibri" pitchFamily="34" charset="-122"/>
                <a:cs typeface="Calibri" pitchFamily="34" charset="-120"/>
              </a:rPr>
              <a:t>среднее гармоническое precision (P) и recall (R)</a:t>
            </a:r>
            <a:endParaRPr lang="en-US" sz="1100" dirty="0"/>
          </a:p>
        </p:txBody>
      </p:sp>
      <p:sp>
        <p:nvSpPr>
          <p:cNvPr id="6" name="Shape 4"/>
          <p:cNvSpPr/>
          <p:nvPr/>
        </p:nvSpPr>
        <p:spPr>
          <a:xfrm>
            <a:off x="548640" y="1463040"/>
            <a:ext cx="3931920" cy="2286000"/>
          </a:xfrm>
          <a:prstGeom prst="roundRect">
            <a:avLst>
              <a:gd name="adj" fmla="val 3200"/>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77240" y="1645920"/>
            <a:ext cx="347472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ПРИМЕР: P = 0.9, R = 0.5</a:t>
            </a:r>
            <a:endParaRPr lang="en-US" sz="900" dirty="0"/>
          </a:p>
        </p:txBody>
      </p:sp>
      <p:sp>
        <p:nvSpPr>
          <p:cNvPr id="8" name="Text 6"/>
          <p:cNvSpPr txBox="1"/>
          <p:nvPr/>
        </p:nvSpPr>
        <p:spPr>
          <a:xfrm>
            <a:off x="777240" y="1920240"/>
            <a:ext cx="1645920" cy="640080"/>
          </a:xfrm>
          <a:prstGeom prst="rect">
            <a:avLst/>
          </a:prstGeom>
          <a:noFill/>
          <a:ln/>
        </p:spPr>
        <p:txBody>
          <a:bodyPr wrap="square" lIns="0" tIns="0" rIns="0" bIns="0" rtlCol="0" anchor="t"/>
          <a:lstStyle/>
          <a:p>
            <a:pPr indent="0" marL="0">
              <a:buNone/>
            </a:pPr>
            <a:r>
              <a:rPr lang="en-US" sz="3600" b="1" dirty="0">
                <a:solidFill>
                  <a:srgbClr val="9A9AA3"/>
                </a:solidFill>
                <a:latin typeface="Cambria" pitchFamily="34" charset="0"/>
                <a:ea typeface="Cambria" pitchFamily="34" charset="-122"/>
                <a:cs typeface="Cambria" pitchFamily="34" charset="-120"/>
              </a:rPr>
              <a:t>0.70</a:t>
            </a:r>
            <a:endParaRPr lang="en-US" sz="3600" dirty="0"/>
          </a:p>
        </p:txBody>
      </p:sp>
      <p:sp>
        <p:nvSpPr>
          <p:cNvPr id="9" name="Text 7"/>
          <p:cNvSpPr txBox="1"/>
          <p:nvPr/>
        </p:nvSpPr>
        <p:spPr>
          <a:xfrm>
            <a:off x="777240" y="2560320"/>
            <a:ext cx="1645920" cy="2286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обычное среднее</a:t>
            </a:r>
            <a:endParaRPr lang="en-US" sz="1050" dirty="0"/>
          </a:p>
        </p:txBody>
      </p:sp>
      <p:sp>
        <p:nvSpPr>
          <p:cNvPr id="10" name="Text 8"/>
          <p:cNvSpPr txBox="1"/>
          <p:nvPr/>
        </p:nvSpPr>
        <p:spPr>
          <a:xfrm>
            <a:off x="2606040" y="1920240"/>
            <a:ext cx="1645920" cy="640080"/>
          </a:xfrm>
          <a:prstGeom prst="rect">
            <a:avLst/>
          </a:prstGeom>
          <a:noFill/>
          <a:ln/>
        </p:spPr>
        <p:txBody>
          <a:bodyPr wrap="square" lIns="0" tIns="0" rIns="0" bIns="0" rtlCol="0" anchor="t"/>
          <a:lstStyle/>
          <a:p>
            <a:pPr indent="0" marL="0">
              <a:buNone/>
            </a:pPr>
            <a:r>
              <a:rPr lang="en-US" sz="3600" b="1" dirty="0">
                <a:solidFill>
                  <a:srgbClr val="8F8260"/>
                </a:solidFill>
                <a:latin typeface="Cambria" pitchFamily="34" charset="0"/>
                <a:ea typeface="Cambria" pitchFamily="34" charset="-122"/>
                <a:cs typeface="Cambria" pitchFamily="34" charset="-120"/>
              </a:rPr>
              <a:t>0.64</a:t>
            </a:r>
            <a:endParaRPr lang="en-US" sz="3600" dirty="0"/>
          </a:p>
        </p:txBody>
      </p:sp>
      <p:sp>
        <p:nvSpPr>
          <p:cNvPr id="11" name="Text 9"/>
          <p:cNvSpPr txBox="1"/>
          <p:nvPr/>
        </p:nvSpPr>
        <p:spPr>
          <a:xfrm>
            <a:off x="2606040" y="2560320"/>
            <a:ext cx="1645920" cy="2286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F</a:t>
            </a:r>
            <a:pPr indent="0" marL="0">
              <a:buNone/>
            </a:pPr>
            <a:r>
              <a:rPr lang="en-US" sz="1050" baseline="-40000" dirty="0">
                <a:solidFill>
                  <a:srgbClr val="6E6E78"/>
                </a:solidFill>
                <a:latin typeface="Calibri" pitchFamily="34" charset="0"/>
                <a:ea typeface="Calibri" pitchFamily="34" charset="-122"/>
                <a:cs typeface="Calibri" pitchFamily="34" charset="-120"/>
              </a:rPr>
              <a:t>1</a:t>
            </a:r>
            <a:pPr indent="0" marL="0">
              <a:buNone/>
            </a:pPr>
            <a:r>
              <a:rPr lang="en-US" sz="1050" dirty="0">
                <a:solidFill>
                  <a:srgbClr val="6E6E78"/>
                </a:solidFill>
                <a:latin typeface="Calibri" pitchFamily="34" charset="0"/>
                <a:ea typeface="Calibri" pitchFamily="34" charset="-122"/>
                <a:cs typeface="Calibri" pitchFamily="34" charset="-120"/>
              </a:rPr>
              <a:t>-мера</a:t>
            </a:r>
            <a:endParaRPr lang="en-US" sz="1050" dirty="0"/>
          </a:p>
        </p:txBody>
      </p:sp>
      <p:sp>
        <p:nvSpPr>
          <p:cNvPr id="12" name="Text 10"/>
          <p:cNvSpPr txBox="1"/>
          <p:nvPr/>
        </p:nvSpPr>
        <p:spPr>
          <a:xfrm>
            <a:off x="777240" y="2926080"/>
            <a:ext cx="3520440" cy="640080"/>
          </a:xfrm>
          <a:prstGeom prst="rect">
            <a:avLst/>
          </a:prstGeom>
          <a:noFill/>
          <a:ln/>
        </p:spPr>
        <p:txBody>
          <a:bodyPr wrap="square" lIns="0" tIns="0" rIns="0" bIns="0" rtlCol="0" anchor="t"/>
          <a:lstStyle/>
          <a:p>
            <a:pPr indent="0" marL="0">
              <a:buNone/>
            </a:pPr>
            <a:r>
              <a:rPr lang="en-US" sz="1050" dirty="0">
                <a:solidFill>
                  <a:srgbClr val="1C1C22"/>
                </a:solidFill>
                <a:latin typeface="Calibri" pitchFamily="34" charset="0"/>
                <a:ea typeface="Calibri" pitchFamily="34" charset="-122"/>
                <a:cs typeface="Calibri" pitchFamily="34" charset="-120"/>
              </a:rPr>
              <a:t>F-мера держится ближе к меньшему числу: хорошим precision не спрятать плохой recall.</a:t>
            </a:r>
            <a:endParaRPr lang="en-US" sz="1050" dirty="0"/>
          </a:p>
        </p:txBody>
      </p:sp>
      <p:sp>
        <p:nvSpPr>
          <p:cNvPr id="13" name="Shape 11"/>
          <p:cNvSpPr/>
          <p:nvPr/>
        </p:nvSpPr>
        <p:spPr>
          <a:xfrm>
            <a:off x="4663440" y="1463040"/>
            <a:ext cx="3931920" cy="2286000"/>
          </a:xfrm>
          <a:prstGeom prst="roundRect">
            <a:avLst>
              <a:gd name="adj" fmla="val 3200"/>
            </a:avLst>
          </a:prstGeom>
          <a:solidFill>
            <a:srgbClr val="1C1C22"/>
          </a:solidFill>
          <a:ln w="12700">
            <a:solidFill>
              <a:srgbClr val="1C1C22"/>
            </a:solidFill>
            <a:prstDash val="solid"/>
          </a:ln>
        </p:spPr>
      </p:sp>
      <p:sp>
        <p:nvSpPr>
          <p:cNvPr id="14" name="Text 12"/>
          <p:cNvSpPr txBox="1"/>
          <p:nvPr/>
        </p:nvSpPr>
        <p:spPr>
          <a:xfrm>
            <a:off x="4892040" y="1645920"/>
            <a:ext cx="3566160" cy="365760"/>
          </a:xfrm>
          <a:prstGeom prst="rect">
            <a:avLst/>
          </a:prstGeom>
          <a:noFill/>
          <a:ln/>
        </p:spPr>
        <p:txBody>
          <a:bodyPr wrap="square" lIns="0" tIns="0" rIns="0" bIns="0" rtlCol="0" anchor="t"/>
          <a:lstStyle/>
          <a:p>
            <a:pPr indent="0" marL="0">
              <a:buNone/>
            </a:pPr>
            <a:r>
              <a:rPr lang="en-US" sz="1500" b="1" dirty="0">
                <a:solidFill>
                  <a:srgbClr val="B8AB84"/>
                </a:solidFill>
                <a:latin typeface="Cambria" pitchFamily="34" charset="0"/>
                <a:ea typeface="Cambria" pitchFamily="34" charset="-122"/>
                <a:cs typeface="Cambria" pitchFamily="34" charset="-120"/>
              </a:rPr>
              <a:t>F</a:t>
            </a:r>
            <a:pPr indent="0" marL="0">
              <a:buNone/>
            </a:pPr>
            <a:r>
              <a:rPr lang="en-US" sz="1500" b="1" baseline="-40000" dirty="0">
                <a:solidFill>
                  <a:srgbClr val="B8AB84"/>
                </a:solidFill>
                <a:latin typeface="Cambria" pitchFamily="34" charset="0"/>
                <a:ea typeface="Cambria" pitchFamily="34" charset="-122"/>
                <a:cs typeface="Cambria" pitchFamily="34" charset="-120"/>
              </a:rPr>
              <a:t>β</a:t>
            </a:r>
            <a:pPr indent="0" marL="0">
              <a:buNone/>
            </a:pPr>
            <a:r>
              <a:rPr lang="en-US" sz="1500" b="1" dirty="0">
                <a:solidFill>
                  <a:srgbClr val="B8AB84"/>
                </a:solidFill>
                <a:latin typeface="Cambria" pitchFamily="34" charset="0"/>
                <a:ea typeface="Cambria" pitchFamily="34" charset="-122"/>
                <a:cs typeface="Cambria" pitchFamily="34" charset="-120"/>
              </a:rPr>
              <a:t> = (1 + β²) · P · R / (β² · P + R)</a:t>
            </a:r>
            <a:endParaRPr lang="en-US" sz="1500" dirty="0"/>
          </a:p>
        </p:txBody>
      </p:sp>
      <p:sp>
        <p:nvSpPr>
          <p:cNvPr id="15" name="Text 13"/>
          <p:cNvSpPr txBox="1"/>
          <p:nvPr/>
        </p:nvSpPr>
        <p:spPr>
          <a:xfrm>
            <a:off x="4892040" y="2194560"/>
            <a:ext cx="822960"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β = 1</a:t>
            </a:r>
            <a:endParaRPr lang="en-US" sz="1200" dirty="0"/>
          </a:p>
        </p:txBody>
      </p:sp>
      <p:sp>
        <p:nvSpPr>
          <p:cNvPr id="16" name="Text 14"/>
          <p:cNvSpPr txBox="1"/>
          <p:nvPr/>
        </p:nvSpPr>
        <p:spPr>
          <a:xfrm>
            <a:off x="5760720" y="2194560"/>
            <a:ext cx="2011680" cy="320040"/>
          </a:xfrm>
          <a:prstGeom prst="rect">
            <a:avLst/>
          </a:prstGeom>
          <a:noFill/>
          <a:ln/>
        </p:spPr>
        <p:txBody>
          <a:bodyPr wrap="square" lIns="0" tIns="0" rIns="0" bIns="0" rtlCol="0" anchor="ctr"/>
          <a:lstStyle/>
          <a:p>
            <a:pPr indent="0" marL="0">
              <a:buNone/>
            </a:pPr>
            <a:r>
              <a:rPr lang="en-US" sz="1100" dirty="0">
                <a:solidFill>
                  <a:srgbClr val="E2E2E6"/>
                </a:solidFill>
                <a:latin typeface="Calibri" pitchFamily="34" charset="0"/>
                <a:ea typeface="Calibri" pitchFamily="34" charset="-122"/>
                <a:cs typeface="Calibri" pitchFamily="34" charset="-120"/>
              </a:rPr>
              <a:t>обе важны одинаково</a:t>
            </a:r>
            <a:endParaRPr lang="en-US" sz="1100" dirty="0"/>
          </a:p>
        </p:txBody>
      </p:sp>
      <p:sp>
        <p:nvSpPr>
          <p:cNvPr id="17" name="Text 15"/>
          <p:cNvSpPr txBox="1"/>
          <p:nvPr/>
        </p:nvSpPr>
        <p:spPr>
          <a:xfrm>
            <a:off x="7680960" y="2194560"/>
            <a:ext cx="731520" cy="320040"/>
          </a:xfrm>
          <a:prstGeom prst="rect">
            <a:avLst/>
          </a:prstGeom>
          <a:noFill/>
          <a:ln/>
        </p:spPr>
        <p:txBody>
          <a:bodyPr wrap="square" lIns="0" tIns="0" rIns="0" bIns="0" rtlCol="0" anchor="ctr"/>
          <a:lstStyle/>
          <a:p>
            <a:pPr algn="r" indent="0" marL="0">
              <a:buNone/>
            </a:pPr>
            <a:r>
              <a:rPr lang="en-US" sz="1400" b="1" dirty="0">
                <a:solidFill>
                  <a:srgbClr val="B8AB84"/>
                </a:solidFill>
                <a:latin typeface="Cambria" pitchFamily="34" charset="0"/>
                <a:ea typeface="Cambria" pitchFamily="34" charset="-122"/>
                <a:cs typeface="Cambria" pitchFamily="34" charset="-120"/>
              </a:rPr>
              <a:t>0.64</a:t>
            </a:r>
            <a:endParaRPr lang="en-US" sz="1400" dirty="0"/>
          </a:p>
        </p:txBody>
      </p:sp>
      <p:sp>
        <p:nvSpPr>
          <p:cNvPr id="18" name="Text 16"/>
          <p:cNvSpPr txBox="1"/>
          <p:nvPr/>
        </p:nvSpPr>
        <p:spPr>
          <a:xfrm>
            <a:off x="4892040" y="2651760"/>
            <a:ext cx="822960"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β = 2</a:t>
            </a:r>
            <a:endParaRPr lang="en-US" sz="1200" dirty="0"/>
          </a:p>
        </p:txBody>
      </p:sp>
      <p:sp>
        <p:nvSpPr>
          <p:cNvPr id="19" name="Text 17"/>
          <p:cNvSpPr txBox="1"/>
          <p:nvPr/>
        </p:nvSpPr>
        <p:spPr>
          <a:xfrm>
            <a:off x="5760720" y="2651760"/>
            <a:ext cx="2011680" cy="320040"/>
          </a:xfrm>
          <a:prstGeom prst="rect">
            <a:avLst/>
          </a:prstGeom>
          <a:noFill/>
          <a:ln/>
        </p:spPr>
        <p:txBody>
          <a:bodyPr wrap="square" lIns="0" tIns="0" rIns="0" bIns="0" rtlCol="0" anchor="ctr"/>
          <a:lstStyle/>
          <a:p>
            <a:pPr indent="0" marL="0">
              <a:buNone/>
            </a:pPr>
            <a:r>
              <a:rPr lang="en-US" sz="1100" dirty="0">
                <a:solidFill>
                  <a:srgbClr val="E2E2E6"/>
                </a:solidFill>
                <a:latin typeface="Calibri" pitchFamily="34" charset="0"/>
                <a:ea typeface="Calibri" pitchFamily="34" charset="-122"/>
                <a:cs typeface="Calibri" pitchFamily="34" charset="-120"/>
              </a:rPr>
              <a:t>recall важнее</a:t>
            </a:r>
            <a:endParaRPr lang="en-US" sz="1100" dirty="0"/>
          </a:p>
        </p:txBody>
      </p:sp>
      <p:sp>
        <p:nvSpPr>
          <p:cNvPr id="20" name="Text 18"/>
          <p:cNvSpPr txBox="1"/>
          <p:nvPr/>
        </p:nvSpPr>
        <p:spPr>
          <a:xfrm>
            <a:off x="7680960" y="2651760"/>
            <a:ext cx="731520" cy="320040"/>
          </a:xfrm>
          <a:prstGeom prst="rect">
            <a:avLst/>
          </a:prstGeom>
          <a:noFill/>
          <a:ln/>
        </p:spPr>
        <p:txBody>
          <a:bodyPr wrap="square" lIns="0" tIns="0" rIns="0" bIns="0" rtlCol="0" anchor="ctr"/>
          <a:lstStyle/>
          <a:p>
            <a:pPr algn="r" indent="0" marL="0">
              <a:buNone/>
            </a:pPr>
            <a:r>
              <a:rPr lang="en-US" sz="1400" b="1" dirty="0">
                <a:solidFill>
                  <a:srgbClr val="B8AB84"/>
                </a:solidFill>
                <a:latin typeface="Cambria" pitchFamily="34" charset="0"/>
                <a:ea typeface="Cambria" pitchFamily="34" charset="-122"/>
                <a:cs typeface="Cambria" pitchFamily="34" charset="-120"/>
              </a:rPr>
              <a:t>0.55</a:t>
            </a:r>
            <a:endParaRPr lang="en-US" sz="1400" dirty="0"/>
          </a:p>
        </p:txBody>
      </p:sp>
      <p:sp>
        <p:nvSpPr>
          <p:cNvPr id="21" name="Text 19"/>
          <p:cNvSpPr txBox="1"/>
          <p:nvPr/>
        </p:nvSpPr>
        <p:spPr>
          <a:xfrm>
            <a:off x="4892040" y="3108960"/>
            <a:ext cx="822960"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β = 0.5</a:t>
            </a:r>
            <a:endParaRPr lang="en-US" sz="1200" dirty="0"/>
          </a:p>
        </p:txBody>
      </p:sp>
      <p:sp>
        <p:nvSpPr>
          <p:cNvPr id="22" name="Text 20"/>
          <p:cNvSpPr txBox="1"/>
          <p:nvPr/>
        </p:nvSpPr>
        <p:spPr>
          <a:xfrm>
            <a:off x="5760720" y="3108960"/>
            <a:ext cx="2011680" cy="320040"/>
          </a:xfrm>
          <a:prstGeom prst="rect">
            <a:avLst/>
          </a:prstGeom>
          <a:noFill/>
          <a:ln/>
        </p:spPr>
        <p:txBody>
          <a:bodyPr wrap="square" lIns="0" tIns="0" rIns="0" bIns="0" rtlCol="0" anchor="ctr"/>
          <a:lstStyle/>
          <a:p>
            <a:pPr indent="0" marL="0">
              <a:buNone/>
            </a:pPr>
            <a:r>
              <a:rPr lang="en-US" sz="1100" dirty="0">
                <a:solidFill>
                  <a:srgbClr val="E2E2E6"/>
                </a:solidFill>
                <a:latin typeface="Calibri" pitchFamily="34" charset="0"/>
                <a:ea typeface="Calibri" pitchFamily="34" charset="-122"/>
                <a:cs typeface="Calibri" pitchFamily="34" charset="-120"/>
              </a:rPr>
              <a:t>precision важнее</a:t>
            </a:r>
            <a:endParaRPr lang="en-US" sz="1100" dirty="0"/>
          </a:p>
        </p:txBody>
      </p:sp>
      <p:sp>
        <p:nvSpPr>
          <p:cNvPr id="23" name="Text 21"/>
          <p:cNvSpPr txBox="1"/>
          <p:nvPr/>
        </p:nvSpPr>
        <p:spPr>
          <a:xfrm>
            <a:off x="7680960" y="3108960"/>
            <a:ext cx="731520" cy="320040"/>
          </a:xfrm>
          <a:prstGeom prst="rect">
            <a:avLst/>
          </a:prstGeom>
          <a:noFill/>
          <a:ln/>
        </p:spPr>
        <p:txBody>
          <a:bodyPr wrap="square" lIns="0" tIns="0" rIns="0" bIns="0" rtlCol="0" anchor="ctr"/>
          <a:lstStyle/>
          <a:p>
            <a:pPr algn="r" indent="0" marL="0">
              <a:buNone/>
            </a:pPr>
            <a:r>
              <a:rPr lang="en-US" sz="1400" b="1" dirty="0">
                <a:solidFill>
                  <a:srgbClr val="B8AB84"/>
                </a:solidFill>
                <a:latin typeface="Cambria" pitchFamily="34" charset="0"/>
                <a:ea typeface="Cambria" pitchFamily="34" charset="-122"/>
                <a:cs typeface="Cambria" pitchFamily="34" charset="-120"/>
              </a:rPr>
              <a:t>0.78</a:t>
            </a:r>
            <a:endParaRPr lang="en-US" sz="1400" dirty="0"/>
          </a:p>
        </p:txBody>
      </p:sp>
      <p:sp>
        <p:nvSpPr>
          <p:cNvPr id="24" name="Shape 22"/>
          <p:cNvSpPr/>
          <p:nvPr/>
        </p:nvSpPr>
        <p:spPr>
          <a:xfrm>
            <a:off x="548640" y="3977640"/>
            <a:ext cx="8046720" cy="658368"/>
          </a:xfrm>
          <a:prstGeom prst="roundRect">
            <a:avLst>
              <a:gd name="adj" fmla="val 11111"/>
            </a:avLst>
          </a:prstGeom>
          <a:solidFill>
            <a:srgbClr val="1C1C22"/>
          </a:solidFill>
          <a:ln w="12700">
            <a:solidFill>
              <a:srgbClr val="1C1C22"/>
            </a:solidFill>
            <a:prstDash val="solid"/>
          </a:ln>
        </p:spPr>
      </p:sp>
      <p:sp>
        <p:nvSpPr>
          <p:cNvPr id="25" name="Text 23"/>
          <p:cNvSpPr txBox="1"/>
          <p:nvPr/>
        </p:nvSpPr>
        <p:spPr>
          <a:xfrm>
            <a:off x="822960" y="3977640"/>
            <a:ext cx="7589520" cy="658368"/>
          </a:xfrm>
          <a:prstGeom prst="rect">
            <a:avLst/>
          </a:prstGeom>
          <a:noFill/>
          <a:ln/>
        </p:spPr>
        <p:txBody>
          <a:bodyPr wrap="square" lIns="0" tIns="0" rIns="0" bIns="0" rtlCol="0" anchor="ctr"/>
          <a:lstStyle/>
          <a:p>
            <a:pPr indent="0" marL="0">
              <a:buNone/>
            </a:pPr>
            <a:r>
              <a:rPr lang="en-US" sz="1200" b="1" dirty="0">
                <a:solidFill>
                  <a:srgbClr val="B8AB84"/>
                </a:solidFill>
                <a:latin typeface="Calibri" pitchFamily="34" charset="0"/>
                <a:ea typeface="Calibri" pitchFamily="34" charset="-122"/>
                <a:cs typeface="Calibri" pitchFamily="34" charset="-120"/>
              </a:rPr>
              <a:t>Проверка: </a:t>
            </a:r>
            <a:pPr indent="0" marL="0">
              <a:buNone/>
            </a:pPr>
            <a:r>
              <a:rPr lang="en-US" sz="1200" dirty="0">
                <a:solidFill>
                  <a:srgbClr val="FFFFFF"/>
                </a:solidFill>
                <a:latin typeface="Calibri" pitchFamily="34" charset="0"/>
                <a:ea typeface="Calibri" pitchFamily="34" charset="-122"/>
                <a:cs typeface="Calibri" pitchFamily="34" charset="-120"/>
              </a:rPr>
              <a:t>у ленивого фильтра R = 0, значит F₁ = 0 – сколько бы ни было precision.</a:t>
            </a:r>
            <a:endParaRPr lang="en-US" sz="1200" dirty="0"/>
          </a:p>
        </p:txBody>
      </p:sp>
      <p:sp>
        <p:nvSpPr>
          <p:cNvPr id="26" name="Text 24"/>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27" name="Text 25"/>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ПОРОГ КЛАССИФИКАЦИИ</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Порог меняет баланс</a:t>
            </a:r>
            <a:endParaRPr lang="en-US" sz="2600" dirty="0"/>
          </a:p>
        </p:txBody>
      </p:sp>
      <p:graphicFrame>
        <p:nvGraphicFramePr>
          <p:cNvPr id="4" name="Chart 0" descr=""/>
          <p:cNvGraphicFramePr/>
          <p:nvPr/>
        </p:nvGraphicFramePr>
        <p:xfrm>
          <a:off x="457200" y="118872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0" y="129844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01</a:t>
            </a:r>
            <a:endParaRPr lang="en-US" sz="2000" dirty="0"/>
          </a:p>
        </p:txBody>
      </p:sp>
      <p:sp>
        <p:nvSpPr>
          <p:cNvPr id="6" name="Text 3"/>
          <p:cNvSpPr txBox="1"/>
          <p:nvPr/>
        </p:nvSpPr>
        <p:spPr>
          <a:xfrm>
            <a:off x="6263640" y="1325880"/>
            <a:ext cx="246888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Сначала вероятность</a:t>
            </a:r>
            <a:endParaRPr lang="en-US" sz="1350" dirty="0"/>
          </a:p>
        </p:txBody>
      </p:sp>
      <p:sp>
        <p:nvSpPr>
          <p:cNvPr id="7" name="Text 4"/>
          <p:cNvSpPr txBox="1"/>
          <p:nvPr/>
        </p:nvSpPr>
        <p:spPr>
          <a:xfrm>
            <a:off x="6263640" y="1609344"/>
            <a:ext cx="246888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Метка «1», если p ≥ t. Порог 0.5 – просто договоренность.</a:t>
            </a:r>
            <a:endParaRPr lang="en-US" sz="1050" dirty="0"/>
          </a:p>
        </p:txBody>
      </p:sp>
      <p:sp>
        <p:nvSpPr>
          <p:cNvPr id="8" name="Text 5"/>
          <p:cNvSpPr txBox="1"/>
          <p:nvPr/>
        </p:nvSpPr>
        <p:spPr>
          <a:xfrm>
            <a:off x="5669280" y="221284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02</a:t>
            </a:r>
            <a:endParaRPr lang="en-US" sz="2000" dirty="0"/>
          </a:p>
        </p:txBody>
      </p:sp>
      <p:sp>
        <p:nvSpPr>
          <p:cNvPr id="9" name="Text 6"/>
          <p:cNvSpPr txBox="1"/>
          <p:nvPr/>
        </p:nvSpPr>
        <p:spPr>
          <a:xfrm>
            <a:off x="6263640" y="2240280"/>
            <a:ext cx="246888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Порог ниже</a:t>
            </a:r>
            <a:endParaRPr lang="en-US" sz="1350" dirty="0"/>
          </a:p>
        </p:txBody>
      </p:sp>
      <p:sp>
        <p:nvSpPr>
          <p:cNvPr id="10" name="Text 7"/>
          <p:cNvSpPr txBox="1"/>
          <p:nvPr/>
        </p:nvSpPr>
        <p:spPr>
          <a:xfrm>
            <a:off x="6263640" y="2523744"/>
            <a:ext cx="246888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Модель чаще говорит «1»: recall растет, precision падает.</a:t>
            </a:r>
            <a:endParaRPr lang="en-US" sz="1050" dirty="0"/>
          </a:p>
        </p:txBody>
      </p:sp>
      <p:sp>
        <p:nvSpPr>
          <p:cNvPr id="11" name="Text 8"/>
          <p:cNvSpPr txBox="1"/>
          <p:nvPr/>
        </p:nvSpPr>
        <p:spPr>
          <a:xfrm>
            <a:off x="5669280" y="312724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03</a:t>
            </a:r>
            <a:endParaRPr lang="en-US" sz="2000" dirty="0"/>
          </a:p>
        </p:txBody>
      </p:sp>
      <p:sp>
        <p:nvSpPr>
          <p:cNvPr id="12" name="Text 9"/>
          <p:cNvSpPr txBox="1"/>
          <p:nvPr/>
        </p:nvSpPr>
        <p:spPr>
          <a:xfrm>
            <a:off x="6263640" y="3154680"/>
            <a:ext cx="246888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Порог выше</a:t>
            </a:r>
            <a:endParaRPr lang="en-US" sz="1350" dirty="0"/>
          </a:p>
        </p:txBody>
      </p:sp>
      <p:sp>
        <p:nvSpPr>
          <p:cNvPr id="13" name="Text 10"/>
          <p:cNvSpPr txBox="1"/>
          <p:nvPr/>
        </p:nvSpPr>
        <p:spPr>
          <a:xfrm>
            <a:off x="6263640" y="3438144"/>
            <a:ext cx="246888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Модель осторожнее: precision растет, recall падает.</a:t>
            </a:r>
            <a:endParaRPr lang="en-US" sz="1050" dirty="0"/>
          </a:p>
        </p:txBody>
      </p:sp>
      <p:sp>
        <p:nvSpPr>
          <p:cNvPr id="14" name="Text 11"/>
          <p:cNvSpPr txBox="1"/>
          <p:nvPr/>
        </p:nvSpPr>
        <p:spPr>
          <a:xfrm>
            <a:off x="5669280" y="4069080"/>
            <a:ext cx="3063240" cy="411480"/>
          </a:xfrm>
          <a:prstGeom prst="rect">
            <a:avLst/>
          </a:prstGeom>
          <a:noFill/>
          <a:ln/>
        </p:spPr>
        <p:txBody>
          <a:bodyPr wrap="square" lIns="0" tIns="0" rIns="0" bIns="0" rtlCol="0" anchor="t"/>
          <a:lstStyle/>
          <a:p>
            <a:pPr indent="0" marL="0">
              <a:buNone/>
            </a:pPr>
            <a:r>
              <a:rPr lang="en-US" sz="1050" i="1" dirty="0">
                <a:solidFill>
                  <a:srgbClr val="8F8260"/>
                </a:solidFill>
                <a:latin typeface="Calibri" pitchFamily="34" charset="0"/>
                <a:ea typeface="Calibri" pitchFamily="34" charset="-122"/>
                <a:cs typeface="Calibri" pitchFamily="34" charset="-120"/>
              </a:rPr>
              <a:t>Порог выбирают под задачу – после обучения, без переобучения модели.</a:t>
            </a:r>
            <a:endParaRPr lang="en-US" sz="1050" dirty="0"/>
          </a:p>
        </p:txBody>
      </p:sp>
      <p:sp>
        <p:nvSpPr>
          <p:cNvPr id="15" name="Text 1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16" name="Text 1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img/sec_roc.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6400" b="1" dirty="0">
                <a:solidFill>
                  <a:srgbClr val="B8AB84"/>
                </a:solidFill>
                <a:latin typeface="Cambria" pitchFamily="34" charset="0"/>
                <a:ea typeface="Cambria" pitchFamily="34" charset="-122"/>
                <a:cs typeface="Cambria" pitchFamily="34" charset="-120"/>
              </a:rPr>
              <a:t>03</a:t>
            </a:r>
            <a:endParaRPr lang="en-US" sz="6400" dirty="0"/>
          </a:p>
        </p:txBody>
      </p:sp>
      <p:sp>
        <p:nvSpPr>
          <p:cNvPr id="4" name="Text 1"/>
          <p:cNvSpPr txBox="1"/>
          <p:nvPr/>
        </p:nvSpPr>
        <p:spPr>
          <a:xfrm>
            <a:off x="548640" y="2121408"/>
            <a:ext cx="3657600" cy="1234440"/>
          </a:xfrm>
          <a:prstGeom prst="rect">
            <a:avLst/>
          </a:prstGeom>
          <a:noFill/>
          <a:ln/>
        </p:spPr>
        <p:txBody>
          <a:bodyPr wrap="square" lIns="0" tIns="0" rIns="0" bIns="0" rtlCol="0" anchor="ctr"/>
          <a:lstStyle/>
          <a:p>
            <a:pPr indent="0" marL="0">
              <a:buNone/>
            </a:pPr>
            <a:r>
              <a:rPr lang="en-US" sz="2500" b="1" dirty="0">
                <a:solidFill>
                  <a:srgbClr val="1C1C22"/>
                </a:solidFill>
                <a:latin typeface="Cambria" pitchFamily="34" charset="0"/>
                <a:ea typeface="Cambria" pitchFamily="34" charset="-122"/>
                <a:cs typeface="Cambria" pitchFamily="34" charset="-120"/>
              </a:rPr>
              <a:t>ROC-AUC и функции потерь</a:t>
            </a:r>
            <a:endParaRPr lang="en-US" sz="2500" dirty="0"/>
          </a:p>
        </p:txBody>
      </p:sp>
      <p:sp>
        <p:nvSpPr>
          <p:cNvPr id="5" name="Text 2"/>
          <p:cNvSpPr txBox="1"/>
          <p:nvPr/>
        </p:nvSpPr>
        <p:spPr>
          <a:xfrm>
            <a:off x="548640" y="3456432"/>
            <a:ext cx="3474720" cy="731520"/>
          </a:xfrm>
          <a:prstGeom prst="rect">
            <a:avLst/>
          </a:prstGeom>
          <a:noFill/>
          <a:ln/>
        </p:spPr>
        <p:txBody>
          <a:bodyPr wrap="square" lIns="0" tIns="0" rIns="0" bIns="0" rtlCol="0" anchor="t"/>
          <a:lstStyle/>
          <a:p>
            <a:pPr indent="0" marL="0">
              <a:buNone/>
            </a:pPr>
            <a:r>
              <a:rPr lang="en-US" sz="1200" dirty="0">
                <a:solidFill>
                  <a:srgbClr val="6E6E78"/>
                </a:solidFill>
                <a:latin typeface="Calibri" pitchFamily="34" charset="0"/>
                <a:ea typeface="Calibri" pitchFamily="34" charset="-122"/>
                <a:cs typeface="Calibri" pitchFamily="34" charset="-120"/>
              </a:rPr>
              <a:t>Оцениваем модель сразу при всех порогах и штрафуем за уверенные ошибки</a:t>
            </a:r>
            <a:endParaRPr lang="en-US" sz="12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FFFFFF"/>
                </a:solidFill>
                <a:latin typeface="Cambria" pitchFamily="34" charset="0"/>
                <a:ea typeface="Cambria" pitchFamily="34" charset="-122"/>
                <a:cs typeface="Cambria"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ROC-КРИВАЯ</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Все пороги на одном графике</a:t>
            </a:r>
            <a:endParaRPr lang="en-US" sz="2600" dirty="0"/>
          </a:p>
        </p:txBody>
      </p:sp>
      <p:pic>
        <p:nvPicPr>
          <p:cNvPr id="4" name="Image 0" descr="img/roc_toy.png">    </p:cNvPr>
          <p:cNvPicPr>
            <a:picLocks noChangeAspect="1"/>
          </p:cNvPicPr>
          <p:nvPr/>
        </p:nvPicPr>
        <p:blipFill>
          <a:blip r:embed="rId1"/>
          <a:stretch>
            <a:fillRect/>
          </a:stretch>
        </p:blipFill>
        <p:spPr>
          <a:xfrm>
            <a:off x="457200" y="1188720"/>
            <a:ext cx="3977640" cy="3227832"/>
          </a:xfrm>
          <a:prstGeom prst="rect">
            <a:avLst/>
          </a:prstGeom>
        </p:spPr>
      </p:pic>
      <p:sp>
        <p:nvSpPr>
          <p:cNvPr id="5" name="Text 2"/>
          <p:cNvSpPr txBox="1"/>
          <p:nvPr/>
        </p:nvSpPr>
        <p:spPr>
          <a:xfrm>
            <a:off x="4754880" y="125272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01</a:t>
            </a:r>
            <a:endParaRPr lang="en-US" sz="2000" dirty="0"/>
          </a:p>
        </p:txBody>
      </p:sp>
      <p:sp>
        <p:nvSpPr>
          <p:cNvPr id="6" name="Text 3"/>
          <p:cNvSpPr txBox="1"/>
          <p:nvPr/>
        </p:nvSpPr>
        <p:spPr>
          <a:xfrm>
            <a:off x="5349240" y="1280160"/>
            <a:ext cx="329184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Перебираем пороги</a:t>
            </a:r>
            <a:endParaRPr lang="en-US" sz="1350" dirty="0"/>
          </a:p>
        </p:txBody>
      </p:sp>
      <p:sp>
        <p:nvSpPr>
          <p:cNvPr id="7" name="Text 4"/>
          <p:cNvSpPr txBox="1"/>
          <p:nvPr/>
        </p:nvSpPr>
        <p:spPr>
          <a:xfrm>
            <a:off x="5349240" y="1563624"/>
            <a:ext cx="329184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От самой большой вероятности к самой маленькой.</a:t>
            </a:r>
            <a:endParaRPr lang="en-US" sz="1050" dirty="0"/>
          </a:p>
        </p:txBody>
      </p:sp>
      <p:sp>
        <p:nvSpPr>
          <p:cNvPr id="8" name="Text 5"/>
          <p:cNvSpPr txBox="1"/>
          <p:nvPr/>
        </p:nvSpPr>
        <p:spPr>
          <a:xfrm>
            <a:off x="4754880" y="198424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02</a:t>
            </a:r>
            <a:endParaRPr lang="en-US" sz="2000" dirty="0"/>
          </a:p>
        </p:txBody>
      </p:sp>
      <p:sp>
        <p:nvSpPr>
          <p:cNvPr id="9" name="Text 6"/>
          <p:cNvSpPr txBox="1"/>
          <p:nvPr/>
        </p:nvSpPr>
        <p:spPr>
          <a:xfrm>
            <a:off x="5349240" y="2011680"/>
            <a:ext cx="329184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Ставим точку</a:t>
            </a:r>
            <a:endParaRPr lang="en-US" sz="1350" dirty="0"/>
          </a:p>
        </p:txBody>
      </p:sp>
      <p:sp>
        <p:nvSpPr>
          <p:cNvPr id="10" name="Text 7"/>
          <p:cNvSpPr txBox="1"/>
          <p:nvPr/>
        </p:nvSpPr>
        <p:spPr>
          <a:xfrm>
            <a:off x="5349240" y="2295144"/>
            <a:ext cx="329184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По горизонтали FPR = FP / (FP + TN), по вертикали TPR – это recall.</a:t>
            </a:r>
            <a:endParaRPr lang="en-US" sz="1050" dirty="0"/>
          </a:p>
        </p:txBody>
      </p:sp>
      <p:sp>
        <p:nvSpPr>
          <p:cNvPr id="11" name="Text 8"/>
          <p:cNvSpPr txBox="1"/>
          <p:nvPr/>
        </p:nvSpPr>
        <p:spPr>
          <a:xfrm>
            <a:off x="4754880" y="2715768"/>
            <a:ext cx="548640" cy="365760"/>
          </a:xfrm>
          <a:prstGeom prst="rect">
            <a:avLst/>
          </a:prstGeom>
          <a:noFill/>
          <a:ln/>
        </p:spPr>
        <p:txBody>
          <a:bodyPr wrap="square" lIns="0" tIns="0" rIns="0" bIns="0" rtlCol="0" anchor="t"/>
          <a:lstStyle/>
          <a:p>
            <a:pPr indent="0" marL="0">
              <a:buNone/>
            </a:pPr>
            <a:r>
              <a:rPr lang="en-US" sz="2000" b="1" dirty="0">
                <a:solidFill>
                  <a:srgbClr val="B8AB84"/>
                </a:solidFill>
                <a:latin typeface="Cambria" pitchFamily="34" charset="0"/>
                <a:ea typeface="Cambria" pitchFamily="34" charset="-122"/>
                <a:cs typeface="Cambria" pitchFamily="34" charset="-120"/>
              </a:rPr>
              <a:t>03</a:t>
            </a:r>
            <a:endParaRPr lang="en-US" sz="2000" dirty="0"/>
          </a:p>
        </p:txBody>
      </p:sp>
      <p:sp>
        <p:nvSpPr>
          <p:cNvPr id="12" name="Text 9"/>
          <p:cNvSpPr txBox="1"/>
          <p:nvPr/>
        </p:nvSpPr>
        <p:spPr>
          <a:xfrm>
            <a:off x="5349240" y="2743200"/>
            <a:ext cx="3291840" cy="274320"/>
          </a:xfrm>
          <a:prstGeom prst="rect">
            <a:avLst/>
          </a:prstGeom>
          <a:noFill/>
          <a:ln/>
        </p:spPr>
        <p:txBody>
          <a:bodyPr wrap="square" lIns="0" tIns="0" rIns="0" bIns="0" rtlCol="0" anchor="t"/>
          <a:lstStyle/>
          <a:p>
            <a:pPr indent="0" marL="0">
              <a:buNone/>
            </a:pPr>
            <a:r>
              <a:rPr lang="en-US" sz="1350" b="1" dirty="0">
                <a:solidFill>
                  <a:srgbClr val="1C1C22"/>
                </a:solidFill>
                <a:latin typeface="Cambria" pitchFamily="34" charset="0"/>
                <a:ea typeface="Cambria" pitchFamily="34" charset="-122"/>
                <a:cs typeface="Cambria" pitchFamily="34" charset="-120"/>
              </a:rPr>
              <a:t>Считаем площадь</a:t>
            </a:r>
            <a:endParaRPr lang="en-US" sz="1350" dirty="0"/>
          </a:p>
        </p:txBody>
      </p:sp>
      <p:sp>
        <p:nvSpPr>
          <p:cNvPr id="13" name="Text 10"/>
          <p:cNvSpPr txBox="1"/>
          <p:nvPr/>
        </p:nvSpPr>
        <p:spPr>
          <a:xfrm>
            <a:off x="5349240" y="3026664"/>
            <a:ext cx="329184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AUC – площадь под кривой. Считаем трапециями.</a:t>
            </a:r>
            <a:endParaRPr lang="en-US" sz="1050" dirty="0"/>
          </a:p>
        </p:txBody>
      </p:sp>
      <p:sp>
        <p:nvSpPr>
          <p:cNvPr id="14" name="Shape 11"/>
          <p:cNvSpPr/>
          <p:nvPr/>
        </p:nvSpPr>
        <p:spPr>
          <a:xfrm>
            <a:off x="4754880" y="3566160"/>
            <a:ext cx="3886200" cy="822960"/>
          </a:xfrm>
          <a:prstGeom prst="roundRect">
            <a:avLst>
              <a:gd name="adj" fmla="val 8889"/>
            </a:avLst>
          </a:prstGeom>
          <a:solidFill>
            <a:srgbClr val="1C1C22"/>
          </a:solidFill>
          <a:ln w="12700">
            <a:solidFill>
              <a:srgbClr val="1C1C22"/>
            </a:solidFill>
            <a:prstDash val="solid"/>
          </a:ln>
        </p:spPr>
      </p:sp>
      <p:sp>
        <p:nvSpPr>
          <p:cNvPr id="15" name="Text 12"/>
          <p:cNvSpPr txBox="1"/>
          <p:nvPr/>
        </p:nvSpPr>
        <p:spPr>
          <a:xfrm>
            <a:off x="4983480" y="3566160"/>
            <a:ext cx="3566160" cy="822960"/>
          </a:xfrm>
          <a:prstGeom prst="rect">
            <a:avLst/>
          </a:prstGeom>
          <a:noFill/>
          <a:ln/>
        </p:spPr>
        <p:txBody>
          <a:bodyPr wrap="square" lIns="0" tIns="0" rIns="0" bIns="0" rtlCol="0" anchor="ctr"/>
          <a:lstStyle/>
          <a:p>
            <a:pPr indent="0" marL="0">
              <a:buNone/>
            </a:pPr>
            <a:r>
              <a:rPr lang="en-US" sz="1150" b="1" dirty="0">
                <a:solidFill>
                  <a:srgbClr val="B8AB84"/>
                </a:solidFill>
                <a:latin typeface="Calibri" pitchFamily="34" charset="0"/>
                <a:ea typeface="Calibri" pitchFamily="34" charset="-122"/>
                <a:cs typeface="Calibri" pitchFamily="34" charset="-120"/>
              </a:rPr>
              <a:t>AUC = 1</a:t>
            </a:r>
            <a:pPr indent="0" marL="0">
              <a:buNone/>
            </a:pPr>
            <a:r>
              <a:rPr lang="en-US" sz="1150" dirty="0">
                <a:solidFill>
                  <a:srgbClr val="FFFFFF"/>
                </a:solidFill>
                <a:latin typeface="Calibri" pitchFamily="34" charset="0"/>
                <a:ea typeface="Calibri" pitchFamily="34" charset="-122"/>
                <a:cs typeface="Calibri" pitchFamily="34" charset="-120"/>
              </a:rPr>
              <a:t> – идеальная модель</a:t>
            </a:r>
            <a:endParaRPr lang="en-US" sz="1150" dirty="0"/>
          </a:p>
          <a:p>
            <a:pPr indent="0" marL="0">
              <a:buNone/>
            </a:pPr>
            <a:r>
              <a:rPr lang="en-US" sz="1150" b="1" dirty="0">
                <a:solidFill>
                  <a:srgbClr val="B8AB84"/>
                </a:solidFill>
                <a:latin typeface="Calibri" pitchFamily="34" charset="0"/>
                <a:ea typeface="Calibri" pitchFamily="34" charset="-122"/>
                <a:cs typeface="Calibri" pitchFamily="34" charset="-120"/>
              </a:rPr>
              <a:t>AUC = 0.5</a:t>
            </a:r>
            <a:pPr indent="0" marL="0">
              <a:buNone/>
            </a:pPr>
            <a:r>
              <a:rPr lang="en-US" sz="1150" dirty="0">
                <a:solidFill>
                  <a:srgbClr val="FFFFFF"/>
                </a:solidFill>
                <a:latin typeface="Calibri" pitchFamily="34" charset="0"/>
                <a:ea typeface="Calibri" pitchFamily="34" charset="-122"/>
                <a:cs typeface="Calibri" pitchFamily="34" charset="-120"/>
              </a:rPr>
              <a:t> – подбрасывание монетки</a:t>
            </a:r>
            <a:endParaRPr lang="en-US" sz="1150" dirty="0"/>
          </a:p>
        </p:txBody>
      </p:sp>
      <p:sp>
        <p:nvSpPr>
          <p:cNvPr id="16" name="Text 1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17" name="Text 1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СМЫСЛ AUC</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AUC – доля верно упорядоченных пар</a:t>
            </a:r>
            <a:endParaRPr lang="en-US" sz="2600" dirty="0"/>
          </a:p>
        </p:txBody>
      </p:sp>
      <p:sp>
        <p:nvSpPr>
          <p:cNvPr id="4" name="Text 2"/>
          <p:cNvSpPr txBox="1"/>
          <p:nvPr/>
        </p:nvSpPr>
        <p:spPr>
          <a:xfrm>
            <a:off x="1417320" y="1188720"/>
            <a:ext cx="3200400" cy="182880"/>
          </a:xfrm>
          <a:prstGeom prst="rect">
            <a:avLst/>
          </a:prstGeom>
          <a:noFill/>
          <a:ln/>
        </p:spPr>
        <p:txBody>
          <a:bodyPr wrap="square" lIns="0" tIns="0" rIns="0" bIns="0" rtlCol="0" anchor="t"/>
          <a:lstStyle/>
          <a:p>
            <a:pPr indent="0" marL="0">
              <a:buNone/>
            </a:pPr>
            <a:r>
              <a:rPr lang="en-US" sz="900" b="1" dirty="0">
                <a:solidFill>
                  <a:srgbClr val="6E6E78"/>
                </a:solidFill>
                <a:latin typeface="Calibri" pitchFamily="34" charset="0"/>
                <a:ea typeface="Calibri" pitchFamily="34" charset="-122"/>
                <a:cs typeface="Calibri" pitchFamily="34" charset="-120"/>
              </a:rPr>
              <a:t>обычные письма →</a:t>
            </a:r>
            <a:endParaRPr lang="en-US" sz="900" dirty="0"/>
          </a:p>
        </p:txBody>
      </p:sp>
      <p:sp>
        <p:nvSpPr>
          <p:cNvPr id="5" name="Text 3"/>
          <p:cNvSpPr txBox="1"/>
          <p:nvPr/>
        </p:nvSpPr>
        <p:spPr>
          <a:xfrm>
            <a:off x="457200" y="1389888"/>
            <a:ext cx="868680" cy="182880"/>
          </a:xfrm>
          <a:prstGeom prst="rect">
            <a:avLst/>
          </a:prstGeom>
          <a:noFill/>
          <a:ln/>
        </p:spPr>
        <p:txBody>
          <a:bodyPr wrap="square" lIns="0" tIns="0" rIns="0" bIns="0" rtlCol="0" anchor="t"/>
          <a:lstStyle/>
          <a:p>
            <a:pPr algn="r" indent="0" marL="0">
              <a:buNone/>
            </a:pPr>
            <a:r>
              <a:rPr lang="en-US" sz="900" b="1" dirty="0">
                <a:solidFill>
                  <a:srgbClr val="8F8260"/>
                </a:solidFill>
                <a:latin typeface="Calibri" pitchFamily="34" charset="0"/>
                <a:ea typeface="Calibri" pitchFamily="34" charset="-122"/>
                <a:cs typeface="Calibri" pitchFamily="34" charset="-120"/>
              </a:rPr>
              <a:t>спам ↓</a:t>
            </a:r>
            <a:endParaRPr lang="en-US" sz="900" dirty="0"/>
          </a:p>
        </p:txBody>
      </p:sp>
      <p:sp>
        <p:nvSpPr>
          <p:cNvPr id="6" name="Text 4"/>
          <p:cNvSpPr txBox="1"/>
          <p:nvPr/>
        </p:nvSpPr>
        <p:spPr>
          <a:xfrm>
            <a:off x="1417320" y="1389888"/>
            <a:ext cx="475488"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0.7</a:t>
            </a:r>
            <a:endParaRPr lang="en-US" sz="950" dirty="0"/>
          </a:p>
        </p:txBody>
      </p:sp>
      <p:sp>
        <p:nvSpPr>
          <p:cNvPr id="7" name="Text 5"/>
          <p:cNvSpPr txBox="1"/>
          <p:nvPr/>
        </p:nvSpPr>
        <p:spPr>
          <a:xfrm>
            <a:off x="1947672" y="1389888"/>
            <a:ext cx="475488"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0.4</a:t>
            </a:r>
            <a:endParaRPr lang="en-US" sz="950" dirty="0"/>
          </a:p>
        </p:txBody>
      </p:sp>
      <p:sp>
        <p:nvSpPr>
          <p:cNvPr id="8" name="Text 6"/>
          <p:cNvSpPr txBox="1"/>
          <p:nvPr/>
        </p:nvSpPr>
        <p:spPr>
          <a:xfrm>
            <a:off x="2478024" y="1389888"/>
            <a:ext cx="475488"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0.35</a:t>
            </a:r>
            <a:endParaRPr lang="en-US" sz="950" dirty="0"/>
          </a:p>
        </p:txBody>
      </p:sp>
      <p:sp>
        <p:nvSpPr>
          <p:cNvPr id="9" name="Text 7"/>
          <p:cNvSpPr txBox="1"/>
          <p:nvPr/>
        </p:nvSpPr>
        <p:spPr>
          <a:xfrm>
            <a:off x="3008376" y="1389888"/>
            <a:ext cx="475488"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0.2</a:t>
            </a:r>
            <a:endParaRPr lang="en-US" sz="950" dirty="0"/>
          </a:p>
        </p:txBody>
      </p:sp>
      <p:sp>
        <p:nvSpPr>
          <p:cNvPr id="10" name="Text 8"/>
          <p:cNvSpPr txBox="1"/>
          <p:nvPr/>
        </p:nvSpPr>
        <p:spPr>
          <a:xfrm>
            <a:off x="3538728" y="1389888"/>
            <a:ext cx="475488"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0.1</a:t>
            </a:r>
            <a:endParaRPr lang="en-US" sz="950" dirty="0"/>
          </a:p>
        </p:txBody>
      </p:sp>
      <p:sp>
        <p:nvSpPr>
          <p:cNvPr id="11" name="Text 9"/>
          <p:cNvSpPr txBox="1"/>
          <p:nvPr/>
        </p:nvSpPr>
        <p:spPr>
          <a:xfrm>
            <a:off x="4069080" y="1389888"/>
            <a:ext cx="475488"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0.05</a:t>
            </a:r>
            <a:endParaRPr lang="en-US" sz="950" dirty="0"/>
          </a:p>
        </p:txBody>
      </p:sp>
      <p:sp>
        <p:nvSpPr>
          <p:cNvPr id="12" name="Text 10"/>
          <p:cNvSpPr txBox="1"/>
          <p:nvPr/>
        </p:nvSpPr>
        <p:spPr>
          <a:xfrm>
            <a:off x="731520" y="1600200"/>
            <a:ext cx="594360" cy="475488"/>
          </a:xfrm>
          <a:prstGeom prst="rect">
            <a:avLst/>
          </a:prstGeom>
          <a:noFill/>
          <a:ln/>
        </p:spPr>
        <p:txBody>
          <a:bodyPr wrap="square" lIns="0" tIns="0" rIns="0" bIns="0" rtlCol="0" anchor="ctr"/>
          <a:lstStyle/>
          <a:p>
            <a:pPr algn="r" indent="0" marL="0">
              <a:buNone/>
            </a:pPr>
            <a:r>
              <a:rPr lang="en-US" sz="950" b="1" dirty="0">
                <a:solidFill>
                  <a:srgbClr val="8F8260"/>
                </a:solidFill>
                <a:latin typeface="Calibri" pitchFamily="34" charset="0"/>
                <a:ea typeface="Calibri" pitchFamily="34" charset="-122"/>
                <a:cs typeface="Calibri" pitchFamily="34" charset="-120"/>
              </a:rPr>
              <a:t>0.9</a:t>
            </a:r>
            <a:endParaRPr lang="en-US" sz="950" dirty="0"/>
          </a:p>
        </p:txBody>
      </p:sp>
      <p:sp>
        <p:nvSpPr>
          <p:cNvPr id="13" name="Shape 11"/>
          <p:cNvSpPr/>
          <p:nvPr/>
        </p:nvSpPr>
        <p:spPr>
          <a:xfrm>
            <a:off x="1417320" y="1600200"/>
            <a:ext cx="475488" cy="475488"/>
          </a:xfrm>
          <a:prstGeom prst="roundRect">
            <a:avLst>
              <a:gd name="adj" fmla="val 9615"/>
            </a:avLst>
          </a:prstGeom>
          <a:solidFill>
            <a:srgbClr val="B8AB84"/>
          </a:solidFill>
          <a:ln w="9525">
            <a:solidFill>
              <a:srgbClr val="B8AB84"/>
            </a:solidFill>
            <a:prstDash val="solid"/>
          </a:ln>
        </p:spPr>
      </p:sp>
      <p:sp>
        <p:nvSpPr>
          <p:cNvPr id="14" name="Shape 12"/>
          <p:cNvSpPr/>
          <p:nvPr/>
        </p:nvSpPr>
        <p:spPr>
          <a:xfrm>
            <a:off x="1947672" y="1600200"/>
            <a:ext cx="475488" cy="475488"/>
          </a:xfrm>
          <a:prstGeom prst="roundRect">
            <a:avLst>
              <a:gd name="adj" fmla="val 9615"/>
            </a:avLst>
          </a:prstGeom>
          <a:solidFill>
            <a:srgbClr val="B8AB84"/>
          </a:solidFill>
          <a:ln w="9525">
            <a:solidFill>
              <a:srgbClr val="B8AB84"/>
            </a:solidFill>
            <a:prstDash val="solid"/>
          </a:ln>
        </p:spPr>
      </p:sp>
      <p:sp>
        <p:nvSpPr>
          <p:cNvPr id="15" name="Shape 13"/>
          <p:cNvSpPr/>
          <p:nvPr/>
        </p:nvSpPr>
        <p:spPr>
          <a:xfrm>
            <a:off x="2478024" y="1600200"/>
            <a:ext cx="475488" cy="475488"/>
          </a:xfrm>
          <a:prstGeom prst="roundRect">
            <a:avLst>
              <a:gd name="adj" fmla="val 9615"/>
            </a:avLst>
          </a:prstGeom>
          <a:solidFill>
            <a:srgbClr val="B8AB84"/>
          </a:solidFill>
          <a:ln w="9525">
            <a:solidFill>
              <a:srgbClr val="B8AB84"/>
            </a:solidFill>
            <a:prstDash val="solid"/>
          </a:ln>
        </p:spPr>
      </p:sp>
      <p:sp>
        <p:nvSpPr>
          <p:cNvPr id="16" name="Shape 14"/>
          <p:cNvSpPr/>
          <p:nvPr/>
        </p:nvSpPr>
        <p:spPr>
          <a:xfrm>
            <a:off x="3008376" y="1600200"/>
            <a:ext cx="475488" cy="475488"/>
          </a:xfrm>
          <a:prstGeom prst="roundRect">
            <a:avLst>
              <a:gd name="adj" fmla="val 9615"/>
            </a:avLst>
          </a:prstGeom>
          <a:solidFill>
            <a:srgbClr val="B8AB84"/>
          </a:solidFill>
          <a:ln w="9525">
            <a:solidFill>
              <a:srgbClr val="B8AB84"/>
            </a:solidFill>
            <a:prstDash val="solid"/>
          </a:ln>
        </p:spPr>
      </p:sp>
      <p:sp>
        <p:nvSpPr>
          <p:cNvPr id="17" name="Shape 15"/>
          <p:cNvSpPr/>
          <p:nvPr/>
        </p:nvSpPr>
        <p:spPr>
          <a:xfrm>
            <a:off x="3538728" y="1600200"/>
            <a:ext cx="475488" cy="475488"/>
          </a:xfrm>
          <a:prstGeom prst="roundRect">
            <a:avLst>
              <a:gd name="adj" fmla="val 9615"/>
            </a:avLst>
          </a:prstGeom>
          <a:solidFill>
            <a:srgbClr val="B8AB84"/>
          </a:solidFill>
          <a:ln w="9525">
            <a:solidFill>
              <a:srgbClr val="B8AB84"/>
            </a:solidFill>
            <a:prstDash val="solid"/>
          </a:ln>
        </p:spPr>
      </p:sp>
      <p:sp>
        <p:nvSpPr>
          <p:cNvPr id="18" name="Shape 16"/>
          <p:cNvSpPr/>
          <p:nvPr/>
        </p:nvSpPr>
        <p:spPr>
          <a:xfrm>
            <a:off x="4069080" y="1600200"/>
            <a:ext cx="475488" cy="475488"/>
          </a:xfrm>
          <a:prstGeom prst="roundRect">
            <a:avLst>
              <a:gd name="adj" fmla="val 9615"/>
            </a:avLst>
          </a:prstGeom>
          <a:solidFill>
            <a:srgbClr val="B8AB84"/>
          </a:solidFill>
          <a:ln w="9525">
            <a:solidFill>
              <a:srgbClr val="B8AB84"/>
            </a:solidFill>
            <a:prstDash val="solid"/>
          </a:ln>
        </p:spPr>
      </p:sp>
      <p:sp>
        <p:nvSpPr>
          <p:cNvPr id="19" name="Text 17"/>
          <p:cNvSpPr txBox="1"/>
          <p:nvPr/>
        </p:nvSpPr>
        <p:spPr>
          <a:xfrm>
            <a:off x="731520" y="2130552"/>
            <a:ext cx="594360" cy="475488"/>
          </a:xfrm>
          <a:prstGeom prst="rect">
            <a:avLst/>
          </a:prstGeom>
          <a:noFill/>
          <a:ln/>
        </p:spPr>
        <p:txBody>
          <a:bodyPr wrap="square" lIns="0" tIns="0" rIns="0" bIns="0" rtlCol="0" anchor="ctr"/>
          <a:lstStyle/>
          <a:p>
            <a:pPr algn="r" indent="0" marL="0">
              <a:buNone/>
            </a:pPr>
            <a:r>
              <a:rPr lang="en-US" sz="950" b="1" dirty="0">
                <a:solidFill>
                  <a:srgbClr val="8F8260"/>
                </a:solidFill>
                <a:latin typeface="Calibri" pitchFamily="34" charset="0"/>
                <a:ea typeface="Calibri" pitchFamily="34" charset="-122"/>
                <a:cs typeface="Calibri" pitchFamily="34" charset="-120"/>
              </a:rPr>
              <a:t>0.8</a:t>
            </a:r>
            <a:endParaRPr lang="en-US" sz="950" dirty="0"/>
          </a:p>
        </p:txBody>
      </p:sp>
      <p:sp>
        <p:nvSpPr>
          <p:cNvPr id="20" name="Shape 18"/>
          <p:cNvSpPr/>
          <p:nvPr/>
        </p:nvSpPr>
        <p:spPr>
          <a:xfrm>
            <a:off x="1417320" y="2130552"/>
            <a:ext cx="475488" cy="475488"/>
          </a:xfrm>
          <a:prstGeom prst="roundRect">
            <a:avLst>
              <a:gd name="adj" fmla="val 9615"/>
            </a:avLst>
          </a:prstGeom>
          <a:solidFill>
            <a:srgbClr val="B8AB84"/>
          </a:solidFill>
          <a:ln w="9525">
            <a:solidFill>
              <a:srgbClr val="B8AB84"/>
            </a:solidFill>
            <a:prstDash val="solid"/>
          </a:ln>
        </p:spPr>
      </p:sp>
      <p:sp>
        <p:nvSpPr>
          <p:cNvPr id="21" name="Shape 19"/>
          <p:cNvSpPr/>
          <p:nvPr/>
        </p:nvSpPr>
        <p:spPr>
          <a:xfrm>
            <a:off x="1947672" y="2130552"/>
            <a:ext cx="475488" cy="475488"/>
          </a:xfrm>
          <a:prstGeom prst="roundRect">
            <a:avLst>
              <a:gd name="adj" fmla="val 9615"/>
            </a:avLst>
          </a:prstGeom>
          <a:solidFill>
            <a:srgbClr val="B8AB84"/>
          </a:solidFill>
          <a:ln w="9525">
            <a:solidFill>
              <a:srgbClr val="B8AB84"/>
            </a:solidFill>
            <a:prstDash val="solid"/>
          </a:ln>
        </p:spPr>
      </p:sp>
      <p:sp>
        <p:nvSpPr>
          <p:cNvPr id="22" name="Shape 20"/>
          <p:cNvSpPr/>
          <p:nvPr/>
        </p:nvSpPr>
        <p:spPr>
          <a:xfrm>
            <a:off x="2478024" y="2130552"/>
            <a:ext cx="475488" cy="475488"/>
          </a:xfrm>
          <a:prstGeom prst="roundRect">
            <a:avLst>
              <a:gd name="adj" fmla="val 9615"/>
            </a:avLst>
          </a:prstGeom>
          <a:solidFill>
            <a:srgbClr val="B8AB84"/>
          </a:solidFill>
          <a:ln w="9525">
            <a:solidFill>
              <a:srgbClr val="B8AB84"/>
            </a:solidFill>
            <a:prstDash val="solid"/>
          </a:ln>
        </p:spPr>
      </p:sp>
      <p:sp>
        <p:nvSpPr>
          <p:cNvPr id="23" name="Shape 21"/>
          <p:cNvSpPr/>
          <p:nvPr/>
        </p:nvSpPr>
        <p:spPr>
          <a:xfrm>
            <a:off x="3008376" y="2130552"/>
            <a:ext cx="475488" cy="475488"/>
          </a:xfrm>
          <a:prstGeom prst="roundRect">
            <a:avLst>
              <a:gd name="adj" fmla="val 9615"/>
            </a:avLst>
          </a:prstGeom>
          <a:solidFill>
            <a:srgbClr val="B8AB84"/>
          </a:solidFill>
          <a:ln w="9525">
            <a:solidFill>
              <a:srgbClr val="B8AB84"/>
            </a:solidFill>
            <a:prstDash val="solid"/>
          </a:ln>
        </p:spPr>
      </p:sp>
      <p:sp>
        <p:nvSpPr>
          <p:cNvPr id="24" name="Shape 22"/>
          <p:cNvSpPr/>
          <p:nvPr/>
        </p:nvSpPr>
        <p:spPr>
          <a:xfrm>
            <a:off x="3538728" y="2130552"/>
            <a:ext cx="475488" cy="475488"/>
          </a:xfrm>
          <a:prstGeom prst="roundRect">
            <a:avLst>
              <a:gd name="adj" fmla="val 9615"/>
            </a:avLst>
          </a:prstGeom>
          <a:solidFill>
            <a:srgbClr val="B8AB84"/>
          </a:solidFill>
          <a:ln w="9525">
            <a:solidFill>
              <a:srgbClr val="B8AB84"/>
            </a:solidFill>
            <a:prstDash val="solid"/>
          </a:ln>
        </p:spPr>
      </p:sp>
      <p:sp>
        <p:nvSpPr>
          <p:cNvPr id="25" name="Shape 23"/>
          <p:cNvSpPr/>
          <p:nvPr/>
        </p:nvSpPr>
        <p:spPr>
          <a:xfrm>
            <a:off x="4069080" y="2130552"/>
            <a:ext cx="475488" cy="475488"/>
          </a:xfrm>
          <a:prstGeom prst="roundRect">
            <a:avLst>
              <a:gd name="adj" fmla="val 9615"/>
            </a:avLst>
          </a:prstGeom>
          <a:solidFill>
            <a:srgbClr val="B8AB84"/>
          </a:solidFill>
          <a:ln w="9525">
            <a:solidFill>
              <a:srgbClr val="B8AB84"/>
            </a:solidFill>
            <a:prstDash val="solid"/>
          </a:ln>
        </p:spPr>
      </p:sp>
      <p:sp>
        <p:nvSpPr>
          <p:cNvPr id="26" name="Text 24"/>
          <p:cNvSpPr txBox="1"/>
          <p:nvPr/>
        </p:nvSpPr>
        <p:spPr>
          <a:xfrm>
            <a:off x="731520" y="2660904"/>
            <a:ext cx="594360" cy="475488"/>
          </a:xfrm>
          <a:prstGeom prst="rect">
            <a:avLst/>
          </a:prstGeom>
          <a:noFill/>
          <a:ln/>
        </p:spPr>
        <p:txBody>
          <a:bodyPr wrap="square" lIns="0" tIns="0" rIns="0" bIns="0" rtlCol="0" anchor="ctr"/>
          <a:lstStyle/>
          <a:p>
            <a:pPr algn="r" indent="0" marL="0">
              <a:buNone/>
            </a:pPr>
            <a:r>
              <a:rPr lang="en-US" sz="950" b="1" dirty="0">
                <a:solidFill>
                  <a:srgbClr val="8F8260"/>
                </a:solidFill>
                <a:latin typeface="Calibri" pitchFamily="34" charset="0"/>
                <a:ea typeface="Calibri" pitchFamily="34" charset="-122"/>
                <a:cs typeface="Calibri" pitchFamily="34" charset="-120"/>
              </a:rPr>
              <a:t>0.6</a:t>
            </a:r>
            <a:endParaRPr lang="en-US" sz="950" dirty="0"/>
          </a:p>
        </p:txBody>
      </p:sp>
      <p:sp>
        <p:nvSpPr>
          <p:cNvPr id="27" name="Shape 25"/>
          <p:cNvSpPr/>
          <p:nvPr/>
        </p:nvSpPr>
        <p:spPr>
          <a:xfrm>
            <a:off x="1417320" y="2660904"/>
            <a:ext cx="475488" cy="475488"/>
          </a:xfrm>
          <a:prstGeom prst="roundRect">
            <a:avLst>
              <a:gd name="adj" fmla="val 9615"/>
            </a:avLst>
          </a:prstGeom>
          <a:solidFill>
            <a:srgbClr val="F2F1ED"/>
          </a:solidFill>
          <a:ln w="9525">
            <a:solidFill>
              <a:srgbClr val="D8D6CE"/>
            </a:solidFill>
            <a:prstDash val="solid"/>
          </a:ln>
        </p:spPr>
      </p:sp>
      <p:sp>
        <p:nvSpPr>
          <p:cNvPr id="28" name="Text 26"/>
          <p:cNvSpPr txBox="1"/>
          <p:nvPr/>
        </p:nvSpPr>
        <p:spPr>
          <a:xfrm>
            <a:off x="1417320" y="2660904"/>
            <a:ext cx="475488" cy="475488"/>
          </a:xfrm>
          <a:prstGeom prst="rect">
            <a:avLst/>
          </a:prstGeom>
          <a:noFill/>
          <a:ln/>
        </p:spPr>
        <p:txBody>
          <a:bodyPr wrap="square" lIns="0" tIns="0" rIns="0" bIns="0" rtlCol="0" anchor="ctr"/>
          <a:lstStyle/>
          <a:p>
            <a:pPr algn="ctr" indent="0" marL="0">
              <a:buNone/>
            </a:pPr>
            <a:r>
              <a:rPr lang="en-US" sz="1200" b="1" dirty="0">
                <a:solidFill>
                  <a:srgbClr val="6E6E78"/>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1947672" y="2660904"/>
            <a:ext cx="475488" cy="475488"/>
          </a:xfrm>
          <a:prstGeom prst="roundRect">
            <a:avLst>
              <a:gd name="adj" fmla="val 9615"/>
            </a:avLst>
          </a:prstGeom>
          <a:solidFill>
            <a:srgbClr val="B8AB84"/>
          </a:solidFill>
          <a:ln w="9525">
            <a:solidFill>
              <a:srgbClr val="B8AB84"/>
            </a:solidFill>
            <a:prstDash val="solid"/>
          </a:ln>
        </p:spPr>
      </p:sp>
      <p:sp>
        <p:nvSpPr>
          <p:cNvPr id="30" name="Shape 28"/>
          <p:cNvSpPr/>
          <p:nvPr/>
        </p:nvSpPr>
        <p:spPr>
          <a:xfrm>
            <a:off x="2478024" y="2660904"/>
            <a:ext cx="475488" cy="475488"/>
          </a:xfrm>
          <a:prstGeom prst="roundRect">
            <a:avLst>
              <a:gd name="adj" fmla="val 9615"/>
            </a:avLst>
          </a:prstGeom>
          <a:solidFill>
            <a:srgbClr val="B8AB84"/>
          </a:solidFill>
          <a:ln w="9525">
            <a:solidFill>
              <a:srgbClr val="B8AB84"/>
            </a:solidFill>
            <a:prstDash val="solid"/>
          </a:ln>
        </p:spPr>
      </p:sp>
      <p:sp>
        <p:nvSpPr>
          <p:cNvPr id="31" name="Shape 29"/>
          <p:cNvSpPr/>
          <p:nvPr/>
        </p:nvSpPr>
        <p:spPr>
          <a:xfrm>
            <a:off x="3008376" y="2660904"/>
            <a:ext cx="475488" cy="475488"/>
          </a:xfrm>
          <a:prstGeom prst="roundRect">
            <a:avLst>
              <a:gd name="adj" fmla="val 9615"/>
            </a:avLst>
          </a:prstGeom>
          <a:solidFill>
            <a:srgbClr val="B8AB84"/>
          </a:solidFill>
          <a:ln w="9525">
            <a:solidFill>
              <a:srgbClr val="B8AB84"/>
            </a:solidFill>
            <a:prstDash val="solid"/>
          </a:ln>
        </p:spPr>
      </p:sp>
      <p:sp>
        <p:nvSpPr>
          <p:cNvPr id="32" name="Shape 30"/>
          <p:cNvSpPr/>
          <p:nvPr/>
        </p:nvSpPr>
        <p:spPr>
          <a:xfrm>
            <a:off x="3538728" y="2660904"/>
            <a:ext cx="475488" cy="475488"/>
          </a:xfrm>
          <a:prstGeom prst="roundRect">
            <a:avLst>
              <a:gd name="adj" fmla="val 9615"/>
            </a:avLst>
          </a:prstGeom>
          <a:solidFill>
            <a:srgbClr val="B8AB84"/>
          </a:solidFill>
          <a:ln w="9525">
            <a:solidFill>
              <a:srgbClr val="B8AB84"/>
            </a:solidFill>
            <a:prstDash val="solid"/>
          </a:ln>
        </p:spPr>
      </p:sp>
      <p:sp>
        <p:nvSpPr>
          <p:cNvPr id="33" name="Shape 31"/>
          <p:cNvSpPr/>
          <p:nvPr/>
        </p:nvSpPr>
        <p:spPr>
          <a:xfrm>
            <a:off x="4069080" y="2660904"/>
            <a:ext cx="475488" cy="475488"/>
          </a:xfrm>
          <a:prstGeom prst="roundRect">
            <a:avLst>
              <a:gd name="adj" fmla="val 9615"/>
            </a:avLst>
          </a:prstGeom>
          <a:solidFill>
            <a:srgbClr val="B8AB84"/>
          </a:solidFill>
          <a:ln w="9525">
            <a:solidFill>
              <a:srgbClr val="B8AB84"/>
            </a:solidFill>
            <a:prstDash val="solid"/>
          </a:ln>
        </p:spPr>
      </p:sp>
      <p:sp>
        <p:nvSpPr>
          <p:cNvPr id="34" name="Text 32"/>
          <p:cNvSpPr txBox="1"/>
          <p:nvPr/>
        </p:nvSpPr>
        <p:spPr>
          <a:xfrm>
            <a:off x="731520" y="3191256"/>
            <a:ext cx="594360" cy="475488"/>
          </a:xfrm>
          <a:prstGeom prst="rect">
            <a:avLst/>
          </a:prstGeom>
          <a:noFill/>
          <a:ln/>
        </p:spPr>
        <p:txBody>
          <a:bodyPr wrap="square" lIns="0" tIns="0" rIns="0" bIns="0" rtlCol="0" anchor="ctr"/>
          <a:lstStyle/>
          <a:p>
            <a:pPr algn="r" indent="0" marL="0">
              <a:buNone/>
            </a:pPr>
            <a:r>
              <a:rPr lang="en-US" sz="950" b="1" dirty="0">
                <a:solidFill>
                  <a:srgbClr val="8F8260"/>
                </a:solidFill>
                <a:latin typeface="Calibri" pitchFamily="34" charset="0"/>
                <a:ea typeface="Calibri" pitchFamily="34" charset="-122"/>
                <a:cs typeface="Calibri" pitchFamily="34" charset="-120"/>
              </a:rPr>
              <a:t>0.3</a:t>
            </a:r>
            <a:endParaRPr lang="en-US" sz="950" dirty="0"/>
          </a:p>
        </p:txBody>
      </p:sp>
      <p:sp>
        <p:nvSpPr>
          <p:cNvPr id="35" name="Shape 33"/>
          <p:cNvSpPr/>
          <p:nvPr/>
        </p:nvSpPr>
        <p:spPr>
          <a:xfrm>
            <a:off x="1417320" y="3191256"/>
            <a:ext cx="475488" cy="475488"/>
          </a:xfrm>
          <a:prstGeom prst="roundRect">
            <a:avLst>
              <a:gd name="adj" fmla="val 9615"/>
            </a:avLst>
          </a:prstGeom>
          <a:solidFill>
            <a:srgbClr val="F2F1ED"/>
          </a:solidFill>
          <a:ln w="9525">
            <a:solidFill>
              <a:srgbClr val="D8D6CE"/>
            </a:solidFill>
            <a:prstDash val="solid"/>
          </a:ln>
        </p:spPr>
      </p:sp>
      <p:sp>
        <p:nvSpPr>
          <p:cNvPr id="36" name="Text 34"/>
          <p:cNvSpPr txBox="1"/>
          <p:nvPr/>
        </p:nvSpPr>
        <p:spPr>
          <a:xfrm>
            <a:off x="1417320" y="3191256"/>
            <a:ext cx="475488" cy="475488"/>
          </a:xfrm>
          <a:prstGeom prst="rect">
            <a:avLst/>
          </a:prstGeom>
          <a:noFill/>
          <a:ln/>
        </p:spPr>
        <p:txBody>
          <a:bodyPr wrap="square" lIns="0" tIns="0" rIns="0" bIns="0" rtlCol="0" anchor="ctr"/>
          <a:lstStyle/>
          <a:p>
            <a:pPr algn="ctr" indent="0" marL="0">
              <a:buNone/>
            </a:pPr>
            <a:r>
              <a:rPr lang="en-US" sz="1200" b="1" dirty="0">
                <a:solidFill>
                  <a:srgbClr val="6E6E78"/>
                </a:solidFill>
                <a:latin typeface="Calibri" pitchFamily="34" charset="0"/>
                <a:ea typeface="Calibri" pitchFamily="34" charset="-122"/>
                <a:cs typeface="Calibri" pitchFamily="34" charset="-120"/>
              </a:rPr>
              <a:t>✕</a:t>
            </a:r>
            <a:endParaRPr lang="en-US" sz="1200" dirty="0"/>
          </a:p>
        </p:txBody>
      </p:sp>
      <p:sp>
        <p:nvSpPr>
          <p:cNvPr id="37" name="Shape 35"/>
          <p:cNvSpPr/>
          <p:nvPr/>
        </p:nvSpPr>
        <p:spPr>
          <a:xfrm>
            <a:off x="1947672" y="3191256"/>
            <a:ext cx="475488" cy="475488"/>
          </a:xfrm>
          <a:prstGeom prst="roundRect">
            <a:avLst>
              <a:gd name="adj" fmla="val 9615"/>
            </a:avLst>
          </a:prstGeom>
          <a:solidFill>
            <a:srgbClr val="F2F1ED"/>
          </a:solidFill>
          <a:ln w="9525">
            <a:solidFill>
              <a:srgbClr val="D8D6CE"/>
            </a:solidFill>
            <a:prstDash val="solid"/>
          </a:ln>
        </p:spPr>
      </p:sp>
      <p:sp>
        <p:nvSpPr>
          <p:cNvPr id="38" name="Text 36"/>
          <p:cNvSpPr txBox="1"/>
          <p:nvPr/>
        </p:nvSpPr>
        <p:spPr>
          <a:xfrm>
            <a:off x="1947672" y="3191256"/>
            <a:ext cx="475488" cy="475488"/>
          </a:xfrm>
          <a:prstGeom prst="rect">
            <a:avLst/>
          </a:prstGeom>
          <a:noFill/>
          <a:ln/>
        </p:spPr>
        <p:txBody>
          <a:bodyPr wrap="square" lIns="0" tIns="0" rIns="0" bIns="0" rtlCol="0" anchor="ctr"/>
          <a:lstStyle/>
          <a:p>
            <a:pPr algn="ctr" indent="0" marL="0">
              <a:buNone/>
            </a:pPr>
            <a:r>
              <a:rPr lang="en-US" sz="1200" b="1" dirty="0">
                <a:solidFill>
                  <a:srgbClr val="6E6E78"/>
                </a:solidFill>
                <a:latin typeface="Calibri" pitchFamily="34" charset="0"/>
                <a:ea typeface="Calibri" pitchFamily="34" charset="-122"/>
                <a:cs typeface="Calibri" pitchFamily="34" charset="-120"/>
              </a:rPr>
              <a:t>✕</a:t>
            </a:r>
            <a:endParaRPr lang="en-US" sz="1200" dirty="0"/>
          </a:p>
        </p:txBody>
      </p:sp>
      <p:sp>
        <p:nvSpPr>
          <p:cNvPr id="39" name="Shape 37"/>
          <p:cNvSpPr/>
          <p:nvPr/>
        </p:nvSpPr>
        <p:spPr>
          <a:xfrm>
            <a:off x="2478024" y="3191256"/>
            <a:ext cx="475488" cy="475488"/>
          </a:xfrm>
          <a:prstGeom prst="roundRect">
            <a:avLst>
              <a:gd name="adj" fmla="val 9615"/>
            </a:avLst>
          </a:prstGeom>
          <a:solidFill>
            <a:srgbClr val="F2F1ED"/>
          </a:solidFill>
          <a:ln w="9525">
            <a:solidFill>
              <a:srgbClr val="D8D6CE"/>
            </a:solidFill>
            <a:prstDash val="solid"/>
          </a:ln>
        </p:spPr>
      </p:sp>
      <p:sp>
        <p:nvSpPr>
          <p:cNvPr id="40" name="Text 38"/>
          <p:cNvSpPr txBox="1"/>
          <p:nvPr/>
        </p:nvSpPr>
        <p:spPr>
          <a:xfrm>
            <a:off x="2478024" y="3191256"/>
            <a:ext cx="475488" cy="475488"/>
          </a:xfrm>
          <a:prstGeom prst="rect">
            <a:avLst/>
          </a:prstGeom>
          <a:noFill/>
          <a:ln/>
        </p:spPr>
        <p:txBody>
          <a:bodyPr wrap="square" lIns="0" tIns="0" rIns="0" bIns="0" rtlCol="0" anchor="ctr"/>
          <a:lstStyle/>
          <a:p>
            <a:pPr algn="ctr" indent="0" marL="0">
              <a:buNone/>
            </a:pPr>
            <a:r>
              <a:rPr lang="en-US" sz="1200" b="1" dirty="0">
                <a:solidFill>
                  <a:srgbClr val="6E6E78"/>
                </a:solidFill>
                <a:latin typeface="Calibri" pitchFamily="34" charset="0"/>
                <a:ea typeface="Calibri" pitchFamily="34" charset="-122"/>
                <a:cs typeface="Calibri" pitchFamily="34" charset="-120"/>
              </a:rPr>
              <a:t>✕</a:t>
            </a:r>
            <a:endParaRPr lang="en-US" sz="1200" dirty="0"/>
          </a:p>
        </p:txBody>
      </p:sp>
      <p:sp>
        <p:nvSpPr>
          <p:cNvPr id="41" name="Shape 39"/>
          <p:cNvSpPr/>
          <p:nvPr/>
        </p:nvSpPr>
        <p:spPr>
          <a:xfrm>
            <a:off x="3008376" y="3191256"/>
            <a:ext cx="475488" cy="475488"/>
          </a:xfrm>
          <a:prstGeom prst="roundRect">
            <a:avLst>
              <a:gd name="adj" fmla="val 9615"/>
            </a:avLst>
          </a:prstGeom>
          <a:solidFill>
            <a:srgbClr val="B8AB84"/>
          </a:solidFill>
          <a:ln w="9525">
            <a:solidFill>
              <a:srgbClr val="B8AB84"/>
            </a:solidFill>
            <a:prstDash val="solid"/>
          </a:ln>
        </p:spPr>
      </p:sp>
      <p:sp>
        <p:nvSpPr>
          <p:cNvPr id="42" name="Shape 40"/>
          <p:cNvSpPr/>
          <p:nvPr/>
        </p:nvSpPr>
        <p:spPr>
          <a:xfrm>
            <a:off x="3538728" y="3191256"/>
            <a:ext cx="475488" cy="475488"/>
          </a:xfrm>
          <a:prstGeom prst="roundRect">
            <a:avLst>
              <a:gd name="adj" fmla="val 9615"/>
            </a:avLst>
          </a:prstGeom>
          <a:solidFill>
            <a:srgbClr val="B8AB84"/>
          </a:solidFill>
          <a:ln w="9525">
            <a:solidFill>
              <a:srgbClr val="B8AB84"/>
            </a:solidFill>
            <a:prstDash val="solid"/>
          </a:ln>
        </p:spPr>
      </p:sp>
      <p:sp>
        <p:nvSpPr>
          <p:cNvPr id="43" name="Shape 41"/>
          <p:cNvSpPr/>
          <p:nvPr/>
        </p:nvSpPr>
        <p:spPr>
          <a:xfrm>
            <a:off x="4069080" y="3191256"/>
            <a:ext cx="475488" cy="475488"/>
          </a:xfrm>
          <a:prstGeom prst="roundRect">
            <a:avLst>
              <a:gd name="adj" fmla="val 9615"/>
            </a:avLst>
          </a:prstGeom>
          <a:solidFill>
            <a:srgbClr val="B8AB84"/>
          </a:solidFill>
          <a:ln w="9525">
            <a:solidFill>
              <a:srgbClr val="B8AB84"/>
            </a:solidFill>
            <a:prstDash val="solid"/>
          </a:ln>
        </p:spPr>
      </p:sp>
      <p:sp>
        <p:nvSpPr>
          <p:cNvPr id="44" name="Text 42"/>
          <p:cNvSpPr txBox="1"/>
          <p:nvPr/>
        </p:nvSpPr>
        <p:spPr>
          <a:xfrm>
            <a:off x="457200" y="3840480"/>
            <a:ext cx="4206240" cy="182880"/>
          </a:xfrm>
          <a:prstGeom prst="rect">
            <a:avLst/>
          </a:prstGeom>
          <a:noFill/>
          <a:ln/>
        </p:spPr>
        <p:txBody>
          <a:bodyPr wrap="square" lIns="0" tIns="0" rIns="0" bIns="0" rtlCol="0" anchor="t"/>
          <a:lstStyle/>
          <a:p>
            <a:pPr indent="0" marL="0">
              <a:buNone/>
            </a:pPr>
            <a:r>
              <a:rPr lang="en-US" sz="900" i="1" dirty="0">
                <a:solidFill>
                  <a:srgbClr val="9A9AA3"/>
                </a:solidFill>
                <a:latin typeface="Calibri" pitchFamily="34" charset="0"/>
                <a:ea typeface="Calibri" pitchFamily="34" charset="-122"/>
                <a:cs typeface="Calibri" pitchFamily="34" charset="-120"/>
              </a:rPr>
              <a:t>золото – спаму модель дала большую вероятность</a:t>
            </a:r>
            <a:endParaRPr lang="en-US" sz="900" dirty="0"/>
          </a:p>
        </p:txBody>
      </p:sp>
      <p:sp>
        <p:nvSpPr>
          <p:cNvPr id="45" name="Shape 43"/>
          <p:cNvSpPr/>
          <p:nvPr/>
        </p:nvSpPr>
        <p:spPr>
          <a:xfrm>
            <a:off x="5029200" y="1234440"/>
            <a:ext cx="3611880" cy="1417320"/>
          </a:xfrm>
          <a:prstGeom prst="roundRect">
            <a:avLst>
              <a:gd name="adj" fmla="val 5161"/>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46" name="Text 44"/>
          <p:cNvSpPr txBox="1"/>
          <p:nvPr/>
        </p:nvSpPr>
        <p:spPr>
          <a:xfrm>
            <a:off x="5257800" y="1371600"/>
            <a:ext cx="3200400" cy="640080"/>
          </a:xfrm>
          <a:prstGeom prst="rect">
            <a:avLst/>
          </a:prstGeom>
          <a:noFill/>
          <a:ln/>
        </p:spPr>
        <p:txBody>
          <a:bodyPr wrap="square" lIns="0" tIns="0" rIns="0" bIns="0" rtlCol="0" anchor="ctr"/>
          <a:lstStyle/>
          <a:p>
            <a:pPr indent="0" marL="0">
              <a:buNone/>
            </a:pPr>
            <a:r>
              <a:rPr lang="en-US" sz="3600" b="1" dirty="0">
                <a:solidFill>
                  <a:srgbClr val="8F8260"/>
                </a:solidFill>
                <a:latin typeface="Cambria" pitchFamily="34" charset="0"/>
                <a:ea typeface="Cambria" pitchFamily="34" charset="-122"/>
                <a:cs typeface="Cambria" pitchFamily="34" charset="-120"/>
              </a:rPr>
              <a:t>20 из 24</a:t>
            </a:r>
            <a:endParaRPr lang="en-US" sz="3600" dirty="0"/>
          </a:p>
        </p:txBody>
      </p:sp>
      <p:sp>
        <p:nvSpPr>
          <p:cNvPr id="47" name="Text 45"/>
          <p:cNvSpPr txBox="1"/>
          <p:nvPr/>
        </p:nvSpPr>
        <p:spPr>
          <a:xfrm>
            <a:off x="5257800" y="2011680"/>
            <a:ext cx="3200400" cy="50292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пар упорядочено верно: 20 / 24 = 0.83 – ровно площадь под ROC-кривой</a:t>
            </a:r>
            <a:endParaRPr lang="en-US" sz="1050" dirty="0"/>
          </a:p>
        </p:txBody>
      </p:sp>
      <p:sp>
        <p:nvSpPr>
          <p:cNvPr id="48" name="Text 46"/>
          <p:cNvSpPr txBox="1"/>
          <p:nvPr/>
        </p:nvSpPr>
        <p:spPr>
          <a:xfrm>
            <a:off x="5029200" y="2834640"/>
            <a:ext cx="3611880" cy="868680"/>
          </a:xfrm>
          <a:prstGeom prst="rect">
            <a:avLst/>
          </a:prstGeom>
          <a:noFill/>
          <a:ln/>
        </p:spPr>
        <p:txBody>
          <a:bodyPr wrap="square" lIns="0" tIns="0" rIns="0" bIns="0" rtlCol="0" anchor="t"/>
          <a:lstStyle/>
          <a:p>
            <a:pPr indent="0" marL="0">
              <a:buNone/>
            </a:pPr>
            <a:r>
              <a:rPr lang="en-US" sz="1150" b="1" dirty="0">
                <a:solidFill>
                  <a:srgbClr val="1C1C22"/>
                </a:solidFill>
                <a:latin typeface="Cambria" pitchFamily="34" charset="0"/>
                <a:ea typeface="Cambria" pitchFamily="34" charset="-122"/>
                <a:cs typeface="Cambria" pitchFamily="34" charset="-120"/>
              </a:rPr>
              <a:t>Берем случайное спамное и случайное обычное письмо. AUC – вероятность того, что спаму модель даст большую вероятность, чем обычному.</a:t>
            </a:r>
            <a:endParaRPr lang="en-US" sz="1150" dirty="0"/>
          </a:p>
        </p:txBody>
      </p:sp>
      <p:sp>
        <p:nvSpPr>
          <p:cNvPr id="49" name="Shape 47"/>
          <p:cNvSpPr/>
          <p:nvPr/>
        </p:nvSpPr>
        <p:spPr>
          <a:xfrm>
            <a:off x="548640" y="4069080"/>
            <a:ext cx="8046720" cy="566928"/>
          </a:xfrm>
          <a:prstGeom prst="roundRect">
            <a:avLst>
              <a:gd name="adj" fmla="val 12903"/>
            </a:avLst>
          </a:prstGeom>
          <a:solidFill>
            <a:srgbClr val="1C1C22"/>
          </a:solidFill>
          <a:ln w="12700">
            <a:solidFill>
              <a:srgbClr val="1C1C22"/>
            </a:solidFill>
            <a:prstDash val="solid"/>
          </a:ln>
        </p:spPr>
      </p:sp>
      <p:sp>
        <p:nvSpPr>
          <p:cNvPr id="50" name="Text 48"/>
          <p:cNvSpPr txBox="1"/>
          <p:nvPr/>
        </p:nvSpPr>
        <p:spPr>
          <a:xfrm>
            <a:off x="822960" y="4069080"/>
            <a:ext cx="7589520" cy="566928"/>
          </a:xfrm>
          <a:prstGeom prst="rect">
            <a:avLst/>
          </a:prstGeom>
          <a:noFill/>
          <a:ln/>
        </p:spPr>
        <p:txBody>
          <a:bodyPr wrap="square" lIns="0" tIns="0" rIns="0" bIns="0" rtlCol="0" anchor="ctr"/>
          <a:lstStyle/>
          <a:p>
            <a:pPr indent="0" marL="0">
              <a:buNone/>
            </a:pPr>
            <a:r>
              <a:rPr lang="en-US" sz="1200" b="1" dirty="0">
                <a:solidFill>
                  <a:srgbClr val="B8AB84"/>
                </a:solidFill>
                <a:latin typeface="Calibri" pitchFamily="34" charset="0"/>
                <a:ea typeface="Calibri" pitchFamily="34" charset="-122"/>
                <a:cs typeface="Calibri" pitchFamily="34" charset="-120"/>
              </a:rPr>
              <a:t>Поэтому </a:t>
            </a:r>
            <a:pPr indent="0" marL="0">
              <a:buNone/>
            </a:pPr>
            <a:r>
              <a:rPr lang="en-US" sz="1200" dirty="0">
                <a:solidFill>
                  <a:srgbClr val="FFFFFF"/>
                </a:solidFill>
                <a:latin typeface="Calibri" pitchFamily="34" charset="0"/>
                <a:ea typeface="Calibri" pitchFamily="34" charset="-122"/>
                <a:cs typeface="Calibri" pitchFamily="34" charset="-120"/>
              </a:rPr>
              <a:t>AUC не зависит от порога: он проверяет только порядок, в котором модель расставила объекты.</a:t>
            </a:r>
            <a:endParaRPr lang="en-US" sz="1200" dirty="0"/>
          </a:p>
        </p:txBody>
      </p:sp>
      <p:sp>
        <p:nvSpPr>
          <p:cNvPr id="51" name="Text 49"/>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52" name="Text 50"/>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ФУНКЦИИ ПОТЕРЬ</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Log loss: штраф за уверенность</a:t>
            </a:r>
            <a:endParaRPr lang="en-US" sz="2600" dirty="0"/>
          </a:p>
        </p:txBody>
      </p:sp>
      <p:sp>
        <p:nvSpPr>
          <p:cNvPr id="4" name="Text 2"/>
          <p:cNvSpPr txBox="1"/>
          <p:nvPr/>
        </p:nvSpPr>
        <p:spPr>
          <a:xfrm>
            <a:off x="457200" y="1069848"/>
            <a:ext cx="8229600" cy="320040"/>
          </a:xfrm>
          <a:prstGeom prst="rect">
            <a:avLst/>
          </a:prstGeom>
          <a:noFill/>
          <a:ln/>
        </p:spPr>
        <p:txBody>
          <a:bodyPr wrap="square" lIns="0" tIns="0" rIns="0" bIns="0" rtlCol="0" anchor="t"/>
          <a:lstStyle/>
          <a:p>
            <a:pPr indent="0" marL="0">
              <a:buNone/>
            </a:pPr>
            <a:r>
              <a:rPr lang="en-US" sz="1400" b="1" dirty="0">
                <a:solidFill>
                  <a:srgbClr val="8F8260"/>
                </a:solidFill>
                <a:latin typeface="Cambria" pitchFamily="34" charset="0"/>
                <a:ea typeface="Cambria" pitchFamily="34" charset="-122"/>
                <a:cs typeface="Cambria" pitchFamily="34" charset="-120"/>
              </a:rPr>
              <a:t>LogLoss = −(1/n) · Σ ( y·ln p + (1 − y)·ln(1 − p) )</a:t>
            </a:r>
            <a:endParaRPr lang="en-US" sz="1400" dirty="0"/>
          </a:p>
        </p:txBody>
      </p:sp>
      <p:pic>
        <p:nvPicPr>
          <p:cNvPr id="5" name="Image 0" descr="img/logloss.png">    </p:cNvPr>
          <p:cNvPicPr>
            <a:picLocks noChangeAspect="1"/>
          </p:cNvPicPr>
          <p:nvPr/>
        </p:nvPicPr>
        <p:blipFill>
          <a:blip r:embed="rId1"/>
          <a:stretch>
            <a:fillRect/>
          </a:stretch>
        </p:blipFill>
        <p:spPr>
          <a:xfrm>
            <a:off x="457200" y="1463040"/>
            <a:ext cx="4206240" cy="2368296"/>
          </a:xfrm>
          <a:prstGeom prst="rect">
            <a:avLst/>
          </a:prstGeom>
        </p:spPr>
      </p:pic>
      <p:sp>
        <p:nvSpPr>
          <p:cNvPr id="6" name="Shape 3"/>
          <p:cNvSpPr/>
          <p:nvPr/>
        </p:nvSpPr>
        <p:spPr>
          <a:xfrm>
            <a:off x="4937760" y="1463040"/>
            <a:ext cx="3703320" cy="694944"/>
          </a:xfrm>
          <a:prstGeom prst="roundRect">
            <a:avLst>
              <a:gd name="adj" fmla="val 10526"/>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5120640" y="1463040"/>
            <a:ext cx="1005840" cy="694944"/>
          </a:xfrm>
          <a:prstGeom prst="rect">
            <a:avLst/>
          </a:prstGeom>
          <a:noFill/>
          <a:ln/>
        </p:spPr>
        <p:txBody>
          <a:bodyPr wrap="square" lIns="0" tIns="0" rIns="0" bIns="0" rtlCol="0" anchor="ctr"/>
          <a:lstStyle/>
          <a:p>
            <a:pPr indent="0" marL="0">
              <a:buNone/>
            </a:pPr>
            <a:r>
              <a:rPr lang="en-US" sz="2400" b="1" dirty="0">
                <a:solidFill>
                  <a:srgbClr val="8F8260"/>
                </a:solidFill>
                <a:latin typeface="Cambria" pitchFamily="34" charset="0"/>
                <a:ea typeface="Cambria" pitchFamily="34" charset="-122"/>
                <a:cs typeface="Cambria" pitchFamily="34" charset="-120"/>
              </a:rPr>
              <a:t>0.69</a:t>
            </a:r>
            <a:endParaRPr lang="en-US" sz="2400" dirty="0"/>
          </a:p>
        </p:txBody>
      </p:sp>
      <p:sp>
        <p:nvSpPr>
          <p:cNvPr id="8" name="Text 5"/>
          <p:cNvSpPr txBox="1"/>
          <p:nvPr/>
        </p:nvSpPr>
        <p:spPr>
          <a:xfrm>
            <a:off x="6217920" y="1554480"/>
            <a:ext cx="228600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p = 0.5</a:t>
            </a:r>
            <a:endParaRPr lang="en-US" sz="1250" dirty="0"/>
          </a:p>
        </p:txBody>
      </p:sp>
      <p:sp>
        <p:nvSpPr>
          <p:cNvPr id="9" name="Text 6"/>
          <p:cNvSpPr txBox="1"/>
          <p:nvPr/>
        </p:nvSpPr>
        <p:spPr>
          <a:xfrm>
            <a:off x="6217920" y="1828800"/>
            <a:ext cx="2331720" cy="256032"/>
          </a:xfrm>
          <a:prstGeom prst="rect">
            <a:avLst/>
          </a:prstGeom>
          <a:noFill/>
          <a:ln/>
        </p:spPr>
        <p:txBody>
          <a:bodyPr wrap="square" lIns="0" tIns="0" rIns="0" bIns="0" rtlCol="0" anchor="t"/>
          <a:lstStyle/>
          <a:p>
            <a:pPr indent="0" marL="0">
              <a:buNone/>
            </a:pPr>
            <a:r>
              <a:rPr lang="en-US" sz="1000" dirty="0">
                <a:solidFill>
                  <a:srgbClr val="6E6E78"/>
                </a:solidFill>
                <a:latin typeface="Calibri" pitchFamily="34" charset="0"/>
                <a:ea typeface="Calibri" pitchFamily="34" charset="-122"/>
                <a:cs typeface="Calibri" pitchFamily="34" charset="-120"/>
              </a:rPr>
              <a:t>объект класса 1: модель не уверена</a:t>
            </a:r>
            <a:endParaRPr lang="en-US" sz="1000" dirty="0"/>
          </a:p>
        </p:txBody>
      </p:sp>
      <p:sp>
        <p:nvSpPr>
          <p:cNvPr id="10" name="Shape 7"/>
          <p:cNvSpPr/>
          <p:nvPr/>
        </p:nvSpPr>
        <p:spPr>
          <a:xfrm>
            <a:off x="4937760" y="2267712"/>
            <a:ext cx="3703320" cy="694944"/>
          </a:xfrm>
          <a:prstGeom prst="roundRect">
            <a:avLst>
              <a:gd name="adj" fmla="val 10526"/>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5120640" y="2267712"/>
            <a:ext cx="1005840" cy="694944"/>
          </a:xfrm>
          <a:prstGeom prst="rect">
            <a:avLst/>
          </a:prstGeom>
          <a:noFill/>
          <a:ln/>
        </p:spPr>
        <p:txBody>
          <a:bodyPr wrap="square" lIns="0" tIns="0" rIns="0" bIns="0" rtlCol="0" anchor="ctr"/>
          <a:lstStyle/>
          <a:p>
            <a:pPr indent="0" marL="0">
              <a:buNone/>
            </a:pPr>
            <a:r>
              <a:rPr lang="en-US" sz="2400" b="1" dirty="0">
                <a:solidFill>
                  <a:srgbClr val="8F8260"/>
                </a:solidFill>
                <a:latin typeface="Cambria" pitchFamily="34" charset="0"/>
                <a:ea typeface="Cambria" pitchFamily="34" charset="-122"/>
                <a:cs typeface="Cambria" pitchFamily="34" charset="-120"/>
              </a:rPr>
              <a:t>0.11</a:t>
            </a:r>
            <a:endParaRPr lang="en-US" sz="2400" dirty="0"/>
          </a:p>
        </p:txBody>
      </p:sp>
      <p:sp>
        <p:nvSpPr>
          <p:cNvPr id="12" name="Text 9"/>
          <p:cNvSpPr txBox="1"/>
          <p:nvPr/>
        </p:nvSpPr>
        <p:spPr>
          <a:xfrm>
            <a:off x="6217920" y="2359152"/>
            <a:ext cx="2286000" cy="274320"/>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p = 0.9</a:t>
            </a:r>
            <a:endParaRPr lang="en-US" sz="1250" dirty="0"/>
          </a:p>
        </p:txBody>
      </p:sp>
      <p:sp>
        <p:nvSpPr>
          <p:cNvPr id="13" name="Text 10"/>
          <p:cNvSpPr txBox="1"/>
          <p:nvPr/>
        </p:nvSpPr>
        <p:spPr>
          <a:xfrm>
            <a:off x="6217920" y="2633472"/>
            <a:ext cx="2331720" cy="256032"/>
          </a:xfrm>
          <a:prstGeom prst="rect">
            <a:avLst/>
          </a:prstGeom>
          <a:noFill/>
          <a:ln/>
        </p:spPr>
        <p:txBody>
          <a:bodyPr wrap="square" lIns="0" tIns="0" rIns="0" bIns="0" rtlCol="0" anchor="t"/>
          <a:lstStyle/>
          <a:p>
            <a:pPr indent="0" marL="0">
              <a:buNone/>
            </a:pPr>
            <a:r>
              <a:rPr lang="en-US" sz="1000" dirty="0">
                <a:solidFill>
                  <a:srgbClr val="6E6E78"/>
                </a:solidFill>
                <a:latin typeface="Calibri" pitchFamily="34" charset="0"/>
                <a:ea typeface="Calibri" pitchFamily="34" charset="-122"/>
                <a:cs typeface="Calibri" pitchFamily="34" charset="-120"/>
              </a:rPr>
              <a:t>объект класса 1: уверена и права</a:t>
            </a:r>
            <a:endParaRPr lang="en-US" sz="1000" dirty="0"/>
          </a:p>
        </p:txBody>
      </p:sp>
      <p:sp>
        <p:nvSpPr>
          <p:cNvPr id="14" name="Shape 11"/>
          <p:cNvSpPr/>
          <p:nvPr/>
        </p:nvSpPr>
        <p:spPr>
          <a:xfrm>
            <a:off x="4937760" y="3072384"/>
            <a:ext cx="3703320" cy="694944"/>
          </a:xfrm>
          <a:prstGeom prst="roundRect">
            <a:avLst>
              <a:gd name="adj" fmla="val 10526"/>
            </a:avLst>
          </a:prstGeom>
          <a:solidFill>
            <a:srgbClr val="1C1C22"/>
          </a:solidFill>
          <a:ln w="9525">
            <a:solidFill>
              <a:srgbClr val="1C1C22"/>
            </a:solidFill>
            <a:prstDash val="solid"/>
          </a:ln>
        </p:spPr>
      </p:sp>
      <p:sp>
        <p:nvSpPr>
          <p:cNvPr id="15" name="Text 12"/>
          <p:cNvSpPr txBox="1"/>
          <p:nvPr/>
        </p:nvSpPr>
        <p:spPr>
          <a:xfrm>
            <a:off x="5120640" y="3072384"/>
            <a:ext cx="1005840" cy="694944"/>
          </a:xfrm>
          <a:prstGeom prst="rect">
            <a:avLst/>
          </a:prstGeom>
          <a:noFill/>
          <a:ln/>
        </p:spPr>
        <p:txBody>
          <a:bodyPr wrap="square" lIns="0" tIns="0" rIns="0" bIns="0" rtlCol="0" anchor="ctr"/>
          <a:lstStyle/>
          <a:p>
            <a:pPr indent="0" marL="0">
              <a:buNone/>
            </a:pPr>
            <a:r>
              <a:rPr lang="en-US" sz="2400" b="1" dirty="0">
                <a:solidFill>
                  <a:srgbClr val="B8AB84"/>
                </a:solidFill>
                <a:latin typeface="Cambria" pitchFamily="34" charset="0"/>
                <a:ea typeface="Cambria" pitchFamily="34" charset="-122"/>
                <a:cs typeface="Cambria" pitchFamily="34" charset="-120"/>
              </a:rPr>
              <a:t>2.30</a:t>
            </a:r>
            <a:endParaRPr lang="en-US" sz="2400" dirty="0"/>
          </a:p>
        </p:txBody>
      </p:sp>
      <p:sp>
        <p:nvSpPr>
          <p:cNvPr id="16" name="Text 13"/>
          <p:cNvSpPr txBox="1"/>
          <p:nvPr/>
        </p:nvSpPr>
        <p:spPr>
          <a:xfrm>
            <a:off x="6217920" y="3163824"/>
            <a:ext cx="2286000" cy="274320"/>
          </a:xfrm>
          <a:prstGeom prst="rect">
            <a:avLst/>
          </a:prstGeom>
          <a:noFill/>
          <a:ln/>
        </p:spPr>
        <p:txBody>
          <a:bodyPr wrap="square" lIns="0" tIns="0" rIns="0" bIns="0" rtlCol="0" anchor="t"/>
          <a:lstStyle/>
          <a:p>
            <a:pPr indent="0" marL="0">
              <a:buNone/>
            </a:pPr>
            <a:r>
              <a:rPr lang="en-US" sz="1250" b="1" dirty="0">
                <a:solidFill>
                  <a:srgbClr val="FFFFFF"/>
                </a:solidFill>
                <a:latin typeface="Cambria" pitchFamily="34" charset="0"/>
                <a:ea typeface="Cambria" pitchFamily="34" charset="-122"/>
                <a:cs typeface="Cambria" pitchFamily="34" charset="-120"/>
              </a:rPr>
              <a:t>p = 0.1</a:t>
            </a:r>
            <a:endParaRPr lang="en-US" sz="1250" dirty="0"/>
          </a:p>
        </p:txBody>
      </p:sp>
      <p:sp>
        <p:nvSpPr>
          <p:cNvPr id="17" name="Text 14"/>
          <p:cNvSpPr txBox="1"/>
          <p:nvPr/>
        </p:nvSpPr>
        <p:spPr>
          <a:xfrm>
            <a:off x="6217920" y="3438144"/>
            <a:ext cx="2331720" cy="256032"/>
          </a:xfrm>
          <a:prstGeom prst="rect">
            <a:avLst/>
          </a:prstGeom>
          <a:noFill/>
          <a:ln/>
        </p:spPr>
        <p:txBody>
          <a:bodyPr wrap="square" lIns="0" tIns="0" rIns="0" bIns="0" rtlCol="0" anchor="t"/>
          <a:lstStyle/>
          <a:p>
            <a:pPr indent="0" marL="0">
              <a:buNone/>
            </a:pPr>
            <a:r>
              <a:rPr lang="en-US" sz="1000" dirty="0">
                <a:solidFill>
                  <a:srgbClr val="E2E2E6"/>
                </a:solidFill>
                <a:latin typeface="Calibri" pitchFamily="34" charset="0"/>
                <a:ea typeface="Calibri" pitchFamily="34" charset="-122"/>
                <a:cs typeface="Calibri" pitchFamily="34" charset="-120"/>
              </a:rPr>
              <a:t>объект класса 1: уверена и НЕ права</a:t>
            </a:r>
            <a:endParaRPr lang="en-US" sz="1000" dirty="0"/>
          </a:p>
        </p:txBody>
      </p:sp>
      <p:sp>
        <p:nvSpPr>
          <p:cNvPr id="18" name="Text 15"/>
          <p:cNvSpPr txBox="1"/>
          <p:nvPr/>
        </p:nvSpPr>
        <p:spPr>
          <a:xfrm>
            <a:off x="457200" y="3840480"/>
            <a:ext cx="4206240" cy="228600"/>
          </a:xfrm>
          <a:prstGeom prst="rect">
            <a:avLst/>
          </a:prstGeom>
          <a:noFill/>
          <a:ln/>
        </p:spPr>
        <p:txBody>
          <a:bodyPr wrap="square" lIns="0" tIns="0" rIns="0" bIns="0" rtlCol="0" anchor="t"/>
          <a:lstStyle/>
          <a:p>
            <a:pPr indent="0" marL="0">
              <a:buNone/>
            </a:pPr>
            <a:r>
              <a:rPr lang="en-US" sz="950" i="1" dirty="0">
                <a:solidFill>
                  <a:srgbClr val="6E6E78"/>
                </a:solidFill>
                <a:latin typeface="Calibri" pitchFamily="34" charset="0"/>
                <a:ea typeface="Calibri" pitchFamily="34" charset="-122"/>
                <a:cs typeface="Calibri" pitchFamily="34" charset="-120"/>
              </a:rPr>
              <a:t>Brier = среднее (p − y)² – та же идея, но мягче к уверенным ошибкам.</a:t>
            </a:r>
            <a:endParaRPr lang="en-US" sz="950" dirty="0"/>
          </a:p>
        </p:txBody>
      </p:sp>
      <p:sp>
        <p:nvSpPr>
          <p:cNvPr id="19" name="Shape 16"/>
          <p:cNvSpPr/>
          <p:nvPr/>
        </p:nvSpPr>
        <p:spPr>
          <a:xfrm>
            <a:off x="548640" y="4114800"/>
            <a:ext cx="8046720" cy="566928"/>
          </a:xfrm>
          <a:prstGeom prst="roundRect">
            <a:avLst>
              <a:gd name="adj" fmla="val 12903"/>
            </a:avLst>
          </a:prstGeom>
          <a:solidFill>
            <a:srgbClr val="1C1C22"/>
          </a:solidFill>
          <a:ln w="12700">
            <a:solidFill>
              <a:srgbClr val="1C1C22"/>
            </a:solidFill>
            <a:prstDash val="solid"/>
          </a:ln>
        </p:spPr>
      </p:sp>
      <p:sp>
        <p:nvSpPr>
          <p:cNvPr id="20" name="Text 17"/>
          <p:cNvSpPr txBox="1"/>
          <p:nvPr/>
        </p:nvSpPr>
        <p:spPr>
          <a:xfrm>
            <a:off x="822960" y="4114800"/>
            <a:ext cx="7589520" cy="566928"/>
          </a:xfrm>
          <a:prstGeom prst="rect">
            <a:avLst/>
          </a:prstGeom>
          <a:noFill/>
          <a:ln/>
        </p:spPr>
        <p:txBody>
          <a:bodyPr wrap="square" lIns="0" tIns="0" rIns="0" bIns="0" rtlCol="0" anchor="ctr"/>
          <a:lstStyle/>
          <a:p>
            <a:pPr indent="0" marL="0">
              <a:buNone/>
            </a:pPr>
            <a:r>
              <a:rPr lang="en-US" sz="1200" b="1" dirty="0">
                <a:solidFill>
                  <a:srgbClr val="B8AB84"/>
                </a:solidFill>
                <a:latin typeface="Calibri" pitchFamily="34" charset="0"/>
                <a:ea typeface="Calibri" pitchFamily="34" charset="-122"/>
                <a:cs typeface="Calibri" pitchFamily="34" charset="-120"/>
              </a:rPr>
              <a:t>Одна уверенная ошибка </a:t>
            </a:r>
            <a:pPr indent="0" marL="0">
              <a:buNone/>
            </a:pPr>
            <a:r>
              <a:rPr lang="en-US" sz="1200" dirty="0">
                <a:solidFill>
                  <a:srgbClr val="FFFFFF"/>
                </a:solidFill>
                <a:latin typeface="Calibri" pitchFamily="34" charset="0"/>
                <a:ea typeface="Calibri" pitchFamily="34" charset="-122"/>
                <a:cs typeface="Calibri" pitchFamily="34" charset="-120"/>
              </a:rPr>
              <a:t>стоит больше, чем 20 уверенных верных ответов. На log loss обучается логистическая регрессия.</a:t>
            </a:r>
            <a:endParaRPr lang="en-US" sz="1200" dirty="0"/>
          </a:p>
        </p:txBody>
      </p:sp>
      <p:sp>
        <p:nvSpPr>
          <p:cNvPr id="21" name="Text 18"/>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22" name="Text 19"/>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НЕСКОЛЬКО КЛАССОВ</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Три сорта вина – матрица 3 × 3</a:t>
            </a:r>
            <a:endParaRPr lang="en-US" sz="2600" dirty="0"/>
          </a:p>
        </p:txBody>
      </p:sp>
      <p:sp>
        <p:nvSpPr>
          <p:cNvPr id="4" name="Text 2"/>
          <p:cNvSpPr txBox="1"/>
          <p:nvPr/>
        </p:nvSpPr>
        <p:spPr>
          <a:xfrm>
            <a:off x="1463040" y="1170432"/>
            <a:ext cx="2377440" cy="182880"/>
          </a:xfrm>
          <a:prstGeom prst="rect">
            <a:avLst/>
          </a:prstGeom>
          <a:noFill/>
          <a:ln/>
        </p:spPr>
        <p:txBody>
          <a:bodyPr wrap="square" lIns="0" tIns="0" rIns="0" bIns="0" rtlCol="0" anchor="t"/>
          <a:lstStyle/>
          <a:p>
            <a:pPr indent="0" marL="0">
              <a:buNone/>
            </a:pPr>
            <a:r>
              <a:rPr lang="en-US" sz="900" b="1" dirty="0">
                <a:solidFill>
                  <a:srgbClr val="6E6E78"/>
                </a:solidFill>
                <a:latin typeface="Calibri" pitchFamily="34" charset="0"/>
                <a:ea typeface="Calibri" pitchFamily="34" charset="-122"/>
                <a:cs typeface="Calibri" pitchFamily="34" charset="-120"/>
              </a:rPr>
              <a:t>ответ модели →</a:t>
            </a:r>
            <a:endParaRPr lang="en-US" sz="900" dirty="0"/>
          </a:p>
        </p:txBody>
      </p:sp>
      <p:sp>
        <p:nvSpPr>
          <p:cNvPr id="5" name="Text 3"/>
          <p:cNvSpPr txBox="1"/>
          <p:nvPr/>
        </p:nvSpPr>
        <p:spPr>
          <a:xfrm>
            <a:off x="457200" y="1371600"/>
            <a:ext cx="914400" cy="182880"/>
          </a:xfrm>
          <a:prstGeom prst="rect">
            <a:avLst/>
          </a:prstGeom>
          <a:noFill/>
          <a:ln/>
        </p:spPr>
        <p:txBody>
          <a:bodyPr wrap="square" lIns="0" tIns="0" rIns="0" bIns="0" rtlCol="0" anchor="t"/>
          <a:lstStyle/>
          <a:p>
            <a:pPr algn="r" indent="0" marL="0">
              <a:buNone/>
            </a:pPr>
            <a:r>
              <a:rPr lang="en-US" sz="900" b="1" dirty="0">
                <a:solidFill>
                  <a:srgbClr val="8F8260"/>
                </a:solidFill>
                <a:latin typeface="Calibri" pitchFamily="34" charset="0"/>
                <a:ea typeface="Calibri" pitchFamily="34" charset="-122"/>
                <a:cs typeface="Calibri" pitchFamily="34" charset="-120"/>
              </a:rPr>
              <a:t>правда ↓</a:t>
            </a:r>
            <a:endParaRPr lang="en-US" sz="900" dirty="0"/>
          </a:p>
        </p:txBody>
      </p:sp>
      <p:sp>
        <p:nvSpPr>
          <p:cNvPr id="6" name="Text 4"/>
          <p:cNvSpPr txBox="1"/>
          <p:nvPr/>
        </p:nvSpPr>
        <p:spPr>
          <a:xfrm>
            <a:off x="1463040" y="1371600"/>
            <a:ext cx="713232"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сорт 0</a:t>
            </a:r>
            <a:endParaRPr lang="en-US" sz="950" dirty="0"/>
          </a:p>
        </p:txBody>
      </p:sp>
      <p:sp>
        <p:nvSpPr>
          <p:cNvPr id="7" name="Text 5"/>
          <p:cNvSpPr txBox="1"/>
          <p:nvPr/>
        </p:nvSpPr>
        <p:spPr>
          <a:xfrm>
            <a:off x="2249424" y="1371600"/>
            <a:ext cx="713232"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сорт 1</a:t>
            </a:r>
            <a:endParaRPr lang="en-US" sz="950" dirty="0"/>
          </a:p>
        </p:txBody>
      </p:sp>
      <p:sp>
        <p:nvSpPr>
          <p:cNvPr id="8" name="Text 6"/>
          <p:cNvSpPr txBox="1"/>
          <p:nvPr/>
        </p:nvSpPr>
        <p:spPr>
          <a:xfrm>
            <a:off x="3035808" y="1371600"/>
            <a:ext cx="713232" cy="182880"/>
          </a:xfrm>
          <a:prstGeom prst="rect">
            <a:avLst/>
          </a:prstGeom>
          <a:noFill/>
          <a:ln/>
        </p:spPr>
        <p:txBody>
          <a:bodyPr wrap="square" lIns="0" tIns="0" rIns="0" bIns="0" rtlCol="0" anchor="t"/>
          <a:lstStyle/>
          <a:p>
            <a:pPr algn="ctr" indent="0" marL="0">
              <a:buNone/>
            </a:pPr>
            <a:r>
              <a:rPr lang="en-US" sz="950" b="1" dirty="0">
                <a:solidFill>
                  <a:srgbClr val="6E6E78"/>
                </a:solidFill>
                <a:latin typeface="Calibri" pitchFamily="34" charset="0"/>
                <a:ea typeface="Calibri" pitchFamily="34" charset="-122"/>
                <a:cs typeface="Calibri" pitchFamily="34" charset="-120"/>
              </a:rPr>
              <a:t>сорт 2</a:t>
            </a:r>
            <a:endParaRPr lang="en-US" sz="950" dirty="0"/>
          </a:p>
        </p:txBody>
      </p:sp>
      <p:sp>
        <p:nvSpPr>
          <p:cNvPr id="9" name="Text 7"/>
          <p:cNvSpPr txBox="1"/>
          <p:nvPr/>
        </p:nvSpPr>
        <p:spPr>
          <a:xfrm>
            <a:off x="548640" y="1600200"/>
            <a:ext cx="822960" cy="713232"/>
          </a:xfrm>
          <a:prstGeom prst="rect">
            <a:avLst/>
          </a:prstGeom>
          <a:noFill/>
          <a:ln/>
        </p:spPr>
        <p:txBody>
          <a:bodyPr wrap="square" lIns="0" tIns="0" rIns="0" bIns="0" rtlCol="0" anchor="ctr"/>
          <a:lstStyle/>
          <a:p>
            <a:pPr algn="r" indent="0" marL="0">
              <a:buNone/>
            </a:pPr>
            <a:r>
              <a:rPr lang="en-US" sz="950" b="1" dirty="0">
                <a:solidFill>
                  <a:srgbClr val="8F8260"/>
                </a:solidFill>
                <a:latin typeface="Calibri" pitchFamily="34" charset="0"/>
                <a:ea typeface="Calibri" pitchFamily="34" charset="-122"/>
                <a:cs typeface="Calibri" pitchFamily="34" charset="-120"/>
              </a:rPr>
              <a:t>сорт 0</a:t>
            </a:r>
            <a:endParaRPr lang="en-US" sz="950" dirty="0"/>
          </a:p>
        </p:txBody>
      </p:sp>
      <p:sp>
        <p:nvSpPr>
          <p:cNvPr id="10" name="Shape 8"/>
          <p:cNvSpPr/>
          <p:nvPr/>
        </p:nvSpPr>
        <p:spPr>
          <a:xfrm>
            <a:off x="1463040" y="1600200"/>
            <a:ext cx="713232" cy="713232"/>
          </a:xfrm>
          <a:prstGeom prst="roundRect">
            <a:avLst>
              <a:gd name="adj" fmla="val 7692"/>
            </a:avLst>
          </a:prstGeom>
          <a:solidFill>
            <a:srgbClr val="1C1C22"/>
          </a:solidFill>
          <a:ln w="9525">
            <a:solidFill>
              <a:srgbClr val="1C1C22"/>
            </a:solidFill>
            <a:prstDash val="solid"/>
          </a:ln>
        </p:spPr>
      </p:sp>
      <p:sp>
        <p:nvSpPr>
          <p:cNvPr id="11" name="Text 9"/>
          <p:cNvSpPr txBox="1"/>
          <p:nvPr/>
        </p:nvSpPr>
        <p:spPr>
          <a:xfrm>
            <a:off x="1463040" y="1600200"/>
            <a:ext cx="713232" cy="713232"/>
          </a:xfrm>
          <a:prstGeom prst="rect">
            <a:avLst/>
          </a:prstGeom>
          <a:noFill/>
          <a:ln/>
        </p:spPr>
        <p:txBody>
          <a:bodyPr wrap="square" lIns="0" tIns="0" rIns="0" bIns="0" rtlCol="0" anchor="ctr"/>
          <a:lstStyle/>
          <a:p>
            <a:pPr algn="ctr" indent="0" marL="0">
              <a:buNone/>
            </a:pPr>
            <a:r>
              <a:rPr lang="en-US" sz="2000" b="1" dirty="0">
                <a:solidFill>
                  <a:srgbClr val="B8AB84"/>
                </a:solidFill>
                <a:latin typeface="Cambria" pitchFamily="34" charset="0"/>
                <a:ea typeface="Cambria" pitchFamily="34" charset="-122"/>
                <a:cs typeface="Cambria" pitchFamily="34" charset="-120"/>
              </a:rPr>
              <a:t>17</a:t>
            </a:r>
            <a:endParaRPr lang="en-US" sz="2000" dirty="0"/>
          </a:p>
        </p:txBody>
      </p:sp>
      <p:sp>
        <p:nvSpPr>
          <p:cNvPr id="12" name="Shape 10"/>
          <p:cNvSpPr/>
          <p:nvPr/>
        </p:nvSpPr>
        <p:spPr>
          <a:xfrm>
            <a:off x="2249424" y="1600200"/>
            <a:ext cx="713232" cy="713232"/>
          </a:xfrm>
          <a:prstGeom prst="roundRect">
            <a:avLst>
              <a:gd name="adj" fmla="val 7692"/>
            </a:avLst>
          </a:prstGeom>
          <a:solidFill>
            <a:srgbClr val="B8AB84"/>
          </a:solidFill>
          <a:ln w="9525">
            <a:solidFill>
              <a:srgbClr val="B8AB84"/>
            </a:solidFill>
            <a:prstDash val="solid"/>
          </a:ln>
        </p:spPr>
      </p:sp>
      <p:sp>
        <p:nvSpPr>
          <p:cNvPr id="13" name="Text 11"/>
          <p:cNvSpPr txBox="1"/>
          <p:nvPr/>
        </p:nvSpPr>
        <p:spPr>
          <a:xfrm>
            <a:off x="2249424" y="1600200"/>
            <a:ext cx="713232" cy="713232"/>
          </a:xfrm>
          <a:prstGeom prst="rect">
            <a:avLst/>
          </a:prstGeom>
          <a:noFill/>
          <a:ln/>
        </p:spPr>
        <p:txBody>
          <a:bodyPr wrap="square" lIns="0" tIns="0" rIns="0" bIns="0" rtlCol="0" anchor="ctr"/>
          <a:lstStyle/>
          <a:p>
            <a:pPr algn="ctr" indent="0" marL="0">
              <a:buNone/>
            </a:pPr>
            <a:r>
              <a:rPr lang="en-US" sz="2000" b="1" dirty="0">
                <a:solidFill>
                  <a:srgbClr val="1C1C22"/>
                </a:solidFill>
                <a:latin typeface="Cambria" pitchFamily="34" charset="0"/>
                <a:ea typeface="Cambria" pitchFamily="34" charset="-122"/>
                <a:cs typeface="Cambria" pitchFamily="34" charset="-120"/>
              </a:rPr>
              <a:t>1</a:t>
            </a:r>
            <a:endParaRPr lang="en-US" sz="2000" dirty="0"/>
          </a:p>
        </p:txBody>
      </p:sp>
      <p:sp>
        <p:nvSpPr>
          <p:cNvPr id="14" name="Shape 12"/>
          <p:cNvSpPr/>
          <p:nvPr/>
        </p:nvSpPr>
        <p:spPr>
          <a:xfrm>
            <a:off x="3035808" y="1600200"/>
            <a:ext cx="713232" cy="713232"/>
          </a:xfrm>
          <a:prstGeom prst="roundRect">
            <a:avLst>
              <a:gd name="adj" fmla="val 7692"/>
            </a:avLst>
          </a:prstGeom>
          <a:solidFill>
            <a:srgbClr val="F2F1ED"/>
          </a:solidFill>
          <a:ln w="9525">
            <a:solidFill>
              <a:srgbClr val="D8D6CE"/>
            </a:solidFill>
            <a:prstDash val="solid"/>
          </a:ln>
        </p:spPr>
      </p:sp>
      <p:sp>
        <p:nvSpPr>
          <p:cNvPr id="15" name="Text 13"/>
          <p:cNvSpPr txBox="1"/>
          <p:nvPr/>
        </p:nvSpPr>
        <p:spPr>
          <a:xfrm>
            <a:off x="3035808" y="1600200"/>
            <a:ext cx="713232" cy="713232"/>
          </a:xfrm>
          <a:prstGeom prst="rect">
            <a:avLst/>
          </a:prstGeom>
          <a:noFill/>
          <a:ln/>
        </p:spPr>
        <p:txBody>
          <a:bodyPr wrap="square" lIns="0" tIns="0" rIns="0" bIns="0" rtlCol="0" anchor="ctr"/>
          <a:lstStyle/>
          <a:p>
            <a:pPr algn="ctr" indent="0" marL="0">
              <a:buNone/>
            </a:pPr>
            <a:r>
              <a:rPr lang="en-US" sz="2000" b="1" dirty="0">
                <a:solidFill>
                  <a:srgbClr val="9A9AA3"/>
                </a:solidFill>
                <a:latin typeface="Cambria" pitchFamily="34" charset="0"/>
                <a:ea typeface="Cambria" pitchFamily="34" charset="-122"/>
                <a:cs typeface="Cambria" pitchFamily="34" charset="-120"/>
              </a:rPr>
              <a:t>0</a:t>
            </a:r>
            <a:endParaRPr lang="en-US" sz="2000" dirty="0"/>
          </a:p>
        </p:txBody>
      </p:sp>
      <p:sp>
        <p:nvSpPr>
          <p:cNvPr id="16" name="Text 14"/>
          <p:cNvSpPr txBox="1"/>
          <p:nvPr/>
        </p:nvSpPr>
        <p:spPr>
          <a:xfrm>
            <a:off x="548640" y="2386584"/>
            <a:ext cx="822960" cy="713232"/>
          </a:xfrm>
          <a:prstGeom prst="rect">
            <a:avLst/>
          </a:prstGeom>
          <a:noFill/>
          <a:ln/>
        </p:spPr>
        <p:txBody>
          <a:bodyPr wrap="square" lIns="0" tIns="0" rIns="0" bIns="0" rtlCol="0" anchor="ctr"/>
          <a:lstStyle/>
          <a:p>
            <a:pPr algn="r" indent="0" marL="0">
              <a:buNone/>
            </a:pPr>
            <a:r>
              <a:rPr lang="en-US" sz="950" b="1" dirty="0">
                <a:solidFill>
                  <a:srgbClr val="8F8260"/>
                </a:solidFill>
                <a:latin typeface="Calibri" pitchFamily="34" charset="0"/>
                <a:ea typeface="Calibri" pitchFamily="34" charset="-122"/>
                <a:cs typeface="Calibri" pitchFamily="34" charset="-120"/>
              </a:rPr>
              <a:t>сорт 1</a:t>
            </a:r>
            <a:endParaRPr lang="en-US" sz="950" dirty="0"/>
          </a:p>
        </p:txBody>
      </p:sp>
      <p:sp>
        <p:nvSpPr>
          <p:cNvPr id="17" name="Shape 15"/>
          <p:cNvSpPr/>
          <p:nvPr/>
        </p:nvSpPr>
        <p:spPr>
          <a:xfrm>
            <a:off x="1463040" y="2386584"/>
            <a:ext cx="713232" cy="713232"/>
          </a:xfrm>
          <a:prstGeom prst="roundRect">
            <a:avLst>
              <a:gd name="adj" fmla="val 7692"/>
            </a:avLst>
          </a:prstGeom>
          <a:solidFill>
            <a:srgbClr val="F2F1ED"/>
          </a:solidFill>
          <a:ln w="9525">
            <a:solidFill>
              <a:srgbClr val="D8D6CE"/>
            </a:solidFill>
            <a:prstDash val="solid"/>
          </a:ln>
        </p:spPr>
      </p:sp>
      <p:sp>
        <p:nvSpPr>
          <p:cNvPr id="18" name="Text 16"/>
          <p:cNvSpPr txBox="1"/>
          <p:nvPr/>
        </p:nvSpPr>
        <p:spPr>
          <a:xfrm>
            <a:off x="1463040" y="2386584"/>
            <a:ext cx="713232" cy="713232"/>
          </a:xfrm>
          <a:prstGeom prst="rect">
            <a:avLst/>
          </a:prstGeom>
          <a:noFill/>
          <a:ln/>
        </p:spPr>
        <p:txBody>
          <a:bodyPr wrap="square" lIns="0" tIns="0" rIns="0" bIns="0" rtlCol="0" anchor="ctr"/>
          <a:lstStyle/>
          <a:p>
            <a:pPr algn="ctr" indent="0" marL="0">
              <a:buNone/>
            </a:pPr>
            <a:r>
              <a:rPr lang="en-US" sz="2000" b="1" dirty="0">
                <a:solidFill>
                  <a:srgbClr val="9A9AA3"/>
                </a:solidFill>
                <a:latin typeface="Cambria" pitchFamily="34" charset="0"/>
                <a:ea typeface="Cambria" pitchFamily="34" charset="-122"/>
                <a:cs typeface="Cambria" pitchFamily="34" charset="-120"/>
              </a:rPr>
              <a:t>0</a:t>
            </a:r>
            <a:endParaRPr lang="en-US" sz="2000" dirty="0"/>
          </a:p>
        </p:txBody>
      </p:sp>
      <p:sp>
        <p:nvSpPr>
          <p:cNvPr id="19" name="Shape 17"/>
          <p:cNvSpPr/>
          <p:nvPr/>
        </p:nvSpPr>
        <p:spPr>
          <a:xfrm>
            <a:off x="2249424" y="2386584"/>
            <a:ext cx="713232" cy="713232"/>
          </a:xfrm>
          <a:prstGeom prst="roundRect">
            <a:avLst>
              <a:gd name="adj" fmla="val 7692"/>
            </a:avLst>
          </a:prstGeom>
          <a:solidFill>
            <a:srgbClr val="1C1C22"/>
          </a:solidFill>
          <a:ln w="9525">
            <a:solidFill>
              <a:srgbClr val="1C1C22"/>
            </a:solidFill>
            <a:prstDash val="solid"/>
          </a:ln>
        </p:spPr>
      </p:sp>
      <p:sp>
        <p:nvSpPr>
          <p:cNvPr id="20" name="Text 18"/>
          <p:cNvSpPr txBox="1"/>
          <p:nvPr/>
        </p:nvSpPr>
        <p:spPr>
          <a:xfrm>
            <a:off x="2249424" y="2386584"/>
            <a:ext cx="713232" cy="713232"/>
          </a:xfrm>
          <a:prstGeom prst="rect">
            <a:avLst/>
          </a:prstGeom>
          <a:noFill/>
          <a:ln/>
        </p:spPr>
        <p:txBody>
          <a:bodyPr wrap="square" lIns="0" tIns="0" rIns="0" bIns="0" rtlCol="0" anchor="ctr"/>
          <a:lstStyle/>
          <a:p>
            <a:pPr algn="ctr" indent="0" marL="0">
              <a:buNone/>
            </a:pPr>
            <a:r>
              <a:rPr lang="en-US" sz="2000" b="1" dirty="0">
                <a:solidFill>
                  <a:srgbClr val="B8AB84"/>
                </a:solidFill>
                <a:latin typeface="Cambria" pitchFamily="34" charset="0"/>
                <a:ea typeface="Cambria" pitchFamily="34" charset="-122"/>
                <a:cs typeface="Cambria" pitchFamily="34" charset="-120"/>
              </a:rPr>
              <a:t>21</a:t>
            </a:r>
            <a:endParaRPr lang="en-US" sz="2000" dirty="0"/>
          </a:p>
        </p:txBody>
      </p:sp>
      <p:sp>
        <p:nvSpPr>
          <p:cNvPr id="21" name="Shape 19"/>
          <p:cNvSpPr/>
          <p:nvPr/>
        </p:nvSpPr>
        <p:spPr>
          <a:xfrm>
            <a:off x="3035808" y="2386584"/>
            <a:ext cx="713232" cy="713232"/>
          </a:xfrm>
          <a:prstGeom prst="roundRect">
            <a:avLst>
              <a:gd name="adj" fmla="val 7692"/>
            </a:avLst>
          </a:prstGeom>
          <a:solidFill>
            <a:srgbClr val="F2F1ED"/>
          </a:solidFill>
          <a:ln w="9525">
            <a:solidFill>
              <a:srgbClr val="D8D6CE"/>
            </a:solidFill>
            <a:prstDash val="solid"/>
          </a:ln>
        </p:spPr>
      </p:sp>
      <p:sp>
        <p:nvSpPr>
          <p:cNvPr id="22" name="Text 20"/>
          <p:cNvSpPr txBox="1"/>
          <p:nvPr/>
        </p:nvSpPr>
        <p:spPr>
          <a:xfrm>
            <a:off x="3035808" y="2386584"/>
            <a:ext cx="713232" cy="713232"/>
          </a:xfrm>
          <a:prstGeom prst="rect">
            <a:avLst/>
          </a:prstGeom>
          <a:noFill/>
          <a:ln/>
        </p:spPr>
        <p:txBody>
          <a:bodyPr wrap="square" lIns="0" tIns="0" rIns="0" bIns="0" rtlCol="0" anchor="ctr"/>
          <a:lstStyle/>
          <a:p>
            <a:pPr algn="ctr" indent="0" marL="0">
              <a:buNone/>
            </a:pPr>
            <a:r>
              <a:rPr lang="en-US" sz="2000" b="1" dirty="0">
                <a:solidFill>
                  <a:srgbClr val="9A9AA3"/>
                </a:solidFill>
                <a:latin typeface="Cambria" pitchFamily="34" charset="0"/>
                <a:ea typeface="Cambria" pitchFamily="34" charset="-122"/>
                <a:cs typeface="Cambria" pitchFamily="34" charset="-120"/>
              </a:rPr>
              <a:t>0</a:t>
            </a:r>
            <a:endParaRPr lang="en-US" sz="2000" dirty="0"/>
          </a:p>
        </p:txBody>
      </p:sp>
      <p:sp>
        <p:nvSpPr>
          <p:cNvPr id="23" name="Text 21"/>
          <p:cNvSpPr txBox="1"/>
          <p:nvPr/>
        </p:nvSpPr>
        <p:spPr>
          <a:xfrm>
            <a:off x="548640" y="3172968"/>
            <a:ext cx="822960" cy="713232"/>
          </a:xfrm>
          <a:prstGeom prst="rect">
            <a:avLst/>
          </a:prstGeom>
          <a:noFill/>
          <a:ln/>
        </p:spPr>
        <p:txBody>
          <a:bodyPr wrap="square" lIns="0" tIns="0" rIns="0" bIns="0" rtlCol="0" anchor="ctr"/>
          <a:lstStyle/>
          <a:p>
            <a:pPr algn="r" indent="0" marL="0">
              <a:buNone/>
            </a:pPr>
            <a:r>
              <a:rPr lang="en-US" sz="950" b="1" dirty="0">
                <a:solidFill>
                  <a:srgbClr val="8F8260"/>
                </a:solidFill>
                <a:latin typeface="Calibri" pitchFamily="34" charset="0"/>
                <a:ea typeface="Calibri" pitchFamily="34" charset="-122"/>
                <a:cs typeface="Calibri" pitchFamily="34" charset="-120"/>
              </a:rPr>
              <a:t>сорт 2</a:t>
            </a:r>
            <a:endParaRPr lang="en-US" sz="950" dirty="0"/>
          </a:p>
        </p:txBody>
      </p:sp>
      <p:sp>
        <p:nvSpPr>
          <p:cNvPr id="24" name="Shape 22"/>
          <p:cNvSpPr/>
          <p:nvPr/>
        </p:nvSpPr>
        <p:spPr>
          <a:xfrm>
            <a:off x="1463040" y="3172968"/>
            <a:ext cx="713232" cy="713232"/>
          </a:xfrm>
          <a:prstGeom prst="roundRect">
            <a:avLst>
              <a:gd name="adj" fmla="val 7692"/>
            </a:avLst>
          </a:prstGeom>
          <a:solidFill>
            <a:srgbClr val="F2F1ED"/>
          </a:solidFill>
          <a:ln w="9525">
            <a:solidFill>
              <a:srgbClr val="D8D6CE"/>
            </a:solidFill>
            <a:prstDash val="solid"/>
          </a:ln>
        </p:spPr>
      </p:sp>
      <p:sp>
        <p:nvSpPr>
          <p:cNvPr id="25" name="Text 23"/>
          <p:cNvSpPr txBox="1"/>
          <p:nvPr/>
        </p:nvSpPr>
        <p:spPr>
          <a:xfrm>
            <a:off x="1463040" y="3172968"/>
            <a:ext cx="713232" cy="713232"/>
          </a:xfrm>
          <a:prstGeom prst="rect">
            <a:avLst/>
          </a:prstGeom>
          <a:noFill/>
          <a:ln/>
        </p:spPr>
        <p:txBody>
          <a:bodyPr wrap="square" lIns="0" tIns="0" rIns="0" bIns="0" rtlCol="0" anchor="ctr"/>
          <a:lstStyle/>
          <a:p>
            <a:pPr algn="ctr" indent="0" marL="0">
              <a:buNone/>
            </a:pPr>
            <a:r>
              <a:rPr lang="en-US" sz="2000" b="1" dirty="0">
                <a:solidFill>
                  <a:srgbClr val="9A9AA3"/>
                </a:solidFill>
                <a:latin typeface="Cambria" pitchFamily="34" charset="0"/>
                <a:ea typeface="Cambria" pitchFamily="34" charset="-122"/>
                <a:cs typeface="Cambria" pitchFamily="34" charset="-120"/>
              </a:rPr>
              <a:t>0</a:t>
            </a:r>
            <a:endParaRPr lang="en-US" sz="2000" dirty="0"/>
          </a:p>
        </p:txBody>
      </p:sp>
      <p:sp>
        <p:nvSpPr>
          <p:cNvPr id="26" name="Shape 24"/>
          <p:cNvSpPr/>
          <p:nvPr/>
        </p:nvSpPr>
        <p:spPr>
          <a:xfrm>
            <a:off x="2249424" y="3172968"/>
            <a:ext cx="713232" cy="713232"/>
          </a:xfrm>
          <a:prstGeom prst="roundRect">
            <a:avLst>
              <a:gd name="adj" fmla="val 7692"/>
            </a:avLst>
          </a:prstGeom>
          <a:solidFill>
            <a:srgbClr val="B8AB84"/>
          </a:solidFill>
          <a:ln w="9525">
            <a:solidFill>
              <a:srgbClr val="B8AB84"/>
            </a:solidFill>
            <a:prstDash val="solid"/>
          </a:ln>
        </p:spPr>
      </p:sp>
      <p:sp>
        <p:nvSpPr>
          <p:cNvPr id="27" name="Text 25"/>
          <p:cNvSpPr txBox="1"/>
          <p:nvPr/>
        </p:nvSpPr>
        <p:spPr>
          <a:xfrm>
            <a:off x="2249424" y="3172968"/>
            <a:ext cx="713232" cy="713232"/>
          </a:xfrm>
          <a:prstGeom prst="rect">
            <a:avLst/>
          </a:prstGeom>
          <a:noFill/>
          <a:ln/>
        </p:spPr>
        <p:txBody>
          <a:bodyPr wrap="square" lIns="0" tIns="0" rIns="0" bIns="0" rtlCol="0" anchor="ctr"/>
          <a:lstStyle/>
          <a:p>
            <a:pPr algn="ctr" indent="0" marL="0">
              <a:buNone/>
            </a:pPr>
            <a:r>
              <a:rPr lang="en-US" sz="2000" b="1" dirty="0">
                <a:solidFill>
                  <a:srgbClr val="1C1C22"/>
                </a:solidFill>
                <a:latin typeface="Cambria" pitchFamily="34" charset="0"/>
                <a:ea typeface="Cambria" pitchFamily="34" charset="-122"/>
                <a:cs typeface="Cambria" pitchFamily="34" charset="-120"/>
              </a:rPr>
              <a:t>1</a:t>
            </a:r>
            <a:endParaRPr lang="en-US" sz="2000" dirty="0"/>
          </a:p>
        </p:txBody>
      </p:sp>
      <p:sp>
        <p:nvSpPr>
          <p:cNvPr id="28" name="Shape 26"/>
          <p:cNvSpPr/>
          <p:nvPr/>
        </p:nvSpPr>
        <p:spPr>
          <a:xfrm>
            <a:off x="3035808" y="3172968"/>
            <a:ext cx="713232" cy="713232"/>
          </a:xfrm>
          <a:prstGeom prst="roundRect">
            <a:avLst>
              <a:gd name="adj" fmla="val 7692"/>
            </a:avLst>
          </a:prstGeom>
          <a:solidFill>
            <a:srgbClr val="1C1C22"/>
          </a:solidFill>
          <a:ln w="9525">
            <a:solidFill>
              <a:srgbClr val="1C1C22"/>
            </a:solidFill>
            <a:prstDash val="solid"/>
          </a:ln>
        </p:spPr>
      </p:sp>
      <p:sp>
        <p:nvSpPr>
          <p:cNvPr id="29" name="Text 27"/>
          <p:cNvSpPr txBox="1"/>
          <p:nvPr/>
        </p:nvSpPr>
        <p:spPr>
          <a:xfrm>
            <a:off x="3035808" y="3172968"/>
            <a:ext cx="713232" cy="713232"/>
          </a:xfrm>
          <a:prstGeom prst="rect">
            <a:avLst/>
          </a:prstGeom>
          <a:noFill/>
          <a:ln/>
        </p:spPr>
        <p:txBody>
          <a:bodyPr wrap="square" lIns="0" tIns="0" rIns="0" bIns="0" rtlCol="0" anchor="ctr"/>
          <a:lstStyle/>
          <a:p>
            <a:pPr algn="ctr" indent="0" marL="0">
              <a:buNone/>
            </a:pPr>
            <a:r>
              <a:rPr lang="en-US" sz="2000" b="1" dirty="0">
                <a:solidFill>
                  <a:srgbClr val="B8AB84"/>
                </a:solidFill>
                <a:latin typeface="Cambria" pitchFamily="34" charset="0"/>
                <a:ea typeface="Cambria" pitchFamily="34" charset="-122"/>
                <a:cs typeface="Cambria" pitchFamily="34" charset="-120"/>
              </a:rPr>
              <a:t>14</a:t>
            </a:r>
            <a:endParaRPr lang="en-US" sz="2000" dirty="0"/>
          </a:p>
        </p:txBody>
      </p:sp>
      <p:sp>
        <p:nvSpPr>
          <p:cNvPr id="30" name="Text 28"/>
          <p:cNvSpPr txBox="1"/>
          <p:nvPr/>
        </p:nvSpPr>
        <p:spPr>
          <a:xfrm>
            <a:off x="548640" y="4023360"/>
            <a:ext cx="4023360" cy="457200"/>
          </a:xfrm>
          <a:prstGeom prst="rect">
            <a:avLst/>
          </a:prstGeom>
          <a:noFill/>
          <a:ln/>
        </p:spPr>
        <p:txBody>
          <a:bodyPr wrap="square" lIns="0" tIns="0" rIns="0" bIns="0" rtlCol="0" anchor="t"/>
          <a:lstStyle/>
          <a:p>
            <a:pPr indent="0" marL="0">
              <a:buNone/>
            </a:pPr>
            <a:r>
              <a:rPr lang="en-US" sz="1050" dirty="0">
                <a:solidFill>
                  <a:srgbClr val="6E6E78"/>
                </a:solidFill>
                <a:latin typeface="Calibri" pitchFamily="34" charset="0"/>
                <a:ea typeface="Calibri" pitchFamily="34" charset="-122"/>
                <a:cs typeface="Calibri" pitchFamily="34" charset="-120"/>
              </a:rPr>
              <a:t>Класс k против остальных: TP – диагональ, FP – остаток столбца, FN – остаток строки.</a:t>
            </a:r>
            <a:endParaRPr lang="en-US" sz="1050" dirty="0"/>
          </a:p>
        </p:txBody>
      </p:sp>
      <p:sp>
        <p:nvSpPr>
          <p:cNvPr id="31" name="Shape 29"/>
          <p:cNvSpPr/>
          <p:nvPr/>
        </p:nvSpPr>
        <p:spPr>
          <a:xfrm>
            <a:off x="4937760" y="1234440"/>
            <a:ext cx="3703320" cy="1188720"/>
          </a:xfrm>
          <a:prstGeom prst="roundRect">
            <a:avLst>
              <a:gd name="adj" fmla="val 6154"/>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32" name="Text 30"/>
          <p:cNvSpPr txBox="1"/>
          <p:nvPr/>
        </p:nvSpPr>
        <p:spPr>
          <a:xfrm>
            <a:off x="5166360" y="1399032"/>
            <a:ext cx="146304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MACRO</a:t>
            </a:r>
            <a:endParaRPr lang="en-US" sz="900" dirty="0"/>
          </a:p>
        </p:txBody>
      </p:sp>
      <p:sp>
        <p:nvSpPr>
          <p:cNvPr id="33" name="Text 31"/>
          <p:cNvSpPr txBox="1"/>
          <p:nvPr/>
        </p:nvSpPr>
        <p:spPr>
          <a:xfrm>
            <a:off x="5166360" y="1618488"/>
            <a:ext cx="1280160" cy="548640"/>
          </a:xfrm>
          <a:prstGeom prst="rect">
            <a:avLst/>
          </a:prstGeom>
          <a:noFill/>
          <a:ln/>
        </p:spPr>
        <p:txBody>
          <a:bodyPr wrap="square" lIns="0" tIns="0" rIns="0" bIns="0" rtlCol="0" anchor="ctr"/>
          <a:lstStyle/>
          <a:p>
            <a:pPr indent="0" marL="0">
              <a:buNone/>
            </a:pPr>
            <a:r>
              <a:rPr lang="en-US" sz="2800" b="1" dirty="0">
                <a:solidFill>
                  <a:srgbClr val="8F8260"/>
                </a:solidFill>
                <a:latin typeface="Cambria" pitchFamily="34" charset="0"/>
                <a:ea typeface="Cambria" pitchFamily="34" charset="-122"/>
                <a:cs typeface="Cambria" pitchFamily="34" charset="-120"/>
              </a:rPr>
              <a:t>0.964</a:t>
            </a:r>
            <a:endParaRPr lang="en-US" sz="2800" dirty="0"/>
          </a:p>
        </p:txBody>
      </p:sp>
      <p:sp>
        <p:nvSpPr>
          <p:cNvPr id="34" name="Text 32"/>
          <p:cNvSpPr txBox="1"/>
          <p:nvPr/>
        </p:nvSpPr>
        <p:spPr>
          <a:xfrm>
            <a:off x="6446520" y="1417320"/>
            <a:ext cx="2057400" cy="868680"/>
          </a:xfrm>
          <a:prstGeom prst="rect">
            <a:avLst/>
          </a:prstGeom>
          <a:noFill/>
          <a:ln/>
        </p:spPr>
        <p:txBody>
          <a:bodyPr wrap="square" lIns="0" tIns="0" rIns="0" bIns="0" rtlCol="0" anchor="ctr"/>
          <a:lstStyle/>
          <a:p>
            <a:pPr indent="0" marL="0">
              <a:buNone/>
            </a:pPr>
            <a:r>
              <a:rPr lang="en-US" sz="1000" dirty="0">
                <a:solidFill>
                  <a:srgbClr val="6E6E78"/>
                </a:solidFill>
                <a:latin typeface="Calibri" pitchFamily="34" charset="0"/>
                <a:ea typeface="Calibri" pitchFamily="34" charset="-122"/>
                <a:cs typeface="Calibri" pitchFamily="34" charset="-120"/>
              </a:rPr>
              <a:t>F₁ каждого класса, затем обычное среднее. Все классы равноправны.</a:t>
            </a:r>
            <a:endParaRPr lang="en-US" sz="1000" dirty="0"/>
          </a:p>
        </p:txBody>
      </p:sp>
      <p:sp>
        <p:nvSpPr>
          <p:cNvPr id="35" name="Shape 33"/>
          <p:cNvSpPr/>
          <p:nvPr/>
        </p:nvSpPr>
        <p:spPr>
          <a:xfrm>
            <a:off x="4937760" y="2606040"/>
            <a:ext cx="3703320" cy="1188720"/>
          </a:xfrm>
          <a:prstGeom prst="roundRect">
            <a:avLst>
              <a:gd name="adj" fmla="val 6154"/>
            </a:avLst>
          </a:prstGeom>
          <a:solidFill>
            <a:srgbClr val="F2F1ED"/>
          </a:solidFill>
          <a:ln w="9525">
            <a:solidFill>
              <a:srgbClr val="F2F1ED"/>
            </a:solidFill>
            <a:prstDash val="solid"/>
          </a:ln>
        </p:spPr>
      </p:sp>
      <p:sp>
        <p:nvSpPr>
          <p:cNvPr id="36" name="Text 34"/>
          <p:cNvSpPr txBox="1"/>
          <p:nvPr/>
        </p:nvSpPr>
        <p:spPr>
          <a:xfrm>
            <a:off x="5166360" y="2770632"/>
            <a:ext cx="146304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MICRO</a:t>
            </a:r>
            <a:endParaRPr lang="en-US" sz="900" dirty="0"/>
          </a:p>
        </p:txBody>
      </p:sp>
      <p:sp>
        <p:nvSpPr>
          <p:cNvPr id="37" name="Text 35"/>
          <p:cNvSpPr txBox="1"/>
          <p:nvPr/>
        </p:nvSpPr>
        <p:spPr>
          <a:xfrm>
            <a:off x="5166360" y="2990088"/>
            <a:ext cx="1280160" cy="548640"/>
          </a:xfrm>
          <a:prstGeom prst="rect">
            <a:avLst/>
          </a:prstGeom>
          <a:noFill/>
          <a:ln/>
        </p:spPr>
        <p:txBody>
          <a:bodyPr wrap="square" lIns="0" tIns="0" rIns="0" bIns="0" rtlCol="0" anchor="ctr"/>
          <a:lstStyle/>
          <a:p>
            <a:pPr indent="0" marL="0">
              <a:buNone/>
            </a:pPr>
            <a:r>
              <a:rPr lang="en-US" sz="2800" b="1" dirty="0">
                <a:solidFill>
                  <a:srgbClr val="8F8260"/>
                </a:solidFill>
                <a:latin typeface="Cambria" pitchFamily="34" charset="0"/>
                <a:ea typeface="Cambria" pitchFamily="34" charset="-122"/>
                <a:cs typeface="Cambria" pitchFamily="34" charset="-120"/>
              </a:rPr>
              <a:t>0.963</a:t>
            </a:r>
            <a:endParaRPr lang="en-US" sz="2800" dirty="0"/>
          </a:p>
        </p:txBody>
      </p:sp>
      <p:sp>
        <p:nvSpPr>
          <p:cNvPr id="38" name="Text 36"/>
          <p:cNvSpPr txBox="1"/>
          <p:nvPr/>
        </p:nvSpPr>
        <p:spPr>
          <a:xfrm>
            <a:off x="6446520" y="2788920"/>
            <a:ext cx="2057400" cy="868680"/>
          </a:xfrm>
          <a:prstGeom prst="rect">
            <a:avLst/>
          </a:prstGeom>
          <a:noFill/>
          <a:ln/>
        </p:spPr>
        <p:txBody>
          <a:bodyPr wrap="square" lIns="0" tIns="0" rIns="0" bIns="0" rtlCol="0" anchor="ctr"/>
          <a:lstStyle/>
          <a:p>
            <a:pPr indent="0" marL="0">
              <a:buNone/>
            </a:pPr>
            <a:r>
              <a:rPr lang="en-US" sz="1000" dirty="0">
                <a:solidFill>
                  <a:srgbClr val="6E6E78"/>
                </a:solidFill>
                <a:latin typeface="Calibri" pitchFamily="34" charset="0"/>
                <a:ea typeface="Calibri" pitchFamily="34" charset="-122"/>
                <a:cs typeface="Calibri" pitchFamily="34" charset="-120"/>
              </a:rPr>
              <a:t>Сначала складываем TP, FP, FN всех классов. Для precision и recall это accuracy.</a:t>
            </a:r>
            <a:endParaRPr lang="en-US" sz="1000" dirty="0"/>
          </a:p>
        </p:txBody>
      </p:sp>
      <p:pic>
        <p:nvPicPr>
          <p:cNvPr id="39" name="Image 0" descr="img/ic_bulb_d.png">    </p:cNvPr>
          <p:cNvPicPr>
            <a:picLocks noChangeAspect="1"/>
          </p:cNvPicPr>
          <p:nvPr/>
        </p:nvPicPr>
        <p:blipFill>
          <a:blip r:embed="rId1"/>
          <a:stretch>
            <a:fillRect/>
          </a:stretch>
        </p:blipFill>
        <p:spPr>
          <a:xfrm>
            <a:off x="4983480" y="4041648"/>
            <a:ext cx="237744" cy="237744"/>
          </a:xfrm>
          <a:prstGeom prst="rect">
            <a:avLst/>
          </a:prstGeom>
        </p:spPr>
      </p:pic>
      <p:sp>
        <p:nvSpPr>
          <p:cNvPr id="40" name="Text 37"/>
          <p:cNvSpPr txBox="1"/>
          <p:nvPr/>
        </p:nvSpPr>
        <p:spPr>
          <a:xfrm>
            <a:off x="5349240" y="3977640"/>
            <a:ext cx="3291840" cy="502920"/>
          </a:xfrm>
          <a:prstGeom prst="rect">
            <a:avLst/>
          </a:prstGeom>
          <a:noFill/>
          <a:ln/>
        </p:spPr>
        <p:txBody>
          <a:bodyPr wrap="square" lIns="0" tIns="0" rIns="0" bIns="0" rtlCol="0" anchor="t"/>
          <a:lstStyle/>
          <a:p>
            <a:pPr indent="0" marL="0">
              <a:buNone/>
            </a:pPr>
            <a:r>
              <a:rPr lang="en-US" sz="1050" b="1" dirty="0">
                <a:solidFill>
                  <a:srgbClr val="1C1C22"/>
                </a:solidFill>
                <a:latin typeface="Cambria" pitchFamily="34" charset="0"/>
                <a:ea typeface="Cambria" pitchFamily="34" charset="-122"/>
                <a:cs typeface="Cambria" pitchFamily="34" charset="-120"/>
              </a:rPr>
              <a:t>Редкий класс, который модель не видит, сразу обрушит macro, а micro почти не заметит.</a:t>
            </a:r>
            <a:endParaRPr lang="en-US" sz="1050" dirty="0"/>
          </a:p>
        </p:txBody>
      </p:sp>
      <p:sp>
        <p:nvSpPr>
          <p:cNvPr id="41" name="Text 38"/>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42" name="Text 39"/>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РЕГРЕССИЯ</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Когда модель предсказывает число</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4023360" cy="914400"/>
        </p:xfrm>
        <a:graphic>
          <a:graphicData uri="http://schemas.openxmlformats.org/drawingml/2006/table">
            <a:tbl>
              <a:tblPr/>
              <a:tblGrid>
                <a:gridCol w="640080"/>
                <a:gridCol w="868680"/>
                <a:gridCol w="822960"/>
                <a:gridCol w="868680"/>
                <a:gridCol w="82296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день</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1C1C2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факт, °C</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1C1C2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прогноз</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1C1C2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ошибка</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1C1C2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квадрат</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1C1C22"/>
                    </a:solidFill>
                  </a:tcPr>
                </a:tc>
              </a:tr>
              <a:tr h="329184">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r>
              <a:tr h="329184">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F826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F826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2F1ED"/>
                    </a:solidFill>
                  </a:tcPr>
                </a:tc>
              </a:tr>
              <a:tr h="329184">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C22"/>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сумма</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модули: 4</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657600"/>
            <a:ext cx="4023360" cy="411480"/>
          </a:xfrm>
          <a:prstGeom prst="rect">
            <a:avLst/>
          </a:prstGeom>
          <a:noFill/>
          <a:ln/>
        </p:spPr>
        <p:txBody>
          <a:bodyPr wrap="square" lIns="0" tIns="0" rIns="0" bIns="0" rtlCol="0" anchor="t"/>
          <a:lstStyle/>
          <a:p>
            <a:pPr indent="0" marL="0">
              <a:buNone/>
            </a:pPr>
            <a:r>
              <a:rPr lang="en-US" sz="1050" i="1" dirty="0">
                <a:solidFill>
                  <a:srgbClr val="8F8260"/>
                </a:solidFill>
                <a:latin typeface="Calibri" pitchFamily="34" charset="0"/>
                <a:ea typeface="Calibri" pitchFamily="34" charset="-122"/>
                <a:cs typeface="Calibri" pitchFamily="34" charset="-120"/>
              </a:rPr>
              <a:t>Одна ошибка в 2 °C дает 4 из 5.5 – почти три четверти всей MSE.</a:t>
            </a:r>
            <a:endParaRPr lang="en-US" sz="1050" dirty="0"/>
          </a:p>
        </p:txBody>
      </p:sp>
      <p:sp>
        <p:nvSpPr>
          <p:cNvPr id="6" name="Shape 3"/>
          <p:cNvSpPr/>
          <p:nvPr/>
        </p:nvSpPr>
        <p:spPr>
          <a:xfrm>
            <a:off x="4754880" y="1234440"/>
            <a:ext cx="1874520" cy="1371600"/>
          </a:xfrm>
          <a:prstGeom prst="roundRect">
            <a:avLst>
              <a:gd name="adj" fmla="val 533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4937760" y="1344168"/>
            <a:ext cx="914400" cy="256032"/>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MAE</a:t>
            </a:r>
            <a:endParaRPr lang="en-US" sz="1250" dirty="0"/>
          </a:p>
        </p:txBody>
      </p:sp>
      <p:sp>
        <p:nvSpPr>
          <p:cNvPr id="8" name="Text 5"/>
          <p:cNvSpPr txBox="1"/>
          <p:nvPr/>
        </p:nvSpPr>
        <p:spPr>
          <a:xfrm>
            <a:off x="4937760" y="1600200"/>
            <a:ext cx="1554480" cy="457200"/>
          </a:xfrm>
          <a:prstGeom prst="rect">
            <a:avLst/>
          </a:prstGeom>
          <a:noFill/>
          <a:ln/>
        </p:spPr>
        <p:txBody>
          <a:bodyPr wrap="square" lIns="0" tIns="0" rIns="0" bIns="0" rtlCol="0" anchor="ctr"/>
          <a:lstStyle/>
          <a:p>
            <a:pPr indent="0" marL="0">
              <a:buNone/>
            </a:pPr>
            <a:r>
              <a:rPr lang="en-US" sz="2600" b="1" dirty="0">
                <a:solidFill>
                  <a:srgbClr val="8F8260"/>
                </a:solidFill>
                <a:latin typeface="Cambria" pitchFamily="34" charset="0"/>
                <a:ea typeface="Cambria" pitchFamily="34" charset="-122"/>
                <a:cs typeface="Cambria" pitchFamily="34" charset="-120"/>
              </a:rPr>
              <a:t>0.8</a:t>
            </a:r>
            <a:endParaRPr lang="en-US" sz="2600" dirty="0"/>
          </a:p>
        </p:txBody>
      </p:sp>
      <p:sp>
        <p:nvSpPr>
          <p:cNvPr id="9" name="Text 6"/>
          <p:cNvSpPr txBox="1"/>
          <p:nvPr/>
        </p:nvSpPr>
        <p:spPr>
          <a:xfrm>
            <a:off x="4937760" y="2075688"/>
            <a:ext cx="1554480" cy="475488"/>
          </a:xfrm>
          <a:prstGeom prst="rect">
            <a:avLst/>
          </a:prstGeom>
          <a:noFill/>
          <a:ln/>
        </p:spPr>
        <p:txBody>
          <a:bodyPr wrap="square" lIns="0" tIns="0" rIns="0" bIns="0" rtlCol="0" anchor="t"/>
          <a:lstStyle/>
          <a:p>
            <a:pPr indent="0" marL="0">
              <a:buNone/>
            </a:pPr>
            <a:r>
              <a:rPr lang="en-US" sz="900" dirty="0">
                <a:solidFill>
                  <a:srgbClr val="6E6E78"/>
                </a:solidFill>
                <a:latin typeface="Calibri" pitchFamily="34" charset="0"/>
                <a:ea typeface="Calibri" pitchFamily="34" charset="-122"/>
                <a:cs typeface="Calibri" pitchFamily="34" charset="-120"/>
              </a:rPr>
              <a:t>средний модуль ошибки: 4 / 5, в °C</a:t>
            </a:r>
            <a:endParaRPr lang="en-US" sz="900" dirty="0"/>
          </a:p>
        </p:txBody>
      </p:sp>
      <p:sp>
        <p:nvSpPr>
          <p:cNvPr id="10" name="Shape 7"/>
          <p:cNvSpPr/>
          <p:nvPr/>
        </p:nvSpPr>
        <p:spPr>
          <a:xfrm>
            <a:off x="6766560" y="1234440"/>
            <a:ext cx="1874520" cy="1371600"/>
          </a:xfrm>
          <a:prstGeom prst="roundRect">
            <a:avLst>
              <a:gd name="adj" fmla="val 533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6949440" y="1344168"/>
            <a:ext cx="914400" cy="256032"/>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MSE</a:t>
            </a:r>
            <a:endParaRPr lang="en-US" sz="1250" dirty="0"/>
          </a:p>
        </p:txBody>
      </p:sp>
      <p:sp>
        <p:nvSpPr>
          <p:cNvPr id="12" name="Text 9"/>
          <p:cNvSpPr txBox="1"/>
          <p:nvPr/>
        </p:nvSpPr>
        <p:spPr>
          <a:xfrm>
            <a:off x="6949440" y="1600200"/>
            <a:ext cx="1554480" cy="457200"/>
          </a:xfrm>
          <a:prstGeom prst="rect">
            <a:avLst/>
          </a:prstGeom>
          <a:noFill/>
          <a:ln/>
        </p:spPr>
        <p:txBody>
          <a:bodyPr wrap="square" lIns="0" tIns="0" rIns="0" bIns="0" rtlCol="0" anchor="ctr"/>
          <a:lstStyle/>
          <a:p>
            <a:pPr indent="0" marL="0">
              <a:buNone/>
            </a:pPr>
            <a:r>
              <a:rPr lang="en-US" sz="2600" b="1" dirty="0">
                <a:solidFill>
                  <a:srgbClr val="8F8260"/>
                </a:solidFill>
                <a:latin typeface="Cambria" pitchFamily="34" charset="0"/>
                <a:ea typeface="Cambria" pitchFamily="34" charset="-122"/>
                <a:cs typeface="Cambria" pitchFamily="34" charset="-120"/>
              </a:rPr>
              <a:t>1.1</a:t>
            </a:r>
            <a:endParaRPr lang="en-US" sz="2600" dirty="0"/>
          </a:p>
        </p:txBody>
      </p:sp>
      <p:sp>
        <p:nvSpPr>
          <p:cNvPr id="13" name="Text 10"/>
          <p:cNvSpPr txBox="1"/>
          <p:nvPr/>
        </p:nvSpPr>
        <p:spPr>
          <a:xfrm>
            <a:off x="6949440" y="2075688"/>
            <a:ext cx="1554480" cy="475488"/>
          </a:xfrm>
          <a:prstGeom prst="rect">
            <a:avLst/>
          </a:prstGeom>
          <a:noFill/>
          <a:ln/>
        </p:spPr>
        <p:txBody>
          <a:bodyPr wrap="square" lIns="0" tIns="0" rIns="0" bIns="0" rtlCol="0" anchor="t"/>
          <a:lstStyle/>
          <a:p>
            <a:pPr indent="0" marL="0">
              <a:buNone/>
            </a:pPr>
            <a:r>
              <a:rPr lang="en-US" sz="900" dirty="0">
                <a:solidFill>
                  <a:srgbClr val="6E6E78"/>
                </a:solidFill>
                <a:latin typeface="Calibri" pitchFamily="34" charset="0"/>
                <a:ea typeface="Calibri" pitchFamily="34" charset="-122"/>
                <a:cs typeface="Calibri" pitchFamily="34" charset="-120"/>
              </a:rPr>
              <a:t>средний квадрат: 5.5 / 5, большие промахи весят больше</a:t>
            </a:r>
            <a:endParaRPr lang="en-US" sz="900" dirty="0"/>
          </a:p>
        </p:txBody>
      </p:sp>
      <p:sp>
        <p:nvSpPr>
          <p:cNvPr id="14" name="Shape 11"/>
          <p:cNvSpPr/>
          <p:nvPr/>
        </p:nvSpPr>
        <p:spPr>
          <a:xfrm>
            <a:off x="4754880" y="2743200"/>
            <a:ext cx="1874520" cy="1371600"/>
          </a:xfrm>
          <a:prstGeom prst="roundRect">
            <a:avLst>
              <a:gd name="adj" fmla="val 5333"/>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937760" y="2852928"/>
            <a:ext cx="914400" cy="256032"/>
          </a:xfrm>
          <a:prstGeom prst="rect">
            <a:avLst/>
          </a:prstGeom>
          <a:noFill/>
          <a:ln/>
        </p:spPr>
        <p:txBody>
          <a:bodyPr wrap="square" lIns="0" tIns="0" rIns="0" bIns="0" rtlCol="0" anchor="t"/>
          <a:lstStyle/>
          <a:p>
            <a:pPr indent="0" marL="0">
              <a:buNone/>
            </a:pPr>
            <a:r>
              <a:rPr lang="en-US" sz="1250" b="1" dirty="0">
                <a:solidFill>
                  <a:srgbClr val="1C1C22"/>
                </a:solidFill>
                <a:latin typeface="Cambria" pitchFamily="34" charset="0"/>
                <a:ea typeface="Cambria" pitchFamily="34" charset="-122"/>
                <a:cs typeface="Cambria" pitchFamily="34" charset="-120"/>
              </a:rPr>
              <a:t>RMSE</a:t>
            </a:r>
            <a:endParaRPr lang="en-US" sz="1250" dirty="0"/>
          </a:p>
        </p:txBody>
      </p:sp>
      <p:sp>
        <p:nvSpPr>
          <p:cNvPr id="16" name="Text 13"/>
          <p:cNvSpPr txBox="1"/>
          <p:nvPr/>
        </p:nvSpPr>
        <p:spPr>
          <a:xfrm>
            <a:off x="4937760" y="3108960"/>
            <a:ext cx="1554480" cy="457200"/>
          </a:xfrm>
          <a:prstGeom prst="rect">
            <a:avLst/>
          </a:prstGeom>
          <a:noFill/>
          <a:ln/>
        </p:spPr>
        <p:txBody>
          <a:bodyPr wrap="square" lIns="0" tIns="0" rIns="0" bIns="0" rtlCol="0" anchor="ctr"/>
          <a:lstStyle/>
          <a:p>
            <a:pPr indent="0" marL="0">
              <a:buNone/>
            </a:pPr>
            <a:r>
              <a:rPr lang="en-US" sz="2600" b="1" dirty="0">
                <a:solidFill>
                  <a:srgbClr val="8F8260"/>
                </a:solidFill>
                <a:latin typeface="Cambria" pitchFamily="34" charset="0"/>
                <a:ea typeface="Cambria" pitchFamily="34" charset="-122"/>
                <a:cs typeface="Cambria" pitchFamily="34" charset="-120"/>
              </a:rPr>
              <a:t>1.05</a:t>
            </a:r>
            <a:endParaRPr lang="en-US" sz="2600" dirty="0"/>
          </a:p>
        </p:txBody>
      </p:sp>
      <p:sp>
        <p:nvSpPr>
          <p:cNvPr id="17" name="Text 14"/>
          <p:cNvSpPr txBox="1"/>
          <p:nvPr/>
        </p:nvSpPr>
        <p:spPr>
          <a:xfrm>
            <a:off x="4937760" y="3584448"/>
            <a:ext cx="1554480" cy="475488"/>
          </a:xfrm>
          <a:prstGeom prst="rect">
            <a:avLst/>
          </a:prstGeom>
          <a:noFill/>
          <a:ln/>
        </p:spPr>
        <p:txBody>
          <a:bodyPr wrap="square" lIns="0" tIns="0" rIns="0" bIns="0" rtlCol="0" anchor="t"/>
          <a:lstStyle/>
          <a:p>
            <a:pPr indent="0" marL="0">
              <a:buNone/>
            </a:pPr>
            <a:r>
              <a:rPr lang="en-US" sz="900" dirty="0">
                <a:solidFill>
                  <a:srgbClr val="6E6E78"/>
                </a:solidFill>
                <a:latin typeface="Calibri" pitchFamily="34" charset="0"/>
                <a:ea typeface="Calibri" pitchFamily="34" charset="-122"/>
                <a:cs typeface="Calibri" pitchFamily="34" charset="-120"/>
              </a:rPr>
              <a:t>√MSE – снова в °C</a:t>
            </a:r>
            <a:endParaRPr lang="en-US" sz="900" dirty="0"/>
          </a:p>
        </p:txBody>
      </p:sp>
      <p:sp>
        <p:nvSpPr>
          <p:cNvPr id="18" name="Shape 15"/>
          <p:cNvSpPr/>
          <p:nvPr/>
        </p:nvSpPr>
        <p:spPr>
          <a:xfrm>
            <a:off x="6766560" y="2743200"/>
            <a:ext cx="1874520" cy="1371600"/>
          </a:xfrm>
          <a:prstGeom prst="roundRect">
            <a:avLst>
              <a:gd name="adj" fmla="val 5333"/>
            </a:avLst>
          </a:prstGeom>
          <a:solidFill>
            <a:srgbClr val="1C1C22"/>
          </a:solidFill>
          <a:ln w="12700">
            <a:solidFill>
              <a:srgbClr val="1C1C22"/>
            </a:solidFill>
            <a:prstDash val="solid"/>
          </a:ln>
        </p:spPr>
      </p:sp>
      <p:sp>
        <p:nvSpPr>
          <p:cNvPr id="19" name="Text 16"/>
          <p:cNvSpPr txBox="1"/>
          <p:nvPr/>
        </p:nvSpPr>
        <p:spPr>
          <a:xfrm>
            <a:off x="6949440" y="2852928"/>
            <a:ext cx="914400" cy="256032"/>
          </a:xfrm>
          <a:prstGeom prst="rect">
            <a:avLst/>
          </a:prstGeom>
          <a:noFill/>
          <a:ln/>
        </p:spPr>
        <p:txBody>
          <a:bodyPr wrap="square" lIns="0" tIns="0" rIns="0" bIns="0" rtlCol="0" anchor="t"/>
          <a:lstStyle/>
          <a:p>
            <a:pPr indent="0" marL="0">
              <a:buNone/>
            </a:pPr>
            <a:r>
              <a:rPr lang="en-US" sz="1250" b="1" dirty="0">
                <a:solidFill>
                  <a:srgbClr val="FFFFFF"/>
                </a:solidFill>
                <a:latin typeface="Cambria" pitchFamily="34" charset="0"/>
                <a:ea typeface="Cambria" pitchFamily="34" charset="-122"/>
                <a:cs typeface="Cambria" pitchFamily="34" charset="-120"/>
              </a:rPr>
              <a:t>R²</a:t>
            </a:r>
            <a:endParaRPr lang="en-US" sz="1250" dirty="0"/>
          </a:p>
        </p:txBody>
      </p:sp>
      <p:sp>
        <p:nvSpPr>
          <p:cNvPr id="20" name="Text 17"/>
          <p:cNvSpPr txBox="1"/>
          <p:nvPr/>
        </p:nvSpPr>
        <p:spPr>
          <a:xfrm>
            <a:off x="6949440" y="3108960"/>
            <a:ext cx="1554480" cy="457200"/>
          </a:xfrm>
          <a:prstGeom prst="rect">
            <a:avLst/>
          </a:prstGeom>
          <a:noFill/>
          <a:ln/>
        </p:spPr>
        <p:txBody>
          <a:bodyPr wrap="square" lIns="0" tIns="0" rIns="0" bIns="0" rtlCol="0" anchor="ctr"/>
          <a:lstStyle/>
          <a:p>
            <a:pPr indent="0" marL="0">
              <a:buNone/>
            </a:pPr>
            <a:r>
              <a:rPr lang="en-US" sz="2600" b="1" dirty="0">
                <a:solidFill>
                  <a:srgbClr val="B8AB84"/>
                </a:solidFill>
                <a:latin typeface="Cambria" pitchFamily="34" charset="0"/>
                <a:ea typeface="Cambria" pitchFamily="34" charset="-122"/>
                <a:cs typeface="Cambria" pitchFamily="34" charset="-120"/>
              </a:rPr>
              <a:t>0.79</a:t>
            </a:r>
            <a:endParaRPr lang="en-US" sz="2600" dirty="0"/>
          </a:p>
        </p:txBody>
      </p:sp>
      <p:sp>
        <p:nvSpPr>
          <p:cNvPr id="21" name="Text 18"/>
          <p:cNvSpPr txBox="1"/>
          <p:nvPr/>
        </p:nvSpPr>
        <p:spPr>
          <a:xfrm>
            <a:off x="6949440" y="3584448"/>
            <a:ext cx="1554480" cy="475488"/>
          </a:xfrm>
          <a:prstGeom prst="rect">
            <a:avLst/>
          </a:prstGeom>
          <a:noFill/>
          <a:ln/>
        </p:spPr>
        <p:txBody>
          <a:bodyPr wrap="square" lIns="0" tIns="0" rIns="0" bIns="0" rtlCol="0" anchor="t"/>
          <a:lstStyle/>
          <a:p>
            <a:pPr indent="0" marL="0">
              <a:buNone/>
            </a:pPr>
            <a:r>
              <a:rPr lang="en-US" sz="900" dirty="0">
                <a:solidFill>
                  <a:srgbClr val="E2E2E6"/>
                </a:solidFill>
                <a:latin typeface="Calibri" pitchFamily="34" charset="0"/>
                <a:ea typeface="Calibri" pitchFamily="34" charset="-122"/>
                <a:cs typeface="Calibri" pitchFamily="34" charset="-120"/>
              </a:rPr>
              <a:t>1 − 5.5 / 26: насколько модель лучше прогноза «всегда среднее»</a:t>
            </a:r>
            <a:endParaRPr lang="en-US" sz="900" dirty="0"/>
          </a:p>
        </p:txBody>
      </p:sp>
      <p:sp>
        <p:nvSpPr>
          <p:cNvPr id="22" name="Text 19"/>
          <p:cNvSpPr txBox="1"/>
          <p:nvPr/>
        </p:nvSpPr>
        <p:spPr>
          <a:xfrm>
            <a:off x="4754880" y="4315968"/>
            <a:ext cx="3931920" cy="228600"/>
          </a:xfrm>
          <a:prstGeom prst="rect">
            <a:avLst/>
          </a:prstGeom>
          <a:noFill/>
          <a:ln/>
        </p:spPr>
        <p:txBody>
          <a:bodyPr wrap="square" lIns="0" tIns="0" rIns="0" bIns="0" rtlCol="0" anchor="t"/>
          <a:lstStyle/>
          <a:p>
            <a:pPr indent="0" marL="0">
              <a:buNone/>
            </a:pPr>
            <a:r>
              <a:rPr lang="en-US" sz="950" b="1" dirty="0">
                <a:solidFill>
                  <a:srgbClr val="8F8260"/>
                </a:solidFill>
                <a:latin typeface="Calibri" pitchFamily="34" charset="0"/>
                <a:ea typeface="Calibri" pitchFamily="34" charset="-122"/>
                <a:cs typeface="Calibri" pitchFamily="34" charset="-120"/>
              </a:rPr>
              <a:t>R² = 1 – идеал · 0 – не лучше среднего · &lt; 0 – хуже среднего</a:t>
            </a:r>
            <a:endParaRPr lang="en-US" sz="950" dirty="0"/>
          </a:p>
        </p:txBody>
      </p:sp>
      <p:sp>
        <p:nvSpPr>
          <p:cNvPr id="23" name="Text 20"/>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24" name="Text 21"/>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img/sec_code.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6400" b="1" dirty="0">
                <a:solidFill>
                  <a:srgbClr val="B8AB84"/>
                </a:solidFill>
                <a:latin typeface="Cambria" pitchFamily="34" charset="0"/>
                <a:ea typeface="Cambria" pitchFamily="34" charset="-122"/>
                <a:cs typeface="Cambria" pitchFamily="34" charset="-120"/>
              </a:rPr>
              <a:t>04</a:t>
            </a:r>
            <a:endParaRPr lang="en-US" sz="6400" dirty="0"/>
          </a:p>
        </p:txBody>
      </p:sp>
      <p:sp>
        <p:nvSpPr>
          <p:cNvPr id="4" name="Text 1"/>
          <p:cNvSpPr txBox="1"/>
          <p:nvPr/>
        </p:nvSpPr>
        <p:spPr>
          <a:xfrm>
            <a:off x="548640" y="2121408"/>
            <a:ext cx="3657600" cy="1234440"/>
          </a:xfrm>
          <a:prstGeom prst="rect">
            <a:avLst/>
          </a:prstGeom>
          <a:noFill/>
          <a:ln/>
        </p:spPr>
        <p:txBody>
          <a:bodyPr wrap="square" lIns="0" tIns="0" rIns="0" bIns="0" rtlCol="0" anchor="ctr"/>
          <a:lstStyle/>
          <a:p>
            <a:pPr indent="0" marL="0">
              <a:buNone/>
            </a:pPr>
            <a:r>
              <a:rPr lang="en-US" sz="2500" b="1" dirty="0">
                <a:solidFill>
                  <a:srgbClr val="1C1C22"/>
                </a:solidFill>
                <a:latin typeface="Cambria" pitchFamily="34" charset="0"/>
                <a:ea typeface="Cambria" pitchFamily="34" charset="-122"/>
                <a:cs typeface="Cambria" pitchFamily="34" charset="-120"/>
              </a:rPr>
              <a:t>Пишем метрики на Python</a:t>
            </a:r>
            <a:endParaRPr lang="en-US" sz="2500" dirty="0"/>
          </a:p>
        </p:txBody>
      </p:sp>
      <p:sp>
        <p:nvSpPr>
          <p:cNvPr id="5" name="Text 2"/>
          <p:cNvSpPr txBox="1"/>
          <p:nvPr/>
        </p:nvSpPr>
        <p:spPr>
          <a:xfrm>
            <a:off x="548640" y="3456432"/>
            <a:ext cx="3474720" cy="731520"/>
          </a:xfrm>
          <a:prstGeom prst="rect">
            <a:avLst/>
          </a:prstGeom>
          <a:noFill/>
          <a:ln/>
        </p:spPr>
        <p:txBody>
          <a:bodyPr wrap="square" lIns="0" tIns="0" rIns="0" bIns="0" rtlCol="0" anchor="t"/>
          <a:lstStyle/>
          <a:p>
            <a:pPr indent="0" marL="0">
              <a:buNone/>
            </a:pPr>
            <a:r>
              <a:rPr lang="en-US" sz="1200" dirty="0">
                <a:solidFill>
                  <a:srgbClr val="6E6E78"/>
                </a:solidFill>
                <a:latin typeface="Calibri" pitchFamily="34" charset="0"/>
                <a:ea typeface="Calibri" pitchFamily="34" charset="-122"/>
                <a:cs typeface="Calibri" pitchFamily="34" charset="-120"/>
              </a:rPr>
              <a:t>Практическая работа №1, часть 4Е: только списки, циклы и math</a:t>
            </a:r>
            <a:endParaRPr lang="en-US" sz="12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FFFFFF"/>
                </a:solidFill>
                <a:latin typeface="Cambria" pitchFamily="34" charset="0"/>
                <a:ea typeface="Cambria" pitchFamily="34" charset="-122"/>
                <a:cs typeface="Cambria"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ПЛАН ПРАКТИКИ</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Восемь заданий – свой sklearn.metrics</a:t>
            </a:r>
            <a:endParaRPr lang="en-US" sz="2600" dirty="0"/>
          </a:p>
        </p:txBody>
      </p:sp>
      <p:sp>
        <p:nvSpPr>
          <p:cNvPr id="4" name="Shape 2"/>
          <p:cNvSpPr/>
          <p:nvPr/>
        </p:nvSpPr>
        <p:spPr>
          <a:xfrm>
            <a:off x="457200" y="1188720"/>
            <a:ext cx="1920240" cy="1325880"/>
          </a:xfrm>
          <a:prstGeom prst="roundRect">
            <a:avLst>
              <a:gd name="adj" fmla="val 551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21792" y="1353312"/>
            <a:ext cx="457200" cy="402336"/>
          </a:xfrm>
          <a:prstGeom prst="hexagon">
            <a:avLst/>
          </a:prstGeom>
          <a:solidFill>
            <a:srgbClr val="B8AB84"/>
          </a:solidFill>
          <a:ln w="12700">
            <a:solidFill>
              <a:srgbClr val="B8AB84"/>
            </a:solidFill>
            <a:prstDash val="solid"/>
          </a:ln>
        </p:spPr>
      </p:sp>
      <p:sp>
        <p:nvSpPr>
          <p:cNvPr id="6" name="Text 4"/>
          <p:cNvSpPr txBox="1"/>
          <p:nvPr/>
        </p:nvSpPr>
        <p:spPr>
          <a:xfrm>
            <a:off x="621792" y="135331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Е1</a:t>
            </a:r>
            <a:endParaRPr lang="en-US" sz="950" dirty="0"/>
          </a:p>
        </p:txBody>
      </p:sp>
      <p:sp>
        <p:nvSpPr>
          <p:cNvPr id="7" name="Text 5"/>
          <p:cNvSpPr txBox="1"/>
          <p:nvPr/>
        </p:nvSpPr>
        <p:spPr>
          <a:xfrm>
            <a:off x="621792" y="1847088"/>
            <a:ext cx="1691640" cy="274320"/>
          </a:xfrm>
          <a:prstGeom prst="rect">
            <a:avLst/>
          </a:prstGeom>
          <a:noFill/>
          <a:ln/>
        </p:spPr>
        <p:txBody>
          <a:bodyPr wrap="square" lIns="0" tIns="0" rIns="0" bIns="0" rtlCol="0" anchor="ctr"/>
          <a:lstStyle/>
          <a:p>
            <a:pPr indent="0" marL="0">
              <a:buNone/>
            </a:pPr>
            <a:r>
              <a:rPr lang="en-US" sz="950" b="1" dirty="0">
                <a:solidFill>
                  <a:srgbClr val="1C1C22"/>
                </a:solidFill>
                <a:latin typeface="Courier New" pitchFamily="34" charset="0"/>
                <a:ea typeface="Courier New" pitchFamily="34" charset="-122"/>
                <a:cs typeface="Courier New" pitchFamily="34" charset="-120"/>
              </a:rPr>
              <a:t>confusion_matrix</a:t>
            </a:r>
            <a:endParaRPr lang="en-US" sz="950" dirty="0"/>
          </a:p>
        </p:txBody>
      </p:sp>
      <p:sp>
        <p:nvSpPr>
          <p:cNvPr id="8" name="Text 6"/>
          <p:cNvSpPr txBox="1"/>
          <p:nvPr/>
        </p:nvSpPr>
        <p:spPr>
          <a:xfrm>
            <a:off x="621792" y="2130552"/>
            <a:ext cx="1691640" cy="27432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TP, FP, FN, TN</a:t>
            </a:r>
            <a:endParaRPr lang="en-US" sz="950" dirty="0"/>
          </a:p>
        </p:txBody>
      </p:sp>
      <p:sp>
        <p:nvSpPr>
          <p:cNvPr id="9" name="Shape 7"/>
          <p:cNvSpPr/>
          <p:nvPr/>
        </p:nvSpPr>
        <p:spPr>
          <a:xfrm>
            <a:off x="2560320" y="1188720"/>
            <a:ext cx="1920240" cy="1325880"/>
          </a:xfrm>
          <a:prstGeom prst="roundRect">
            <a:avLst>
              <a:gd name="adj" fmla="val 551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2724912" y="1353312"/>
            <a:ext cx="457200" cy="402336"/>
          </a:xfrm>
          <a:prstGeom prst="hexagon">
            <a:avLst/>
          </a:prstGeom>
          <a:solidFill>
            <a:srgbClr val="B8AB84"/>
          </a:solidFill>
          <a:ln w="12700">
            <a:solidFill>
              <a:srgbClr val="B8AB84"/>
            </a:solidFill>
            <a:prstDash val="solid"/>
          </a:ln>
        </p:spPr>
      </p:sp>
      <p:sp>
        <p:nvSpPr>
          <p:cNvPr id="11" name="Text 9"/>
          <p:cNvSpPr txBox="1"/>
          <p:nvPr/>
        </p:nvSpPr>
        <p:spPr>
          <a:xfrm>
            <a:off x="2724912" y="135331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Е2</a:t>
            </a:r>
            <a:endParaRPr lang="en-US" sz="950" dirty="0"/>
          </a:p>
        </p:txBody>
      </p:sp>
      <p:sp>
        <p:nvSpPr>
          <p:cNvPr id="12" name="Text 10"/>
          <p:cNvSpPr txBox="1"/>
          <p:nvPr/>
        </p:nvSpPr>
        <p:spPr>
          <a:xfrm>
            <a:off x="2724912" y="1847088"/>
            <a:ext cx="1691640" cy="274320"/>
          </a:xfrm>
          <a:prstGeom prst="rect">
            <a:avLst/>
          </a:prstGeom>
          <a:noFill/>
          <a:ln/>
        </p:spPr>
        <p:txBody>
          <a:bodyPr wrap="square" lIns="0" tIns="0" rIns="0" bIns="0" rtlCol="0" anchor="ctr"/>
          <a:lstStyle/>
          <a:p>
            <a:pPr indent="0" marL="0">
              <a:buNone/>
            </a:pPr>
            <a:r>
              <a:rPr lang="en-US" sz="950" b="1" dirty="0">
                <a:solidFill>
                  <a:srgbClr val="1C1C22"/>
                </a:solidFill>
                <a:latin typeface="Courier New" pitchFamily="34" charset="0"/>
                <a:ea typeface="Courier New" pitchFamily="34" charset="-122"/>
                <a:cs typeface="Courier New" pitchFamily="34" charset="-120"/>
              </a:rPr>
              <a:t>precision, recall</a:t>
            </a:r>
            <a:endParaRPr lang="en-US" sz="950" dirty="0"/>
          </a:p>
        </p:txBody>
      </p:sp>
      <p:sp>
        <p:nvSpPr>
          <p:cNvPr id="13" name="Text 11"/>
          <p:cNvSpPr txBox="1"/>
          <p:nvPr/>
        </p:nvSpPr>
        <p:spPr>
          <a:xfrm>
            <a:off x="2724912" y="2130552"/>
            <a:ext cx="1691640" cy="27432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И еще accuracy, specificity</a:t>
            </a:r>
            <a:endParaRPr lang="en-US" sz="950" dirty="0"/>
          </a:p>
        </p:txBody>
      </p:sp>
      <p:sp>
        <p:nvSpPr>
          <p:cNvPr id="14" name="Shape 12"/>
          <p:cNvSpPr/>
          <p:nvPr/>
        </p:nvSpPr>
        <p:spPr>
          <a:xfrm>
            <a:off x="4663440" y="1188720"/>
            <a:ext cx="1920240" cy="1325880"/>
          </a:xfrm>
          <a:prstGeom prst="roundRect">
            <a:avLst>
              <a:gd name="adj" fmla="val 551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4828032" y="1353312"/>
            <a:ext cx="457200" cy="402336"/>
          </a:xfrm>
          <a:prstGeom prst="hexagon">
            <a:avLst/>
          </a:prstGeom>
          <a:solidFill>
            <a:srgbClr val="B8AB84"/>
          </a:solidFill>
          <a:ln w="12700">
            <a:solidFill>
              <a:srgbClr val="B8AB84"/>
            </a:solidFill>
            <a:prstDash val="solid"/>
          </a:ln>
        </p:spPr>
      </p:sp>
      <p:sp>
        <p:nvSpPr>
          <p:cNvPr id="16" name="Text 14"/>
          <p:cNvSpPr txBox="1"/>
          <p:nvPr/>
        </p:nvSpPr>
        <p:spPr>
          <a:xfrm>
            <a:off x="4828032" y="135331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Е3</a:t>
            </a:r>
            <a:endParaRPr lang="en-US" sz="950" dirty="0"/>
          </a:p>
        </p:txBody>
      </p:sp>
      <p:sp>
        <p:nvSpPr>
          <p:cNvPr id="17" name="Text 15"/>
          <p:cNvSpPr txBox="1"/>
          <p:nvPr/>
        </p:nvSpPr>
        <p:spPr>
          <a:xfrm>
            <a:off x="4828032" y="1847088"/>
            <a:ext cx="1691640" cy="274320"/>
          </a:xfrm>
          <a:prstGeom prst="rect">
            <a:avLst/>
          </a:prstGeom>
          <a:noFill/>
          <a:ln/>
        </p:spPr>
        <p:txBody>
          <a:bodyPr wrap="square" lIns="0" tIns="0" rIns="0" bIns="0" rtlCol="0" anchor="ctr"/>
          <a:lstStyle/>
          <a:p>
            <a:pPr indent="0" marL="0">
              <a:buNone/>
            </a:pPr>
            <a:r>
              <a:rPr lang="en-US" sz="950" b="1" dirty="0">
                <a:solidFill>
                  <a:srgbClr val="1C1C22"/>
                </a:solidFill>
                <a:latin typeface="Courier New" pitchFamily="34" charset="0"/>
                <a:ea typeface="Courier New" pitchFamily="34" charset="-122"/>
                <a:cs typeface="Courier New" pitchFamily="34" charset="-120"/>
              </a:rPr>
              <a:t>f_beta</a:t>
            </a:r>
            <a:endParaRPr lang="en-US" sz="950" dirty="0"/>
          </a:p>
        </p:txBody>
      </p:sp>
      <p:sp>
        <p:nvSpPr>
          <p:cNvPr id="18" name="Text 16"/>
          <p:cNvSpPr txBox="1"/>
          <p:nvPr/>
        </p:nvSpPr>
        <p:spPr>
          <a:xfrm>
            <a:off x="4828032" y="2130552"/>
            <a:ext cx="1691640" cy="27432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Среднее гармоническое</a:t>
            </a:r>
            <a:endParaRPr lang="en-US" sz="950" dirty="0"/>
          </a:p>
        </p:txBody>
      </p:sp>
      <p:sp>
        <p:nvSpPr>
          <p:cNvPr id="19" name="Shape 17"/>
          <p:cNvSpPr/>
          <p:nvPr/>
        </p:nvSpPr>
        <p:spPr>
          <a:xfrm>
            <a:off x="6766560" y="1188720"/>
            <a:ext cx="1920240" cy="1325880"/>
          </a:xfrm>
          <a:prstGeom prst="roundRect">
            <a:avLst>
              <a:gd name="adj" fmla="val 551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931152" y="1353312"/>
            <a:ext cx="457200" cy="402336"/>
          </a:xfrm>
          <a:prstGeom prst="hexagon">
            <a:avLst/>
          </a:prstGeom>
          <a:solidFill>
            <a:srgbClr val="B8AB84"/>
          </a:solidFill>
          <a:ln w="12700">
            <a:solidFill>
              <a:srgbClr val="B8AB84"/>
            </a:solidFill>
            <a:prstDash val="solid"/>
          </a:ln>
        </p:spPr>
      </p:sp>
      <p:sp>
        <p:nvSpPr>
          <p:cNvPr id="21" name="Text 19"/>
          <p:cNvSpPr txBox="1"/>
          <p:nvPr/>
        </p:nvSpPr>
        <p:spPr>
          <a:xfrm>
            <a:off x="6931152" y="135331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Е4</a:t>
            </a:r>
            <a:endParaRPr lang="en-US" sz="950" dirty="0"/>
          </a:p>
        </p:txBody>
      </p:sp>
      <p:sp>
        <p:nvSpPr>
          <p:cNvPr id="22" name="Text 20"/>
          <p:cNvSpPr txBox="1"/>
          <p:nvPr/>
        </p:nvSpPr>
        <p:spPr>
          <a:xfrm>
            <a:off x="6931152" y="1847088"/>
            <a:ext cx="1691640" cy="274320"/>
          </a:xfrm>
          <a:prstGeom prst="rect">
            <a:avLst/>
          </a:prstGeom>
          <a:noFill/>
          <a:ln/>
        </p:spPr>
        <p:txBody>
          <a:bodyPr wrap="square" lIns="0" tIns="0" rIns="0" bIns="0" rtlCol="0" anchor="ctr"/>
          <a:lstStyle/>
          <a:p>
            <a:pPr indent="0" marL="0">
              <a:buNone/>
            </a:pPr>
            <a:r>
              <a:rPr lang="en-US" sz="950" b="1" dirty="0">
                <a:solidFill>
                  <a:srgbClr val="1C1C22"/>
                </a:solidFill>
                <a:latin typeface="Courier New" pitchFamily="34" charset="0"/>
                <a:ea typeface="Courier New" pitchFamily="34" charset="-122"/>
                <a:cs typeface="Courier New" pitchFamily="34" charset="-120"/>
              </a:rPr>
              <a:t>predict_by_threshold</a:t>
            </a:r>
            <a:endParaRPr lang="en-US" sz="950" dirty="0"/>
          </a:p>
        </p:txBody>
      </p:sp>
      <p:sp>
        <p:nvSpPr>
          <p:cNvPr id="23" name="Text 21"/>
          <p:cNvSpPr txBox="1"/>
          <p:nvPr/>
        </p:nvSpPr>
        <p:spPr>
          <a:xfrm>
            <a:off x="6931152" y="2130552"/>
            <a:ext cx="1691640" cy="27432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Метка: p ≥ t</a:t>
            </a:r>
            <a:endParaRPr lang="en-US" sz="950" dirty="0"/>
          </a:p>
        </p:txBody>
      </p:sp>
      <p:sp>
        <p:nvSpPr>
          <p:cNvPr id="24" name="Shape 22"/>
          <p:cNvSpPr/>
          <p:nvPr/>
        </p:nvSpPr>
        <p:spPr>
          <a:xfrm>
            <a:off x="457200" y="2697480"/>
            <a:ext cx="1920240" cy="1325880"/>
          </a:xfrm>
          <a:prstGeom prst="roundRect">
            <a:avLst>
              <a:gd name="adj" fmla="val 5517"/>
            </a:avLst>
          </a:prstGeom>
          <a:solidFill>
            <a:srgbClr val="1C1C22"/>
          </a:solidFill>
          <a:ln w="12700">
            <a:solidFill>
              <a:srgbClr val="1C1C22"/>
            </a:solidFill>
            <a:prstDash val="solid"/>
          </a:ln>
        </p:spPr>
      </p:sp>
      <p:sp>
        <p:nvSpPr>
          <p:cNvPr id="25" name="Shape 23"/>
          <p:cNvSpPr/>
          <p:nvPr/>
        </p:nvSpPr>
        <p:spPr>
          <a:xfrm>
            <a:off x="621792" y="2862072"/>
            <a:ext cx="457200" cy="402336"/>
          </a:xfrm>
          <a:prstGeom prst="hexagon">
            <a:avLst/>
          </a:prstGeom>
          <a:solidFill>
            <a:srgbClr val="B8AB84"/>
          </a:solidFill>
          <a:ln w="12700">
            <a:solidFill>
              <a:srgbClr val="B8AB84"/>
            </a:solidFill>
            <a:prstDash val="solid"/>
          </a:ln>
        </p:spPr>
      </p:sp>
      <p:sp>
        <p:nvSpPr>
          <p:cNvPr id="26" name="Text 24"/>
          <p:cNvSpPr txBox="1"/>
          <p:nvPr/>
        </p:nvSpPr>
        <p:spPr>
          <a:xfrm>
            <a:off x="621792" y="286207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Е5</a:t>
            </a:r>
            <a:endParaRPr lang="en-US" sz="950" dirty="0"/>
          </a:p>
        </p:txBody>
      </p:sp>
      <p:sp>
        <p:nvSpPr>
          <p:cNvPr id="27" name="Text 25"/>
          <p:cNvSpPr txBox="1"/>
          <p:nvPr/>
        </p:nvSpPr>
        <p:spPr>
          <a:xfrm>
            <a:off x="621792" y="3355848"/>
            <a:ext cx="1691640" cy="274320"/>
          </a:xfrm>
          <a:prstGeom prst="rect">
            <a:avLst/>
          </a:prstGeom>
          <a:noFill/>
          <a:ln/>
        </p:spPr>
        <p:txBody>
          <a:bodyPr wrap="square" lIns="0" tIns="0" rIns="0" bIns="0" rtlCol="0" anchor="ctr"/>
          <a:lstStyle/>
          <a:p>
            <a:pPr indent="0" marL="0">
              <a:buNone/>
            </a:pPr>
            <a:r>
              <a:rPr lang="en-US" sz="950" b="1" dirty="0">
                <a:solidFill>
                  <a:srgbClr val="B8AB84"/>
                </a:solidFill>
                <a:latin typeface="Courier New" pitchFamily="34" charset="0"/>
                <a:ea typeface="Courier New" pitchFamily="34" charset="-122"/>
                <a:cs typeface="Courier New" pitchFamily="34" charset="-120"/>
              </a:rPr>
              <a:t>roc_curve, auc</a:t>
            </a:r>
            <a:endParaRPr lang="en-US" sz="950" dirty="0"/>
          </a:p>
        </p:txBody>
      </p:sp>
      <p:sp>
        <p:nvSpPr>
          <p:cNvPr id="28" name="Text 26"/>
          <p:cNvSpPr txBox="1"/>
          <p:nvPr/>
        </p:nvSpPr>
        <p:spPr>
          <a:xfrm>
            <a:off x="621792" y="3639312"/>
            <a:ext cx="1691640" cy="274320"/>
          </a:xfrm>
          <a:prstGeom prst="rect">
            <a:avLst/>
          </a:prstGeom>
          <a:noFill/>
          <a:ln/>
        </p:spPr>
        <p:txBody>
          <a:bodyPr wrap="square" lIns="0" tIns="0" rIns="0" bIns="0" rtlCol="0" anchor="t"/>
          <a:lstStyle/>
          <a:p>
            <a:pPr indent="0" marL="0">
              <a:buNone/>
            </a:pPr>
            <a:r>
              <a:rPr lang="en-US" sz="950" dirty="0">
                <a:solidFill>
                  <a:srgbClr val="E2E2E6"/>
                </a:solidFill>
                <a:latin typeface="Calibri" pitchFamily="34" charset="0"/>
                <a:ea typeface="Calibri" pitchFamily="34" charset="-122"/>
                <a:cs typeface="Calibri" pitchFamily="34" charset="-120"/>
              </a:rPr>
              <a:t>Точки и трапеции</a:t>
            </a:r>
            <a:endParaRPr lang="en-US" sz="950" dirty="0"/>
          </a:p>
        </p:txBody>
      </p:sp>
      <p:sp>
        <p:nvSpPr>
          <p:cNvPr id="29" name="Shape 27"/>
          <p:cNvSpPr/>
          <p:nvPr/>
        </p:nvSpPr>
        <p:spPr>
          <a:xfrm>
            <a:off x="2560320" y="2697480"/>
            <a:ext cx="1920240" cy="1325880"/>
          </a:xfrm>
          <a:prstGeom prst="roundRect">
            <a:avLst>
              <a:gd name="adj" fmla="val 551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30" name="Shape 28"/>
          <p:cNvSpPr/>
          <p:nvPr/>
        </p:nvSpPr>
        <p:spPr>
          <a:xfrm>
            <a:off x="2724912" y="2862072"/>
            <a:ext cx="457200" cy="402336"/>
          </a:xfrm>
          <a:prstGeom prst="hexagon">
            <a:avLst/>
          </a:prstGeom>
          <a:solidFill>
            <a:srgbClr val="B8AB84"/>
          </a:solidFill>
          <a:ln w="12700">
            <a:solidFill>
              <a:srgbClr val="B8AB84"/>
            </a:solidFill>
            <a:prstDash val="solid"/>
          </a:ln>
        </p:spPr>
      </p:sp>
      <p:sp>
        <p:nvSpPr>
          <p:cNvPr id="31" name="Text 29"/>
          <p:cNvSpPr txBox="1"/>
          <p:nvPr/>
        </p:nvSpPr>
        <p:spPr>
          <a:xfrm>
            <a:off x="2724912" y="286207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Е6</a:t>
            </a:r>
            <a:endParaRPr lang="en-US" sz="950" dirty="0"/>
          </a:p>
        </p:txBody>
      </p:sp>
      <p:sp>
        <p:nvSpPr>
          <p:cNvPr id="32" name="Text 30"/>
          <p:cNvSpPr txBox="1"/>
          <p:nvPr/>
        </p:nvSpPr>
        <p:spPr>
          <a:xfrm>
            <a:off x="2724912" y="3355848"/>
            <a:ext cx="1691640" cy="274320"/>
          </a:xfrm>
          <a:prstGeom prst="rect">
            <a:avLst/>
          </a:prstGeom>
          <a:noFill/>
          <a:ln/>
        </p:spPr>
        <p:txBody>
          <a:bodyPr wrap="square" lIns="0" tIns="0" rIns="0" bIns="0" rtlCol="0" anchor="ctr"/>
          <a:lstStyle/>
          <a:p>
            <a:pPr indent="0" marL="0">
              <a:buNone/>
            </a:pPr>
            <a:r>
              <a:rPr lang="en-US" sz="950" b="1" dirty="0">
                <a:solidFill>
                  <a:srgbClr val="1C1C22"/>
                </a:solidFill>
                <a:latin typeface="Courier New" pitchFamily="34" charset="0"/>
                <a:ea typeface="Courier New" pitchFamily="34" charset="-122"/>
                <a:cs typeface="Courier New" pitchFamily="34" charset="-120"/>
              </a:rPr>
              <a:t>log_loss, brier</a:t>
            </a:r>
            <a:endParaRPr lang="en-US" sz="950" dirty="0"/>
          </a:p>
        </p:txBody>
      </p:sp>
      <p:sp>
        <p:nvSpPr>
          <p:cNvPr id="33" name="Text 31"/>
          <p:cNvSpPr txBox="1"/>
          <p:nvPr/>
        </p:nvSpPr>
        <p:spPr>
          <a:xfrm>
            <a:off x="2724912" y="3639312"/>
            <a:ext cx="1691640" cy="27432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Штраф за уверенность</a:t>
            </a:r>
            <a:endParaRPr lang="en-US" sz="950" dirty="0"/>
          </a:p>
        </p:txBody>
      </p:sp>
      <p:sp>
        <p:nvSpPr>
          <p:cNvPr id="34" name="Shape 32"/>
          <p:cNvSpPr/>
          <p:nvPr/>
        </p:nvSpPr>
        <p:spPr>
          <a:xfrm>
            <a:off x="4663440" y="2697480"/>
            <a:ext cx="1920240" cy="1325880"/>
          </a:xfrm>
          <a:prstGeom prst="roundRect">
            <a:avLst>
              <a:gd name="adj" fmla="val 5517"/>
            </a:avLst>
          </a:prstGeom>
          <a:solidFill>
            <a:srgbClr val="1C1C22"/>
          </a:solidFill>
          <a:ln w="12700">
            <a:solidFill>
              <a:srgbClr val="1C1C22"/>
            </a:solidFill>
            <a:prstDash val="solid"/>
          </a:ln>
        </p:spPr>
      </p:sp>
      <p:sp>
        <p:nvSpPr>
          <p:cNvPr id="35" name="Shape 33"/>
          <p:cNvSpPr/>
          <p:nvPr/>
        </p:nvSpPr>
        <p:spPr>
          <a:xfrm>
            <a:off x="4828032" y="2862072"/>
            <a:ext cx="457200" cy="402336"/>
          </a:xfrm>
          <a:prstGeom prst="hexagon">
            <a:avLst/>
          </a:prstGeom>
          <a:solidFill>
            <a:srgbClr val="B8AB84"/>
          </a:solidFill>
          <a:ln w="12700">
            <a:solidFill>
              <a:srgbClr val="B8AB84"/>
            </a:solidFill>
            <a:prstDash val="solid"/>
          </a:ln>
        </p:spPr>
      </p:sp>
      <p:sp>
        <p:nvSpPr>
          <p:cNvPr id="36" name="Text 34"/>
          <p:cNvSpPr txBox="1"/>
          <p:nvPr/>
        </p:nvSpPr>
        <p:spPr>
          <a:xfrm>
            <a:off x="4828032" y="286207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Е7</a:t>
            </a:r>
            <a:endParaRPr lang="en-US" sz="950" dirty="0"/>
          </a:p>
        </p:txBody>
      </p:sp>
      <p:sp>
        <p:nvSpPr>
          <p:cNvPr id="37" name="Text 35"/>
          <p:cNvSpPr txBox="1"/>
          <p:nvPr/>
        </p:nvSpPr>
        <p:spPr>
          <a:xfrm>
            <a:off x="4828032" y="3355848"/>
            <a:ext cx="1691640" cy="274320"/>
          </a:xfrm>
          <a:prstGeom prst="rect">
            <a:avLst/>
          </a:prstGeom>
          <a:noFill/>
          <a:ln/>
        </p:spPr>
        <p:txBody>
          <a:bodyPr wrap="square" lIns="0" tIns="0" rIns="0" bIns="0" rtlCol="0" anchor="ctr"/>
          <a:lstStyle/>
          <a:p>
            <a:pPr indent="0" marL="0">
              <a:buNone/>
            </a:pPr>
            <a:r>
              <a:rPr lang="en-US" sz="950" b="1" dirty="0">
                <a:solidFill>
                  <a:srgbClr val="B8AB84"/>
                </a:solidFill>
                <a:latin typeface="Courier New" pitchFamily="34" charset="0"/>
                <a:ea typeface="Courier New" pitchFamily="34" charset="-122"/>
                <a:cs typeface="Courier New" pitchFamily="34" charset="-120"/>
              </a:rPr>
              <a:t>confusion_matrix_multi</a:t>
            </a:r>
            <a:endParaRPr lang="en-US" sz="950" dirty="0"/>
          </a:p>
        </p:txBody>
      </p:sp>
      <p:sp>
        <p:nvSpPr>
          <p:cNvPr id="38" name="Text 36"/>
          <p:cNvSpPr txBox="1"/>
          <p:nvPr/>
        </p:nvSpPr>
        <p:spPr>
          <a:xfrm>
            <a:off x="4828032" y="3639312"/>
            <a:ext cx="1691640" cy="274320"/>
          </a:xfrm>
          <a:prstGeom prst="rect">
            <a:avLst/>
          </a:prstGeom>
          <a:noFill/>
          <a:ln/>
        </p:spPr>
        <p:txBody>
          <a:bodyPr wrap="square" lIns="0" tIns="0" rIns="0" bIns="0" rtlCol="0" anchor="t"/>
          <a:lstStyle/>
          <a:p>
            <a:pPr indent="0" marL="0">
              <a:buNone/>
            </a:pPr>
            <a:r>
              <a:rPr lang="en-US" sz="950" dirty="0">
                <a:solidFill>
                  <a:srgbClr val="E2E2E6"/>
                </a:solidFill>
                <a:latin typeface="Calibri" pitchFamily="34" charset="0"/>
                <a:ea typeface="Calibri" pitchFamily="34" charset="-122"/>
                <a:cs typeface="Calibri" pitchFamily="34" charset="-120"/>
              </a:rPr>
              <a:t>Macro и micro</a:t>
            </a:r>
            <a:endParaRPr lang="en-US" sz="950" dirty="0"/>
          </a:p>
        </p:txBody>
      </p:sp>
      <p:sp>
        <p:nvSpPr>
          <p:cNvPr id="39" name="Shape 37"/>
          <p:cNvSpPr/>
          <p:nvPr/>
        </p:nvSpPr>
        <p:spPr>
          <a:xfrm>
            <a:off x="6766560" y="2697480"/>
            <a:ext cx="1920240" cy="1325880"/>
          </a:xfrm>
          <a:prstGeom prst="roundRect">
            <a:avLst>
              <a:gd name="adj" fmla="val 551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6931152" y="2862072"/>
            <a:ext cx="457200" cy="402336"/>
          </a:xfrm>
          <a:prstGeom prst="hexagon">
            <a:avLst/>
          </a:prstGeom>
          <a:solidFill>
            <a:srgbClr val="B8AB84"/>
          </a:solidFill>
          <a:ln w="12700">
            <a:solidFill>
              <a:srgbClr val="B8AB84"/>
            </a:solidFill>
            <a:prstDash val="solid"/>
          </a:ln>
        </p:spPr>
      </p:sp>
      <p:sp>
        <p:nvSpPr>
          <p:cNvPr id="41" name="Text 39"/>
          <p:cNvSpPr txBox="1"/>
          <p:nvPr/>
        </p:nvSpPr>
        <p:spPr>
          <a:xfrm>
            <a:off x="6931152" y="2862072"/>
            <a:ext cx="457200" cy="402336"/>
          </a:xfrm>
          <a:prstGeom prst="rect">
            <a:avLst/>
          </a:prstGeom>
          <a:noFill/>
          <a:ln/>
        </p:spPr>
        <p:txBody>
          <a:bodyPr wrap="square" lIns="0" tIns="0" rIns="0" bIns="0" rtlCol="0" anchor="ctr"/>
          <a:lstStyle/>
          <a:p>
            <a:pPr algn="ctr" indent="0" marL="0">
              <a:buNone/>
            </a:pPr>
            <a:r>
              <a:rPr lang="en-US" sz="950" b="1" dirty="0">
                <a:solidFill>
                  <a:srgbClr val="1C1C22"/>
                </a:solidFill>
                <a:latin typeface="Calibri" pitchFamily="34" charset="0"/>
                <a:ea typeface="Calibri" pitchFamily="34" charset="-122"/>
                <a:cs typeface="Calibri" pitchFamily="34" charset="-120"/>
              </a:rPr>
              <a:t>Е8</a:t>
            </a:r>
            <a:endParaRPr lang="en-US" sz="950" dirty="0"/>
          </a:p>
        </p:txBody>
      </p:sp>
      <p:sp>
        <p:nvSpPr>
          <p:cNvPr id="42" name="Text 40"/>
          <p:cNvSpPr txBox="1"/>
          <p:nvPr/>
        </p:nvSpPr>
        <p:spPr>
          <a:xfrm>
            <a:off x="6931152" y="3355848"/>
            <a:ext cx="1691640" cy="274320"/>
          </a:xfrm>
          <a:prstGeom prst="rect">
            <a:avLst/>
          </a:prstGeom>
          <a:noFill/>
          <a:ln/>
        </p:spPr>
        <p:txBody>
          <a:bodyPr wrap="square" lIns="0" tIns="0" rIns="0" bIns="0" rtlCol="0" anchor="ctr"/>
          <a:lstStyle/>
          <a:p>
            <a:pPr indent="0" marL="0">
              <a:buNone/>
            </a:pPr>
            <a:r>
              <a:rPr lang="en-US" sz="950" b="1" dirty="0">
                <a:solidFill>
                  <a:srgbClr val="1C1C22"/>
                </a:solidFill>
                <a:latin typeface="Courier New" pitchFamily="34" charset="0"/>
                <a:ea typeface="Courier New" pitchFamily="34" charset="-122"/>
                <a:cs typeface="Courier New" pitchFamily="34" charset="-120"/>
              </a:rPr>
              <a:t>mae, mse, rmse, r2</a:t>
            </a:r>
            <a:endParaRPr lang="en-US" sz="950" dirty="0"/>
          </a:p>
        </p:txBody>
      </p:sp>
      <p:sp>
        <p:nvSpPr>
          <p:cNvPr id="43" name="Text 41"/>
          <p:cNvSpPr txBox="1"/>
          <p:nvPr/>
        </p:nvSpPr>
        <p:spPr>
          <a:xfrm>
            <a:off x="6931152" y="3639312"/>
            <a:ext cx="1691640" cy="274320"/>
          </a:xfrm>
          <a:prstGeom prst="rect">
            <a:avLst/>
          </a:prstGeom>
          <a:noFill/>
          <a:ln/>
        </p:spPr>
        <p:txBody>
          <a:bodyPr wrap="square" lIns="0" tIns="0" rIns="0" bIns="0" rtlCol="0" anchor="t"/>
          <a:lstStyle/>
          <a:p>
            <a:pPr indent="0" marL="0">
              <a:buNone/>
            </a:pPr>
            <a:r>
              <a:rPr lang="en-US" sz="950" dirty="0">
                <a:solidFill>
                  <a:srgbClr val="6E6E78"/>
                </a:solidFill>
                <a:latin typeface="Calibri" pitchFamily="34" charset="0"/>
                <a:ea typeface="Calibri" pitchFamily="34" charset="-122"/>
                <a:cs typeface="Calibri" pitchFamily="34" charset="-120"/>
              </a:rPr>
              <a:t>Метрики регрессии</a:t>
            </a:r>
            <a:endParaRPr lang="en-US" sz="950" dirty="0"/>
          </a:p>
        </p:txBody>
      </p:sp>
      <p:sp>
        <p:nvSpPr>
          <p:cNvPr id="44" name="Text 42"/>
          <p:cNvSpPr txBox="1"/>
          <p:nvPr/>
        </p:nvSpPr>
        <p:spPr>
          <a:xfrm>
            <a:off x="457200" y="4315968"/>
            <a:ext cx="8229600" cy="256032"/>
          </a:xfrm>
          <a:prstGeom prst="rect">
            <a:avLst/>
          </a:prstGeom>
          <a:noFill/>
          <a:ln/>
        </p:spPr>
        <p:txBody>
          <a:bodyPr wrap="square" lIns="0" tIns="0" rIns="0" bIns="0" rtlCol="0" anchor="t"/>
          <a:lstStyle/>
          <a:p>
            <a:pPr indent="0" marL="0">
              <a:buNone/>
            </a:pPr>
            <a:r>
              <a:rPr lang="en-US" sz="1050" i="1" dirty="0">
                <a:solidFill>
                  <a:srgbClr val="8F8260"/>
                </a:solidFill>
                <a:latin typeface="Calibri" pitchFamily="34" charset="0"/>
                <a:ea typeface="Calibri" pitchFamily="34" charset="-122"/>
                <a:cs typeface="Calibri" pitchFamily="34" charset="-120"/>
              </a:rPr>
              <a:t>После каждого задания – готовая ячейка «Проверка». Все строки начинаются с OK – можно двигаться дальше.</a:t>
            </a:r>
            <a:endParaRPr lang="en-US" sz="1050" dirty="0"/>
          </a:p>
        </p:txBody>
      </p:sp>
      <p:sp>
        <p:nvSpPr>
          <p:cNvPr id="45" name="Text 4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46" name="Text 4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ШПАРГАЛКА</a:t>
            </a:r>
            <a:endParaRPr lang="en-US" sz="900" dirty="0"/>
          </a:p>
        </p:txBody>
      </p:sp>
      <p:sp>
        <p:nvSpPr>
          <p:cNvPr id="3" name="Text 1"/>
          <p:cNvSpPr txBox="1"/>
          <p:nvPr/>
        </p:nvSpPr>
        <p:spPr>
          <a:xfrm>
            <a:off x="457200" y="521208"/>
            <a:ext cx="8229600" cy="502920"/>
          </a:xfrm>
          <a:prstGeom prst="rect">
            <a:avLst/>
          </a:prstGeom>
          <a:noFill/>
          <a:ln/>
        </p:spPr>
        <p:txBody>
          <a:bodyPr wrap="square" lIns="0" tIns="0" rIns="0" bIns="0" rtlCol="0" anchor="ctr"/>
          <a:lstStyle/>
          <a:p>
            <a:pPr indent="0" marL="0">
              <a:buNone/>
            </a:pPr>
            <a:r>
              <a:rPr lang="en-US" sz="2600" b="1" dirty="0">
                <a:solidFill>
                  <a:srgbClr val="1C1C22"/>
                </a:solidFill>
                <a:latin typeface="Cambria" pitchFamily="34" charset="0"/>
                <a:ea typeface="Cambria" pitchFamily="34" charset="-122"/>
                <a:cs typeface="Cambria" pitchFamily="34" charset="-120"/>
              </a:rPr>
              <a:t>Какую метрику выбрать</a:t>
            </a:r>
            <a:endParaRPr lang="en-US" sz="2600" dirty="0"/>
          </a:p>
        </p:txBody>
      </p:sp>
      <p:sp>
        <p:nvSpPr>
          <p:cNvPr id="4" name="Shape 2"/>
          <p:cNvSpPr/>
          <p:nvPr/>
        </p:nvSpPr>
        <p:spPr>
          <a:xfrm>
            <a:off x="457200" y="118872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58368" y="118872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Классы поровну, ошибки одинаково плохи</a:t>
            </a:r>
            <a:endParaRPr lang="en-US" sz="1100" dirty="0"/>
          </a:p>
        </p:txBody>
      </p:sp>
      <p:sp>
        <p:nvSpPr>
          <p:cNvPr id="6" name="Shape 4"/>
          <p:cNvSpPr/>
          <p:nvPr/>
        </p:nvSpPr>
        <p:spPr>
          <a:xfrm>
            <a:off x="3063240" y="1371600"/>
            <a:ext cx="1280160" cy="320040"/>
          </a:xfrm>
          <a:prstGeom prst="roundRect">
            <a:avLst>
              <a:gd name="adj" fmla="val 48571"/>
            </a:avLst>
          </a:prstGeom>
          <a:solidFill>
            <a:srgbClr val="B8AB84"/>
          </a:solidFill>
          <a:ln w="12700">
            <a:solidFill>
              <a:srgbClr val="B8AB84"/>
            </a:solidFill>
            <a:prstDash val="solid"/>
          </a:ln>
        </p:spPr>
      </p:sp>
      <p:sp>
        <p:nvSpPr>
          <p:cNvPr id="7" name="Text 5"/>
          <p:cNvSpPr txBox="1"/>
          <p:nvPr/>
        </p:nvSpPr>
        <p:spPr>
          <a:xfrm>
            <a:off x="3063240" y="1371600"/>
            <a:ext cx="1280160" cy="320040"/>
          </a:xfrm>
          <a:prstGeom prst="rect">
            <a:avLst/>
          </a:prstGeom>
          <a:noFill/>
          <a:ln/>
        </p:spPr>
        <p:txBody>
          <a:bodyPr wrap="square" lIns="0" tIns="0" rIns="0" bIns="0" rtlCol="0" anchor="ctr"/>
          <a:lstStyle/>
          <a:p>
            <a:pPr algn="ctr" indent="0" marL="0">
              <a:buNone/>
            </a:pPr>
            <a:r>
              <a:rPr lang="en-US" sz="1000" b="1" dirty="0">
                <a:solidFill>
                  <a:srgbClr val="1C1C22"/>
                </a:solidFill>
                <a:latin typeface="Calibri" pitchFamily="34" charset="0"/>
                <a:ea typeface="Calibri" pitchFamily="34" charset="-122"/>
                <a:cs typeface="Calibri" pitchFamily="34" charset="-120"/>
              </a:rPr>
              <a:t>accuracy</a:t>
            </a:r>
            <a:endParaRPr lang="en-US" sz="1000" dirty="0"/>
          </a:p>
        </p:txBody>
      </p:sp>
      <p:sp>
        <p:nvSpPr>
          <p:cNvPr id="8" name="Shape 6"/>
          <p:cNvSpPr/>
          <p:nvPr/>
        </p:nvSpPr>
        <p:spPr>
          <a:xfrm>
            <a:off x="457200" y="201168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58368" y="201168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Пропуск страшнее ложной тревоги</a:t>
            </a:r>
            <a:endParaRPr lang="en-US" sz="1100" dirty="0"/>
          </a:p>
        </p:txBody>
      </p:sp>
      <p:sp>
        <p:nvSpPr>
          <p:cNvPr id="10" name="Shape 8"/>
          <p:cNvSpPr/>
          <p:nvPr/>
        </p:nvSpPr>
        <p:spPr>
          <a:xfrm>
            <a:off x="3063240" y="2194560"/>
            <a:ext cx="1280160" cy="320040"/>
          </a:xfrm>
          <a:prstGeom prst="roundRect">
            <a:avLst>
              <a:gd name="adj" fmla="val 48571"/>
            </a:avLst>
          </a:prstGeom>
          <a:solidFill>
            <a:srgbClr val="1C1C22"/>
          </a:solidFill>
          <a:ln w="12700">
            <a:solidFill>
              <a:srgbClr val="1C1C22"/>
            </a:solidFill>
            <a:prstDash val="solid"/>
          </a:ln>
        </p:spPr>
      </p:sp>
      <p:sp>
        <p:nvSpPr>
          <p:cNvPr id="11" name="Text 9"/>
          <p:cNvSpPr txBox="1"/>
          <p:nvPr/>
        </p:nvSpPr>
        <p:spPr>
          <a:xfrm>
            <a:off x="3063240" y="2194560"/>
            <a:ext cx="1280160" cy="320040"/>
          </a:xfrm>
          <a:prstGeom prst="rect">
            <a:avLst/>
          </a:prstGeom>
          <a:noFill/>
          <a:ln/>
        </p:spPr>
        <p:txBody>
          <a:bodyPr wrap="square" lIns="0" tIns="0" rIns="0" bIns="0" rtlCol="0" anchor="ctr"/>
          <a:lstStyle/>
          <a:p>
            <a:pPr algn="ctr" indent="0" marL="0">
              <a:buNone/>
            </a:pPr>
            <a:r>
              <a:rPr lang="en-US" sz="1000" b="1" dirty="0">
                <a:solidFill>
                  <a:srgbClr val="B8AB84"/>
                </a:solidFill>
                <a:latin typeface="Calibri" pitchFamily="34" charset="0"/>
                <a:ea typeface="Calibri" pitchFamily="34" charset="-122"/>
                <a:cs typeface="Calibri" pitchFamily="34" charset="-120"/>
              </a:rPr>
              <a:t>recall, F2</a:t>
            </a:r>
            <a:endParaRPr lang="en-US" sz="1000" dirty="0"/>
          </a:p>
        </p:txBody>
      </p:sp>
      <p:sp>
        <p:nvSpPr>
          <p:cNvPr id="12" name="Shape 10"/>
          <p:cNvSpPr/>
          <p:nvPr/>
        </p:nvSpPr>
        <p:spPr>
          <a:xfrm>
            <a:off x="457200" y="283464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58368" y="283464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Ложная тревога дороже пропуска</a:t>
            </a:r>
            <a:endParaRPr lang="en-US" sz="1100" dirty="0"/>
          </a:p>
        </p:txBody>
      </p:sp>
      <p:sp>
        <p:nvSpPr>
          <p:cNvPr id="14" name="Shape 12"/>
          <p:cNvSpPr/>
          <p:nvPr/>
        </p:nvSpPr>
        <p:spPr>
          <a:xfrm>
            <a:off x="3063240" y="3017520"/>
            <a:ext cx="1280160" cy="320040"/>
          </a:xfrm>
          <a:prstGeom prst="roundRect">
            <a:avLst>
              <a:gd name="adj" fmla="val 48571"/>
            </a:avLst>
          </a:prstGeom>
          <a:solidFill>
            <a:srgbClr val="B8AB84"/>
          </a:solidFill>
          <a:ln w="12700">
            <a:solidFill>
              <a:srgbClr val="B8AB84"/>
            </a:solidFill>
            <a:prstDash val="solid"/>
          </a:ln>
        </p:spPr>
      </p:sp>
      <p:sp>
        <p:nvSpPr>
          <p:cNvPr id="15" name="Text 13"/>
          <p:cNvSpPr txBox="1"/>
          <p:nvPr/>
        </p:nvSpPr>
        <p:spPr>
          <a:xfrm>
            <a:off x="3063240" y="3017520"/>
            <a:ext cx="1280160" cy="320040"/>
          </a:xfrm>
          <a:prstGeom prst="rect">
            <a:avLst/>
          </a:prstGeom>
          <a:noFill/>
          <a:ln/>
        </p:spPr>
        <p:txBody>
          <a:bodyPr wrap="square" lIns="0" tIns="0" rIns="0" bIns="0" rtlCol="0" anchor="ctr"/>
          <a:lstStyle/>
          <a:p>
            <a:pPr algn="ctr" indent="0" marL="0">
              <a:buNone/>
            </a:pPr>
            <a:r>
              <a:rPr lang="en-US" sz="1000" b="1" dirty="0">
                <a:solidFill>
                  <a:srgbClr val="1C1C22"/>
                </a:solidFill>
                <a:latin typeface="Calibri" pitchFamily="34" charset="0"/>
                <a:ea typeface="Calibri" pitchFamily="34" charset="-122"/>
                <a:cs typeface="Calibri" pitchFamily="34" charset="-120"/>
              </a:rPr>
              <a:t>precision, F0.5</a:t>
            </a:r>
            <a:endParaRPr lang="en-US" sz="1000" dirty="0"/>
          </a:p>
        </p:txBody>
      </p:sp>
      <p:sp>
        <p:nvSpPr>
          <p:cNvPr id="16" name="Shape 14"/>
          <p:cNvSpPr/>
          <p:nvPr/>
        </p:nvSpPr>
        <p:spPr>
          <a:xfrm>
            <a:off x="457200" y="365760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58368" y="365760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Нужно одно число, важны обе ошибки</a:t>
            </a:r>
            <a:endParaRPr lang="en-US" sz="1100" dirty="0"/>
          </a:p>
        </p:txBody>
      </p:sp>
      <p:sp>
        <p:nvSpPr>
          <p:cNvPr id="18" name="Shape 16"/>
          <p:cNvSpPr/>
          <p:nvPr/>
        </p:nvSpPr>
        <p:spPr>
          <a:xfrm>
            <a:off x="3063240" y="3840480"/>
            <a:ext cx="1280160" cy="320040"/>
          </a:xfrm>
          <a:prstGeom prst="roundRect">
            <a:avLst>
              <a:gd name="adj" fmla="val 48571"/>
            </a:avLst>
          </a:prstGeom>
          <a:solidFill>
            <a:srgbClr val="B8AB84"/>
          </a:solidFill>
          <a:ln w="12700">
            <a:solidFill>
              <a:srgbClr val="B8AB84"/>
            </a:solidFill>
            <a:prstDash val="solid"/>
          </a:ln>
        </p:spPr>
      </p:sp>
      <p:sp>
        <p:nvSpPr>
          <p:cNvPr id="19" name="Text 17"/>
          <p:cNvSpPr txBox="1"/>
          <p:nvPr/>
        </p:nvSpPr>
        <p:spPr>
          <a:xfrm>
            <a:off x="3063240" y="3840480"/>
            <a:ext cx="1280160" cy="320040"/>
          </a:xfrm>
          <a:prstGeom prst="rect">
            <a:avLst/>
          </a:prstGeom>
          <a:noFill/>
          <a:ln/>
        </p:spPr>
        <p:txBody>
          <a:bodyPr wrap="square" lIns="0" tIns="0" rIns="0" bIns="0" rtlCol="0" anchor="ctr"/>
          <a:lstStyle/>
          <a:p>
            <a:pPr algn="ctr" indent="0" marL="0">
              <a:buNone/>
            </a:pPr>
            <a:r>
              <a:rPr lang="en-US" sz="1000" b="1" dirty="0">
                <a:solidFill>
                  <a:srgbClr val="1C1C22"/>
                </a:solidFill>
                <a:latin typeface="Calibri" pitchFamily="34" charset="0"/>
                <a:ea typeface="Calibri" pitchFamily="34" charset="-122"/>
                <a:cs typeface="Calibri" pitchFamily="34" charset="-120"/>
              </a:rPr>
              <a:t>F1</a:t>
            </a:r>
            <a:endParaRPr lang="en-US" sz="1000" dirty="0"/>
          </a:p>
        </p:txBody>
      </p:sp>
      <p:sp>
        <p:nvSpPr>
          <p:cNvPr id="20" name="Shape 18"/>
          <p:cNvSpPr/>
          <p:nvPr/>
        </p:nvSpPr>
        <p:spPr>
          <a:xfrm>
            <a:off x="4663440" y="118872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4864608" y="118872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Порог еще не выбран</a:t>
            </a:r>
            <a:endParaRPr lang="en-US" sz="1100" dirty="0"/>
          </a:p>
        </p:txBody>
      </p:sp>
      <p:sp>
        <p:nvSpPr>
          <p:cNvPr id="22" name="Shape 20"/>
          <p:cNvSpPr/>
          <p:nvPr/>
        </p:nvSpPr>
        <p:spPr>
          <a:xfrm>
            <a:off x="7269480" y="1371600"/>
            <a:ext cx="1280160" cy="320040"/>
          </a:xfrm>
          <a:prstGeom prst="roundRect">
            <a:avLst>
              <a:gd name="adj" fmla="val 48571"/>
            </a:avLst>
          </a:prstGeom>
          <a:solidFill>
            <a:srgbClr val="B8AB84"/>
          </a:solidFill>
          <a:ln w="12700">
            <a:solidFill>
              <a:srgbClr val="B8AB84"/>
            </a:solidFill>
            <a:prstDash val="solid"/>
          </a:ln>
        </p:spPr>
      </p:sp>
      <p:sp>
        <p:nvSpPr>
          <p:cNvPr id="23" name="Text 21"/>
          <p:cNvSpPr txBox="1"/>
          <p:nvPr/>
        </p:nvSpPr>
        <p:spPr>
          <a:xfrm>
            <a:off x="7269480" y="1371600"/>
            <a:ext cx="1280160" cy="320040"/>
          </a:xfrm>
          <a:prstGeom prst="rect">
            <a:avLst/>
          </a:prstGeom>
          <a:noFill/>
          <a:ln/>
        </p:spPr>
        <p:txBody>
          <a:bodyPr wrap="square" lIns="0" tIns="0" rIns="0" bIns="0" rtlCol="0" anchor="ctr"/>
          <a:lstStyle/>
          <a:p>
            <a:pPr algn="ctr" indent="0" marL="0">
              <a:buNone/>
            </a:pPr>
            <a:r>
              <a:rPr lang="en-US" sz="1000" b="1" dirty="0">
                <a:solidFill>
                  <a:srgbClr val="1C1C22"/>
                </a:solidFill>
                <a:latin typeface="Calibri" pitchFamily="34" charset="0"/>
                <a:ea typeface="Calibri" pitchFamily="34" charset="-122"/>
                <a:cs typeface="Calibri" pitchFamily="34" charset="-120"/>
              </a:rPr>
              <a:t>ROC-AUC</a:t>
            </a:r>
            <a:endParaRPr lang="en-US" sz="1000" dirty="0"/>
          </a:p>
        </p:txBody>
      </p:sp>
      <p:sp>
        <p:nvSpPr>
          <p:cNvPr id="24" name="Shape 22"/>
          <p:cNvSpPr/>
          <p:nvPr/>
        </p:nvSpPr>
        <p:spPr>
          <a:xfrm>
            <a:off x="4663440" y="201168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4864608" y="201168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Важны сами вероятности</a:t>
            </a:r>
            <a:endParaRPr lang="en-US" sz="1100" dirty="0"/>
          </a:p>
        </p:txBody>
      </p:sp>
      <p:sp>
        <p:nvSpPr>
          <p:cNvPr id="26" name="Shape 24"/>
          <p:cNvSpPr/>
          <p:nvPr/>
        </p:nvSpPr>
        <p:spPr>
          <a:xfrm>
            <a:off x="7269480" y="2194560"/>
            <a:ext cx="1280160" cy="320040"/>
          </a:xfrm>
          <a:prstGeom prst="roundRect">
            <a:avLst>
              <a:gd name="adj" fmla="val 48571"/>
            </a:avLst>
          </a:prstGeom>
          <a:solidFill>
            <a:srgbClr val="1C1C22"/>
          </a:solidFill>
          <a:ln w="12700">
            <a:solidFill>
              <a:srgbClr val="1C1C22"/>
            </a:solidFill>
            <a:prstDash val="solid"/>
          </a:ln>
        </p:spPr>
      </p:sp>
      <p:sp>
        <p:nvSpPr>
          <p:cNvPr id="27" name="Text 25"/>
          <p:cNvSpPr txBox="1"/>
          <p:nvPr/>
        </p:nvSpPr>
        <p:spPr>
          <a:xfrm>
            <a:off x="7269480" y="2194560"/>
            <a:ext cx="1280160" cy="320040"/>
          </a:xfrm>
          <a:prstGeom prst="rect">
            <a:avLst/>
          </a:prstGeom>
          <a:noFill/>
          <a:ln/>
        </p:spPr>
        <p:txBody>
          <a:bodyPr wrap="square" lIns="0" tIns="0" rIns="0" bIns="0" rtlCol="0" anchor="ctr"/>
          <a:lstStyle/>
          <a:p>
            <a:pPr algn="ctr" indent="0" marL="0">
              <a:buNone/>
            </a:pPr>
            <a:r>
              <a:rPr lang="en-US" sz="1000" b="1" dirty="0">
                <a:solidFill>
                  <a:srgbClr val="B8AB84"/>
                </a:solidFill>
                <a:latin typeface="Calibri" pitchFamily="34" charset="0"/>
                <a:ea typeface="Calibri" pitchFamily="34" charset="-122"/>
                <a:cs typeface="Calibri" pitchFamily="34" charset="-120"/>
              </a:rPr>
              <a:t>log loss</a:t>
            </a:r>
            <a:endParaRPr lang="en-US" sz="1000" dirty="0"/>
          </a:p>
        </p:txBody>
      </p:sp>
      <p:sp>
        <p:nvSpPr>
          <p:cNvPr id="28" name="Shape 26"/>
          <p:cNvSpPr/>
          <p:nvPr/>
        </p:nvSpPr>
        <p:spPr>
          <a:xfrm>
            <a:off x="4663440" y="283464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29" name="Text 27"/>
          <p:cNvSpPr txBox="1"/>
          <p:nvPr/>
        </p:nvSpPr>
        <p:spPr>
          <a:xfrm>
            <a:off x="4864608" y="283464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Много классов, редкие тоже важны</a:t>
            </a:r>
            <a:endParaRPr lang="en-US" sz="1100" dirty="0"/>
          </a:p>
        </p:txBody>
      </p:sp>
      <p:sp>
        <p:nvSpPr>
          <p:cNvPr id="30" name="Shape 28"/>
          <p:cNvSpPr/>
          <p:nvPr/>
        </p:nvSpPr>
        <p:spPr>
          <a:xfrm>
            <a:off x="7269480" y="3017520"/>
            <a:ext cx="1280160" cy="320040"/>
          </a:xfrm>
          <a:prstGeom prst="roundRect">
            <a:avLst>
              <a:gd name="adj" fmla="val 48571"/>
            </a:avLst>
          </a:prstGeom>
          <a:solidFill>
            <a:srgbClr val="B8AB84"/>
          </a:solidFill>
          <a:ln w="12700">
            <a:solidFill>
              <a:srgbClr val="B8AB84"/>
            </a:solidFill>
            <a:prstDash val="solid"/>
          </a:ln>
        </p:spPr>
      </p:sp>
      <p:sp>
        <p:nvSpPr>
          <p:cNvPr id="31" name="Text 29"/>
          <p:cNvSpPr txBox="1"/>
          <p:nvPr/>
        </p:nvSpPr>
        <p:spPr>
          <a:xfrm>
            <a:off x="7269480" y="3017520"/>
            <a:ext cx="1280160" cy="320040"/>
          </a:xfrm>
          <a:prstGeom prst="rect">
            <a:avLst/>
          </a:prstGeom>
          <a:noFill/>
          <a:ln/>
        </p:spPr>
        <p:txBody>
          <a:bodyPr wrap="square" lIns="0" tIns="0" rIns="0" bIns="0" rtlCol="0" anchor="ctr"/>
          <a:lstStyle/>
          <a:p>
            <a:pPr algn="ctr" indent="0" marL="0">
              <a:buNone/>
            </a:pPr>
            <a:r>
              <a:rPr lang="en-US" sz="1000" b="1" dirty="0">
                <a:solidFill>
                  <a:srgbClr val="1C1C22"/>
                </a:solidFill>
                <a:latin typeface="Calibri" pitchFamily="34" charset="0"/>
                <a:ea typeface="Calibri" pitchFamily="34" charset="-122"/>
                <a:cs typeface="Calibri" pitchFamily="34" charset="-120"/>
              </a:rPr>
              <a:t>macro-F1</a:t>
            </a:r>
            <a:endParaRPr lang="en-US" sz="1000" dirty="0"/>
          </a:p>
        </p:txBody>
      </p:sp>
      <p:sp>
        <p:nvSpPr>
          <p:cNvPr id="32" name="Shape 30"/>
          <p:cNvSpPr/>
          <p:nvPr/>
        </p:nvSpPr>
        <p:spPr>
          <a:xfrm>
            <a:off x="4663440" y="3657600"/>
            <a:ext cx="4023360" cy="685800"/>
          </a:xfrm>
          <a:prstGeom prst="roundRect">
            <a:avLst>
              <a:gd name="adj" fmla="val 10667"/>
            </a:avLst>
          </a:prstGeom>
          <a:solidFill>
            <a:srgbClr val="FFFFFF"/>
          </a:solidFill>
          <a:ln w="9525">
            <a:solidFill>
              <a:srgbClr val="E2E2E6"/>
            </a:solidFill>
            <a:prstDash val="solid"/>
          </a:ln>
          <a:effectLst>
            <a:outerShdw sx="100000" sy="100000" kx="0" ky="0" algn="bl" rotWithShape="0" blurRad="76200" dist="25400" dir="5400000">
              <a:srgbClr val="000000">
                <a:alpha val="12000"/>
              </a:srgbClr>
            </a:outerShdw>
          </a:effectLst>
        </p:spPr>
      </p:sp>
      <p:sp>
        <p:nvSpPr>
          <p:cNvPr id="33" name="Text 31"/>
          <p:cNvSpPr txBox="1"/>
          <p:nvPr/>
        </p:nvSpPr>
        <p:spPr>
          <a:xfrm>
            <a:off x="4864608" y="3657600"/>
            <a:ext cx="2331720" cy="685800"/>
          </a:xfrm>
          <a:prstGeom prst="rect">
            <a:avLst/>
          </a:prstGeom>
          <a:noFill/>
          <a:ln/>
        </p:spPr>
        <p:txBody>
          <a:bodyPr wrap="square" lIns="0" tIns="0" rIns="0" bIns="0" rtlCol="0" anchor="ctr"/>
          <a:lstStyle/>
          <a:p>
            <a:pPr indent="0" marL="0">
              <a:buNone/>
            </a:pPr>
            <a:r>
              <a:rPr lang="en-US" sz="1100" b="1" dirty="0">
                <a:solidFill>
                  <a:srgbClr val="1C1C22"/>
                </a:solidFill>
                <a:latin typeface="Cambria" pitchFamily="34" charset="0"/>
                <a:ea typeface="Cambria" pitchFamily="34" charset="-122"/>
                <a:cs typeface="Cambria" pitchFamily="34" charset="-120"/>
              </a:rPr>
              <a:t>Предсказываем число</a:t>
            </a:r>
            <a:endParaRPr lang="en-US" sz="1100" dirty="0"/>
          </a:p>
        </p:txBody>
      </p:sp>
      <p:sp>
        <p:nvSpPr>
          <p:cNvPr id="34" name="Shape 32"/>
          <p:cNvSpPr/>
          <p:nvPr/>
        </p:nvSpPr>
        <p:spPr>
          <a:xfrm>
            <a:off x="7269480" y="3840480"/>
            <a:ext cx="1280160" cy="320040"/>
          </a:xfrm>
          <a:prstGeom prst="roundRect">
            <a:avLst>
              <a:gd name="adj" fmla="val 48571"/>
            </a:avLst>
          </a:prstGeom>
          <a:solidFill>
            <a:srgbClr val="B8AB84"/>
          </a:solidFill>
          <a:ln w="12700">
            <a:solidFill>
              <a:srgbClr val="B8AB84"/>
            </a:solidFill>
            <a:prstDash val="solid"/>
          </a:ln>
        </p:spPr>
      </p:sp>
      <p:sp>
        <p:nvSpPr>
          <p:cNvPr id="35" name="Text 33"/>
          <p:cNvSpPr txBox="1"/>
          <p:nvPr/>
        </p:nvSpPr>
        <p:spPr>
          <a:xfrm>
            <a:off x="7269480" y="3840480"/>
            <a:ext cx="1280160" cy="320040"/>
          </a:xfrm>
          <a:prstGeom prst="rect">
            <a:avLst/>
          </a:prstGeom>
          <a:noFill/>
          <a:ln/>
        </p:spPr>
        <p:txBody>
          <a:bodyPr wrap="square" lIns="0" tIns="0" rIns="0" bIns="0" rtlCol="0" anchor="ctr"/>
          <a:lstStyle/>
          <a:p>
            <a:pPr algn="ctr" indent="0" marL="0">
              <a:buNone/>
            </a:pPr>
            <a:r>
              <a:rPr lang="en-US" sz="1000" b="1" dirty="0">
                <a:solidFill>
                  <a:srgbClr val="1C1C22"/>
                </a:solidFill>
                <a:latin typeface="Calibri" pitchFamily="34" charset="0"/>
                <a:ea typeface="Calibri" pitchFamily="34" charset="-122"/>
                <a:cs typeface="Calibri" pitchFamily="34" charset="-120"/>
              </a:rPr>
              <a:t>MAE, RMSE, R²</a:t>
            </a:r>
            <a:endParaRPr lang="en-US" sz="1000" dirty="0"/>
          </a:p>
        </p:txBody>
      </p:sp>
      <p:sp>
        <p:nvSpPr>
          <p:cNvPr id="36" name="Text 34"/>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37" name="Text 35"/>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01168"/>
          </a:xfrm>
          <a:prstGeom prst="rect">
            <a:avLst/>
          </a:prstGeom>
          <a:noFill/>
          <a:ln/>
        </p:spPr>
        <p:txBody>
          <a:bodyPr wrap="square" lIns="0" tIns="0" rIns="0" bIns="0" rtlCol="0" anchor="t"/>
          <a:lstStyle/>
          <a:p>
            <a:pPr indent="0" marL="0">
              <a:buNone/>
            </a:pPr>
            <a:r>
              <a:rPr lang="en-US" sz="900" b="1" spc="300" kern="0" dirty="0">
                <a:solidFill>
                  <a:srgbClr val="8F8260"/>
                </a:solidFill>
                <a:latin typeface="Calibri" pitchFamily="34" charset="0"/>
                <a:ea typeface="Calibri" pitchFamily="34" charset="-122"/>
                <a:cs typeface="Calibri" pitchFamily="34" charset="-120"/>
              </a:rPr>
              <a:t>ИТОГИ ЗАНЯТИЯ</a:t>
            </a:r>
            <a:endParaRPr lang="en-US" sz="900" dirty="0"/>
          </a:p>
        </p:txBody>
      </p:sp>
      <p:sp>
        <p:nvSpPr>
          <p:cNvPr id="3" name="Text 1"/>
          <p:cNvSpPr txBox="1"/>
          <p:nvPr/>
        </p:nvSpPr>
        <p:spPr>
          <a:xfrm>
            <a:off x="457200" y="521208"/>
            <a:ext cx="5029200" cy="502920"/>
          </a:xfrm>
          <a:prstGeom prst="rect">
            <a:avLst/>
          </a:prstGeom>
          <a:noFill/>
          <a:ln/>
        </p:spPr>
        <p:txBody>
          <a:bodyPr wrap="square" lIns="0" tIns="0" rIns="0" bIns="0" rtlCol="0" anchor="ctr"/>
          <a:lstStyle/>
          <a:p>
            <a:pPr indent="0" marL="0">
              <a:buNone/>
            </a:pPr>
            <a:r>
              <a:rPr lang="en-US" sz="2200" b="1" dirty="0">
                <a:solidFill>
                  <a:srgbClr val="1C1C22"/>
                </a:solidFill>
                <a:latin typeface="Cambria" pitchFamily="34" charset="0"/>
                <a:ea typeface="Cambria" pitchFamily="34" charset="-122"/>
                <a:cs typeface="Cambria" pitchFamily="34" charset="-120"/>
              </a:rPr>
              <a:t>Что должно остаться в голове</a:t>
            </a:r>
            <a:endParaRPr lang="en-US" sz="2200" dirty="0"/>
          </a:p>
        </p:txBody>
      </p:sp>
      <p:pic>
        <p:nvPicPr>
          <p:cNvPr id="4" name="Image 0" descr="img/hexnet.png">    </p:cNvPr>
          <p:cNvPicPr>
            <a:picLocks noChangeAspect="1"/>
          </p:cNvPicPr>
          <p:nvPr/>
        </p:nvPicPr>
        <p:blipFill>
          <a:blip r:embed="rId1"/>
          <a:stretch>
            <a:fillRect/>
          </a:stretch>
        </p:blipFill>
        <p:spPr>
          <a:xfrm>
            <a:off x="5577840" y="594360"/>
            <a:ext cx="3474720" cy="3840480"/>
          </a:xfrm>
          <a:prstGeom prst="rect">
            <a:avLst/>
          </a:prstGeom>
        </p:spPr>
      </p:pic>
      <p:sp>
        <p:nvSpPr>
          <p:cNvPr id="5" name="Text 2"/>
          <p:cNvSpPr txBox="1"/>
          <p:nvPr/>
        </p:nvSpPr>
        <p:spPr>
          <a:xfrm>
            <a:off x="457200" y="1280160"/>
            <a:ext cx="548640" cy="320040"/>
          </a:xfrm>
          <a:prstGeom prst="rect">
            <a:avLst/>
          </a:prstGeom>
          <a:noFill/>
          <a:ln/>
        </p:spPr>
        <p:txBody>
          <a:bodyPr wrap="square" lIns="0" tIns="0" rIns="0" bIns="0" rtlCol="0" anchor="t"/>
          <a:lstStyle/>
          <a:p>
            <a:pPr indent="0" marL="0">
              <a:buNone/>
            </a:pPr>
            <a:r>
              <a:rPr lang="en-US" sz="1800" b="1" dirty="0">
                <a:solidFill>
                  <a:srgbClr val="B8AB84"/>
                </a:solidFill>
                <a:latin typeface="Cambria" pitchFamily="34" charset="0"/>
                <a:ea typeface="Cambria" pitchFamily="34" charset="-122"/>
                <a:cs typeface="Cambria" pitchFamily="34" charset="-120"/>
              </a:rPr>
              <a:t>01</a:t>
            </a:r>
            <a:endParaRPr lang="en-US" sz="1800" dirty="0"/>
          </a:p>
        </p:txBody>
      </p:sp>
      <p:sp>
        <p:nvSpPr>
          <p:cNvPr id="6" name="Text 3"/>
          <p:cNvSpPr txBox="1"/>
          <p:nvPr/>
        </p:nvSpPr>
        <p:spPr>
          <a:xfrm>
            <a:off x="457200" y="1609344"/>
            <a:ext cx="2286000" cy="640080"/>
          </a:xfrm>
          <a:prstGeom prst="rect">
            <a:avLst/>
          </a:prstGeom>
          <a:noFill/>
          <a:ln/>
        </p:spPr>
        <p:txBody>
          <a:bodyPr wrap="square" lIns="0" tIns="0" rIns="0" bIns="0" rtlCol="0" anchor="t"/>
          <a:lstStyle/>
          <a:p>
            <a:pPr indent="0" marL="0">
              <a:buNone/>
            </a:pPr>
            <a:r>
              <a:rPr lang="en-US" sz="1050" dirty="0">
                <a:solidFill>
                  <a:srgbClr val="1C1C22"/>
                </a:solidFill>
                <a:latin typeface="Calibri" pitchFamily="34" charset="0"/>
                <a:ea typeface="Calibri" pitchFamily="34" charset="-122"/>
                <a:cs typeface="Calibri" pitchFamily="34" charset="-120"/>
              </a:rPr>
              <a:t>Любая оценка начинается с матрицы ошибок: TP, FP, FN, TN.</a:t>
            </a:r>
            <a:endParaRPr lang="en-US" sz="1050" dirty="0"/>
          </a:p>
        </p:txBody>
      </p:sp>
      <p:sp>
        <p:nvSpPr>
          <p:cNvPr id="7" name="Text 4"/>
          <p:cNvSpPr txBox="1"/>
          <p:nvPr/>
        </p:nvSpPr>
        <p:spPr>
          <a:xfrm>
            <a:off x="2971800" y="1280160"/>
            <a:ext cx="548640" cy="320040"/>
          </a:xfrm>
          <a:prstGeom prst="rect">
            <a:avLst/>
          </a:prstGeom>
          <a:noFill/>
          <a:ln/>
        </p:spPr>
        <p:txBody>
          <a:bodyPr wrap="square" lIns="0" tIns="0" rIns="0" bIns="0" rtlCol="0" anchor="t"/>
          <a:lstStyle/>
          <a:p>
            <a:pPr indent="0" marL="0">
              <a:buNone/>
            </a:pPr>
            <a:r>
              <a:rPr lang="en-US" sz="1800" b="1" dirty="0">
                <a:solidFill>
                  <a:srgbClr val="B8AB84"/>
                </a:solidFill>
                <a:latin typeface="Cambria" pitchFamily="34" charset="0"/>
                <a:ea typeface="Cambria" pitchFamily="34" charset="-122"/>
                <a:cs typeface="Cambria" pitchFamily="34" charset="-120"/>
              </a:rPr>
              <a:t>02</a:t>
            </a:r>
            <a:endParaRPr lang="en-US" sz="1800" dirty="0"/>
          </a:p>
        </p:txBody>
      </p:sp>
      <p:sp>
        <p:nvSpPr>
          <p:cNvPr id="8" name="Text 5"/>
          <p:cNvSpPr txBox="1"/>
          <p:nvPr/>
        </p:nvSpPr>
        <p:spPr>
          <a:xfrm>
            <a:off x="2971800" y="1609344"/>
            <a:ext cx="2286000" cy="640080"/>
          </a:xfrm>
          <a:prstGeom prst="rect">
            <a:avLst/>
          </a:prstGeom>
          <a:noFill/>
          <a:ln/>
        </p:spPr>
        <p:txBody>
          <a:bodyPr wrap="square" lIns="0" tIns="0" rIns="0" bIns="0" rtlCol="0" anchor="t"/>
          <a:lstStyle/>
          <a:p>
            <a:pPr indent="0" marL="0">
              <a:buNone/>
            </a:pPr>
            <a:r>
              <a:rPr lang="en-US" sz="1050" dirty="0">
                <a:solidFill>
                  <a:srgbClr val="1C1C22"/>
                </a:solidFill>
                <a:latin typeface="Calibri" pitchFamily="34" charset="0"/>
                <a:ea typeface="Calibri" pitchFamily="34" charset="-122"/>
                <a:cs typeface="Calibri" pitchFamily="34" charset="-120"/>
              </a:rPr>
              <a:t>Accuracy обманывает, если один класс встречается гораздо чаще.</a:t>
            </a:r>
            <a:endParaRPr lang="en-US" sz="1050" dirty="0"/>
          </a:p>
        </p:txBody>
      </p:sp>
      <p:sp>
        <p:nvSpPr>
          <p:cNvPr id="9" name="Text 6"/>
          <p:cNvSpPr txBox="1"/>
          <p:nvPr/>
        </p:nvSpPr>
        <p:spPr>
          <a:xfrm>
            <a:off x="457200" y="2331720"/>
            <a:ext cx="548640" cy="320040"/>
          </a:xfrm>
          <a:prstGeom prst="rect">
            <a:avLst/>
          </a:prstGeom>
          <a:noFill/>
          <a:ln/>
        </p:spPr>
        <p:txBody>
          <a:bodyPr wrap="square" lIns="0" tIns="0" rIns="0" bIns="0" rtlCol="0" anchor="t"/>
          <a:lstStyle/>
          <a:p>
            <a:pPr indent="0" marL="0">
              <a:buNone/>
            </a:pPr>
            <a:r>
              <a:rPr lang="en-US" sz="1800" b="1" dirty="0">
                <a:solidFill>
                  <a:srgbClr val="B8AB84"/>
                </a:solidFill>
                <a:latin typeface="Cambria" pitchFamily="34" charset="0"/>
                <a:ea typeface="Cambria" pitchFamily="34" charset="-122"/>
                <a:cs typeface="Cambria" pitchFamily="34" charset="-120"/>
              </a:rPr>
              <a:t>03</a:t>
            </a:r>
            <a:endParaRPr lang="en-US" sz="1800" dirty="0"/>
          </a:p>
        </p:txBody>
      </p:sp>
      <p:sp>
        <p:nvSpPr>
          <p:cNvPr id="10" name="Text 7"/>
          <p:cNvSpPr txBox="1"/>
          <p:nvPr/>
        </p:nvSpPr>
        <p:spPr>
          <a:xfrm>
            <a:off x="457200" y="2660904"/>
            <a:ext cx="2286000" cy="640080"/>
          </a:xfrm>
          <a:prstGeom prst="rect">
            <a:avLst/>
          </a:prstGeom>
          <a:noFill/>
          <a:ln/>
        </p:spPr>
        <p:txBody>
          <a:bodyPr wrap="square" lIns="0" tIns="0" rIns="0" bIns="0" rtlCol="0" anchor="t"/>
          <a:lstStyle/>
          <a:p>
            <a:pPr indent="0" marL="0">
              <a:buNone/>
            </a:pPr>
            <a:r>
              <a:rPr lang="en-US" sz="1050" dirty="0">
                <a:solidFill>
                  <a:srgbClr val="1C1C22"/>
                </a:solidFill>
                <a:latin typeface="Calibri" pitchFamily="34" charset="0"/>
                <a:ea typeface="Calibri" pitchFamily="34" charset="-122"/>
                <a:cs typeface="Calibri" pitchFamily="34" charset="-120"/>
              </a:rPr>
              <a:t>Precision боится ложных тревог, recall – пропусков. F₁ объединяет их.</a:t>
            </a:r>
            <a:endParaRPr lang="en-US" sz="1050" dirty="0"/>
          </a:p>
        </p:txBody>
      </p:sp>
      <p:sp>
        <p:nvSpPr>
          <p:cNvPr id="11" name="Text 8"/>
          <p:cNvSpPr txBox="1"/>
          <p:nvPr/>
        </p:nvSpPr>
        <p:spPr>
          <a:xfrm>
            <a:off x="2971800" y="2331720"/>
            <a:ext cx="548640" cy="320040"/>
          </a:xfrm>
          <a:prstGeom prst="rect">
            <a:avLst/>
          </a:prstGeom>
          <a:noFill/>
          <a:ln/>
        </p:spPr>
        <p:txBody>
          <a:bodyPr wrap="square" lIns="0" tIns="0" rIns="0" bIns="0" rtlCol="0" anchor="t"/>
          <a:lstStyle/>
          <a:p>
            <a:pPr indent="0" marL="0">
              <a:buNone/>
            </a:pPr>
            <a:r>
              <a:rPr lang="en-US" sz="1800" b="1" dirty="0">
                <a:solidFill>
                  <a:srgbClr val="B8AB84"/>
                </a:solidFill>
                <a:latin typeface="Cambria" pitchFamily="34" charset="0"/>
                <a:ea typeface="Cambria" pitchFamily="34" charset="-122"/>
                <a:cs typeface="Cambria" pitchFamily="34" charset="-120"/>
              </a:rPr>
              <a:t>04</a:t>
            </a:r>
            <a:endParaRPr lang="en-US" sz="1800" dirty="0"/>
          </a:p>
        </p:txBody>
      </p:sp>
      <p:sp>
        <p:nvSpPr>
          <p:cNvPr id="12" name="Text 9"/>
          <p:cNvSpPr txBox="1"/>
          <p:nvPr/>
        </p:nvSpPr>
        <p:spPr>
          <a:xfrm>
            <a:off x="2971800" y="2660904"/>
            <a:ext cx="2286000" cy="640080"/>
          </a:xfrm>
          <a:prstGeom prst="rect">
            <a:avLst/>
          </a:prstGeom>
          <a:noFill/>
          <a:ln/>
        </p:spPr>
        <p:txBody>
          <a:bodyPr wrap="square" lIns="0" tIns="0" rIns="0" bIns="0" rtlCol="0" anchor="t"/>
          <a:lstStyle/>
          <a:p>
            <a:pPr indent="0" marL="0">
              <a:buNone/>
            </a:pPr>
            <a:r>
              <a:rPr lang="en-US" sz="1050" dirty="0">
                <a:solidFill>
                  <a:srgbClr val="1C1C22"/>
                </a:solidFill>
                <a:latin typeface="Calibri" pitchFamily="34" charset="0"/>
                <a:ea typeface="Calibri" pitchFamily="34" charset="-122"/>
                <a:cs typeface="Calibri" pitchFamily="34" charset="-120"/>
              </a:rPr>
              <a:t>Порог сдвигает баланс. ROC-AUC оценивает модель сразу при всех порогах.</a:t>
            </a:r>
            <a:endParaRPr lang="en-US" sz="1050" dirty="0"/>
          </a:p>
        </p:txBody>
      </p:sp>
      <p:sp>
        <p:nvSpPr>
          <p:cNvPr id="13" name="Text 10"/>
          <p:cNvSpPr txBox="1"/>
          <p:nvPr/>
        </p:nvSpPr>
        <p:spPr>
          <a:xfrm>
            <a:off x="457200" y="3383280"/>
            <a:ext cx="548640" cy="320040"/>
          </a:xfrm>
          <a:prstGeom prst="rect">
            <a:avLst/>
          </a:prstGeom>
          <a:noFill/>
          <a:ln/>
        </p:spPr>
        <p:txBody>
          <a:bodyPr wrap="square" lIns="0" tIns="0" rIns="0" bIns="0" rtlCol="0" anchor="t"/>
          <a:lstStyle/>
          <a:p>
            <a:pPr indent="0" marL="0">
              <a:buNone/>
            </a:pPr>
            <a:r>
              <a:rPr lang="en-US" sz="1800" b="1" dirty="0">
                <a:solidFill>
                  <a:srgbClr val="B8AB84"/>
                </a:solidFill>
                <a:latin typeface="Cambria" pitchFamily="34" charset="0"/>
                <a:ea typeface="Cambria" pitchFamily="34" charset="-122"/>
                <a:cs typeface="Cambria" pitchFamily="34" charset="-120"/>
              </a:rPr>
              <a:t>05</a:t>
            </a:r>
            <a:endParaRPr lang="en-US" sz="1800" dirty="0"/>
          </a:p>
        </p:txBody>
      </p:sp>
      <p:sp>
        <p:nvSpPr>
          <p:cNvPr id="14" name="Text 11"/>
          <p:cNvSpPr txBox="1"/>
          <p:nvPr/>
        </p:nvSpPr>
        <p:spPr>
          <a:xfrm>
            <a:off x="457200" y="3712464"/>
            <a:ext cx="2286000" cy="640080"/>
          </a:xfrm>
          <a:prstGeom prst="rect">
            <a:avLst/>
          </a:prstGeom>
          <a:noFill/>
          <a:ln/>
        </p:spPr>
        <p:txBody>
          <a:bodyPr wrap="square" lIns="0" tIns="0" rIns="0" bIns="0" rtlCol="0" anchor="t"/>
          <a:lstStyle/>
          <a:p>
            <a:pPr indent="0" marL="0">
              <a:buNone/>
            </a:pPr>
            <a:r>
              <a:rPr lang="en-US" sz="1050" dirty="0">
                <a:solidFill>
                  <a:srgbClr val="1C1C22"/>
                </a:solidFill>
                <a:latin typeface="Calibri" pitchFamily="34" charset="0"/>
                <a:ea typeface="Calibri" pitchFamily="34" charset="-122"/>
                <a:cs typeface="Calibri" pitchFamily="34" charset="-120"/>
              </a:rPr>
              <a:t>Log loss штрафует уверенные ошибки и проверяет сами вероятности.</a:t>
            </a:r>
            <a:endParaRPr lang="en-US" sz="1050" dirty="0"/>
          </a:p>
        </p:txBody>
      </p:sp>
      <p:sp>
        <p:nvSpPr>
          <p:cNvPr id="15" name="Text 12"/>
          <p:cNvSpPr txBox="1"/>
          <p:nvPr/>
        </p:nvSpPr>
        <p:spPr>
          <a:xfrm>
            <a:off x="2971800" y="3383280"/>
            <a:ext cx="548640" cy="320040"/>
          </a:xfrm>
          <a:prstGeom prst="rect">
            <a:avLst/>
          </a:prstGeom>
          <a:noFill/>
          <a:ln/>
        </p:spPr>
        <p:txBody>
          <a:bodyPr wrap="square" lIns="0" tIns="0" rIns="0" bIns="0" rtlCol="0" anchor="t"/>
          <a:lstStyle/>
          <a:p>
            <a:pPr indent="0" marL="0">
              <a:buNone/>
            </a:pPr>
            <a:r>
              <a:rPr lang="en-US" sz="1800" b="1" dirty="0">
                <a:solidFill>
                  <a:srgbClr val="B8AB84"/>
                </a:solidFill>
                <a:latin typeface="Cambria" pitchFamily="34" charset="0"/>
                <a:ea typeface="Cambria" pitchFamily="34" charset="-122"/>
                <a:cs typeface="Cambria" pitchFamily="34" charset="-120"/>
              </a:rPr>
              <a:t>06</a:t>
            </a:r>
            <a:endParaRPr lang="en-US" sz="1800" dirty="0"/>
          </a:p>
        </p:txBody>
      </p:sp>
      <p:sp>
        <p:nvSpPr>
          <p:cNvPr id="16" name="Text 13"/>
          <p:cNvSpPr txBox="1"/>
          <p:nvPr/>
        </p:nvSpPr>
        <p:spPr>
          <a:xfrm>
            <a:off x="2971800" y="3712464"/>
            <a:ext cx="2286000" cy="640080"/>
          </a:xfrm>
          <a:prstGeom prst="rect">
            <a:avLst/>
          </a:prstGeom>
          <a:noFill/>
          <a:ln/>
        </p:spPr>
        <p:txBody>
          <a:bodyPr wrap="square" lIns="0" tIns="0" rIns="0" bIns="0" rtlCol="0" anchor="t"/>
          <a:lstStyle/>
          <a:p>
            <a:pPr indent="0" marL="0">
              <a:buNone/>
            </a:pPr>
            <a:r>
              <a:rPr lang="en-US" sz="1050" dirty="0">
                <a:solidFill>
                  <a:srgbClr val="1C1C22"/>
                </a:solidFill>
                <a:latin typeface="Calibri" pitchFamily="34" charset="0"/>
                <a:ea typeface="Calibri" pitchFamily="34" charset="-122"/>
                <a:cs typeface="Calibri" pitchFamily="34" charset="-120"/>
              </a:rPr>
              <a:t>Регрессия: MAE – понятная ошибка, RMSE – штраф за промахи, R² – сравнение со средним.</a:t>
            </a:r>
            <a:endParaRPr lang="en-US" sz="1050" dirty="0"/>
          </a:p>
        </p:txBody>
      </p:sp>
      <p:sp>
        <p:nvSpPr>
          <p:cNvPr id="17" name="Text 14"/>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50" dirty="0">
                <a:solidFill>
                  <a:srgbClr val="6E6E78"/>
                </a:solidFill>
                <a:latin typeface="Calibri" pitchFamily="34" charset="0"/>
                <a:ea typeface="Calibri" pitchFamily="34" charset="-122"/>
                <a:cs typeface="Calibri" pitchFamily="34" charset="-120"/>
              </a:rPr>
              <a:t>9 класс · Тема 1 · Блок 1 · Метрики качества</a:t>
            </a:r>
            <a:endParaRPr lang="en-US" sz="750" dirty="0"/>
          </a:p>
        </p:txBody>
      </p:sp>
      <p:sp>
        <p:nvSpPr>
          <p:cNvPr id="18" name="Text 15"/>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1000" b="1" dirty="0">
                <a:solidFill>
                  <a:srgbClr val="8F8260"/>
                </a:solidFill>
                <a:latin typeface="Cambria" pitchFamily="34" charset="0"/>
                <a:ea typeface="Cambria" pitchFamily="34" charset="-122"/>
                <a:cs typeface="Cambria"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Метрики качества</dc:title>
  <dc:subject>PptxGenJS Presentation</dc:subject>
  <dc:creator>PptxGenJS</dc:creator>
  <cp:lastModifiedBy>PptxGenJS</cp:lastModifiedBy>
  <cp:revision>1</cp:revision>
  <dcterms:created xsi:type="dcterms:W3CDTF">2026-09-22T10:09:33Z</dcterms:created>
  <dcterms:modified xsi:type="dcterms:W3CDTF">2026-09-22T10:09:33Z</dcterms:modified>
</cp:coreProperties>
</file>